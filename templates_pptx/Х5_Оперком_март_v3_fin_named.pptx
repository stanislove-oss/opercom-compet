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heme/themeOverride1.xml" ContentType="application/vnd.openxmlformats-officedocument.themeOverride+xml"/>
  <Override PartName="/ppt/notesSlides/notesSlide5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6.xml" ContentType="application/vnd.openxmlformats-officedocument.presentationml.notesSlide+xml"/>
  <Override PartName="/ppt/charts/chart5.xml" ContentType="application/vnd.openxmlformats-officedocument.drawingml.chart+xml"/>
  <Override PartName="/ppt/drawings/drawing1.xml" ContentType="application/vnd.openxmlformats-officedocument.drawingml.chartshapes+xml"/>
  <Override PartName="/ppt/notesSlides/notesSlide7.xml" ContentType="application/vnd.openxmlformats-officedocument.presentationml.notesSlide+xml"/>
  <Override PartName="/ppt/charts/chart6.xml" ContentType="application/vnd.openxmlformats-officedocument.drawingml.chart+xml"/>
  <Override PartName="/ppt/drawings/drawing2.xml" ContentType="application/vnd.openxmlformats-officedocument.drawingml.chartshapes+xml"/>
  <Override PartName="/ppt/notesSlides/notesSlide8.xml" ContentType="application/vnd.openxmlformats-officedocument.presentationml.notesSlide+xml"/>
  <Override PartName="/ppt/charts/chart7.xml" ContentType="application/vnd.openxmlformats-officedocument.drawingml.chart+xml"/>
  <Override PartName="/ppt/drawings/drawing3.xml" ContentType="application/vnd.openxmlformats-officedocument.drawingml.chartshapes+xml"/>
  <Override PartName="/ppt/notesSlides/notesSlide9.xml" ContentType="application/vnd.openxmlformats-officedocument.presentationml.notesSlide+xml"/>
  <Override PartName="/ppt/charts/chart8.xml" ContentType="application/vnd.openxmlformats-officedocument.drawingml.chart+xml"/>
  <Override PartName="/ppt/drawings/drawing4.xml" ContentType="application/vnd.openxmlformats-officedocument.drawingml.chartshapes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notesSlides/notesSlide12.xml" ContentType="application/vnd.openxmlformats-officedocument.presentationml.notesSlide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notesSlides/notesSlide13.xml" ContentType="application/vnd.openxmlformats-officedocument.presentationml.notesSlide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notesSlides/notesSlide14.xml" ContentType="application/vnd.openxmlformats-officedocument.presentationml.notesSlide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notesSlides/notesSlide15.xml" ContentType="application/vnd.openxmlformats-officedocument.presentationml.notesSlide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notesSlides/notesSlide16.xml" ContentType="application/vnd.openxmlformats-officedocument.presentationml.notesSlide+xml"/>
  <Override PartName="/ppt/charts/chart20.xml" ContentType="application/vnd.openxmlformats-officedocument.drawingml.chart+xml"/>
  <Override PartName="/ppt/drawings/drawing5.xml" ContentType="application/vnd.openxmlformats-officedocument.drawingml.chartshapes+xml"/>
  <Override PartName="/ppt/charts/chart2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notesSlides/notesSlide19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notesSlides/notesSlide20.xml" ContentType="application/vnd.openxmlformats-officedocument.presentationml.notesSlid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notesSlides/notesSlide21.xml" ContentType="application/vnd.openxmlformats-officedocument.presentationml.notesSlide+xml"/>
  <Override PartName="/ppt/charts/chart29.xml" ContentType="application/vnd.openxmlformats-officedocument.drawingml.chart+xml"/>
  <Override PartName="/ppt/notesSlides/notesSlide22.xml" ContentType="application/vnd.openxmlformats-officedocument.presentationml.notesSlide+xml"/>
  <Override PartName="/ppt/charts/chart30.xml" ContentType="application/vnd.openxmlformats-officedocument.drawingml.chart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notesSlides/notesSlide27.xml" ContentType="application/vnd.openxmlformats-officedocument.presentationml.notesSlide+xml"/>
  <Override PartName="/ppt/charts/chart37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notesSlides/notesSlide28.xml" ContentType="application/vnd.openxmlformats-officedocument.presentationml.notesSlide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44"/>
  </p:notesMasterIdLst>
  <p:sldIdLst>
    <p:sldId id="256" r:id="rId2"/>
    <p:sldId id="379" r:id="rId3"/>
    <p:sldId id="258" r:id="rId4"/>
    <p:sldId id="297" r:id="rId5"/>
    <p:sldId id="298" r:id="rId6"/>
    <p:sldId id="261" r:id="rId7"/>
    <p:sldId id="262" r:id="rId8"/>
    <p:sldId id="340" r:id="rId9"/>
    <p:sldId id="341" r:id="rId10"/>
    <p:sldId id="265" r:id="rId11"/>
    <p:sldId id="359" r:id="rId12"/>
    <p:sldId id="343" r:id="rId13"/>
    <p:sldId id="356" r:id="rId14"/>
    <p:sldId id="355" r:id="rId15"/>
    <p:sldId id="346" r:id="rId16"/>
    <p:sldId id="270" r:id="rId17"/>
    <p:sldId id="271" r:id="rId18"/>
    <p:sldId id="360" r:id="rId19"/>
    <p:sldId id="347" r:id="rId20"/>
    <p:sldId id="344" r:id="rId21"/>
    <p:sldId id="358" r:id="rId22"/>
    <p:sldId id="357" r:id="rId23"/>
    <p:sldId id="365" r:id="rId24"/>
    <p:sldId id="377" r:id="rId25"/>
    <p:sldId id="366" r:id="rId26"/>
    <p:sldId id="278" r:id="rId27"/>
    <p:sldId id="361" r:id="rId28"/>
    <p:sldId id="348" r:id="rId29"/>
    <p:sldId id="367" r:id="rId30"/>
    <p:sldId id="378" r:id="rId31"/>
    <p:sldId id="368" r:id="rId32"/>
    <p:sldId id="288" r:id="rId33"/>
    <p:sldId id="299" r:id="rId34"/>
    <p:sldId id="371" r:id="rId35"/>
    <p:sldId id="372" r:id="rId36"/>
    <p:sldId id="300" r:id="rId37"/>
    <p:sldId id="373" r:id="rId38"/>
    <p:sldId id="374" r:id="rId39"/>
    <p:sldId id="302" r:id="rId40"/>
    <p:sldId id="375" r:id="rId41"/>
    <p:sldId id="376" r:id="rId42"/>
    <p:sldId id="305" r:id="rId43"/>
  </p:sldIdLst>
  <p:sldSz cx="12192000" cy="6858000"/>
  <p:notesSz cx="12192000" cy="6858000"/>
  <p:defaultTextStyle>
    <a:defPPr>
      <a:defRPr lang="ru-RU"/>
    </a:defPPr>
    <a:lvl1pPr marL="0" algn="l" defTabSz="914400">
      <a:defRPr sz="18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>
      <a:defRPr sz="18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>
      <a:defRPr sz="18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>
      <a:defRPr sz="18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>
      <a:defRPr sz="18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>
      <a:defRPr sz="18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>
      <a:defRPr sz="18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>
      <a:defRPr sz="18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>
      <a:defRPr sz="18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976" userDrawn="1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6A6A6"/>
    <a:srgbClr val="BDBDBD"/>
    <a:srgbClr val="7F7F7F"/>
    <a:srgbClr val="FFFF00"/>
    <a:srgbClr val="FFFFFF"/>
    <a:srgbClr val="CC3399"/>
    <a:srgbClr val="FF5050"/>
    <a:srgbClr val="C00000"/>
    <a:srgbClr val="00FFCC"/>
    <a:srgbClr val="00B05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637" autoAdjust="0"/>
    <p:restoredTop sz="86122" autoAdjust="0"/>
  </p:normalViewPr>
  <p:slideViewPr>
    <p:cSldViewPr snapToGrid="0" showGuides="1">
      <p:cViewPr varScale="1">
        <p:scale>
          <a:sx n="82" d="100"/>
          <a:sy n="82" d="100"/>
        </p:scale>
        <p:origin x="461" y="62"/>
      </p:cViewPr>
      <p:guideLst>
        <p:guide orient="horz" pos="2976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.xml"/><Relationship Id="rId1" Type="http://schemas.openxmlformats.org/officeDocument/2006/relationships/package" Target="../embeddings/Microsoft_Excel_Worksheet19.xlsx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7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9606000000000001E-2"/>
          <c:y val="5.1201999999999998E-2"/>
          <c:w val="0.93800300000000003"/>
          <c:h val="0.593099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ТВ Нац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31017C0-96CE-47E3-B83C-76E636EC888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7BAC-40D7-95AA-82207B0A4F50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31BB4DF6-F061-4259-9E19-D340CDB7424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7BAC-40D7-95AA-82207B0A4F50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42B19DA-AB28-4750-940F-31FF25F40B4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2-7BAC-40D7-95AA-82207B0A4F5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5E3F511-7111-4591-8AD4-A709AD46275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3-7BAC-40D7-95AA-82207B0A4F5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8108E865-AC30-48EA-AB8A-D1CF1AA4BD6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4-7BAC-40D7-95AA-82207B0A4F5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01F3064B-E95D-4D8A-8083-20143DBA1B5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5-7BAC-40D7-95AA-82207B0A4F5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874ECAE8-D6DA-4228-8379-FA3B55D9471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6-7BAC-40D7-95AA-82207B0A4F5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6427529F-99E2-4F90-91CE-6C7A291D983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7BAC-40D7-95AA-82207B0A4F5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5B699584-6CD1-4ADE-AA70-4717980299E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8-7BAC-40D7-95AA-82207B0A4F50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158EA477-7F78-47B0-8924-0191DFCE16E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7BAC-40D7-95AA-82207B0A4F50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138F474-28E3-467D-8E9D-44EFFFF1E74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A-7BAC-40D7-95AA-82207B0A4F50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49EAEEA6-716E-422A-B284-73C790060C5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B-7BAC-40D7-95AA-82207B0A4F50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5A600E41-E0DD-4943-808E-49CCEAABA68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7BAC-40D7-95AA-82207B0A4F50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EE416C57-7169-4721-973D-3A691054692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D-7BAC-40D7-95AA-82207B0A4F50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67DDBAFC-EA04-4E91-BE7F-26A50D709C8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E-7BAC-40D7-95AA-82207B0A4F50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EDC7C079-1631-4B6D-A2C9-208876128EA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7BAC-40D7-95AA-82207B0A4F50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F0367F10-B042-4E5A-B59C-70AA6BE36C7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0-7BAC-40D7-95AA-82207B0A4F50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B3474A02-810A-4B88-8F1D-3C3A04660F5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1-7BAC-40D7-95AA-82207B0A4F50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E783698D-9B98-40F4-BACE-4FA55F8BA72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2-7BAC-40D7-95AA-82207B0A4F50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32018BE2-6D39-4E14-BC52-3793F12C3AE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3-7BAC-40D7-95AA-82207B0A4F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8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Лист1!$B$2:$B$21</c:f>
              <c:numCache>
                <c:formatCode>_-* #\ ##0_-;\-* #\ ##0_-;_-* "-"??_-;_-@_-</c:formatCode>
                <c:ptCount val="20"/>
                <c:pt idx="0">
                  <c:v>1397125098.3000002</c:v>
                </c:pt>
                <c:pt idx="1">
                  <c:v>2826362360.6999998</c:v>
                </c:pt>
                <c:pt idx="2">
                  <c:v>3225422044.4999995</c:v>
                </c:pt>
                <c:pt idx="3">
                  <c:v>2453794526.7000008</c:v>
                </c:pt>
                <c:pt idx="4">
                  <c:v>2064104809.5000007</c:v>
                </c:pt>
                <c:pt idx="5">
                  <c:v>1780765251.5999999</c:v>
                </c:pt>
                <c:pt idx="6">
                  <c:v>1482016623.6000001</c:v>
                </c:pt>
                <c:pt idx="7">
                  <c:v>1277815511.7</c:v>
                </c:pt>
                <c:pt idx="8">
                  <c:v>1215653170.2000003</c:v>
                </c:pt>
                <c:pt idx="9">
                  <c:v>1515321207.3000002</c:v>
                </c:pt>
                <c:pt idx="10">
                  <c:v>1316787015</c:v>
                </c:pt>
                <c:pt idx="11">
                  <c:v>1437860217.1499999</c:v>
                </c:pt>
                <c:pt idx="12">
                  <c:v>658920486.90000021</c:v>
                </c:pt>
                <c:pt idx="13">
                  <c:v>818333297.4000001</c:v>
                </c:pt>
                <c:pt idx="15">
                  <c:v>1091130980.1000001</c:v>
                </c:pt>
                <c:pt idx="16">
                  <c:v>1162994059.2000003</c:v>
                </c:pt>
                <c:pt idx="17">
                  <c:v>739390748.70000005</c:v>
                </c:pt>
                <c:pt idx="18">
                  <c:v>852746655.94999993</c:v>
                </c:pt>
                <c:pt idx="19">
                  <c:v>282833250.15000004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Лист1!$B$25:$B$44</c15:f>
                <c15:dlblRangeCache>
                  <c:ptCount val="20"/>
                  <c:pt idx="0">
                    <c:v>11%</c:v>
                  </c:pt>
                  <c:pt idx="1">
                    <c:v>41%</c:v>
                  </c:pt>
                  <c:pt idx="2">
                    <c:v>58%</c:v>
                  </c:pt>
                  <c:pt idx="3">
                    <c:v>67%</c:v>
                  </c:pt>
                  <c:pt idx="4">
                    <c:v>52%</c:v>
                  </c:pt>
                  <c:pt idx="5">
                    <c:v>55%</c:v>
                  </c:pt>
                  <c:pt idx="6">
                    <c:v>48%</c:v>
                  </c:pt>
                  <c:pt idx="7">
                    <c:v>45%</c:v>
                  </c:pt>
                  <c:pt idx="8">
                    <c:v>45%</c:v>
                  </c:pt>
                  <c:pt idx="9">
                    <c:v>66%</c:v>
                  </c:pt>
                  <c:pt idx="10">
                    <c:v>63%</c:v>
                  </c:pt>
                  <c:pt idx="11">
                    <c:v>63%</c:v>
                  </c:pt>
                  <c:pt idx="12">
                    <c:v>28%</c:v>
                  </c:pt>
                  <c:pt idx="13">
                    <c:v>42%</c:v>
                  </c:pt>
                  <c:pt idx="14">
                    <c:v>0%</c:v>
                  </c:pt>
                  <c:pt idx="15">
                    <c:v>53%</c:v>
                  </c:pt>
                  <c:pt idx="16">
                    <c:v>69%</c:v>
                  </c:pt>
                  <c:pt idx="17">
                    <c:v>43%</c:v>
                  </c:pt>
                  <c:pt idx="18">
                    <c:v>60%</c:v>
                  </c:pt>
                  <c:pt idx="19">
                    <c:v>18%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4-7BAC-40D7-95AA-82207B0A4F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ТВ Рег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CC47B3C-70FE-4683-8E7D-A2172B9CA1E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5-7BAC-40D7-95AA-82207B0A4F5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F1629D8-59CF-4088-AA76-0DC6A7B5B9D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6-7BAC-40D7-95AA-82207B0A4F5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F5159CD9-65C8-4C50-AADF-AD7DE98F994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7BAC-40D7-95AA-82207B0A4F5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B0345E7-1018-4E3D-B769-C29F5255410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8-7BAC-40D7-95AA-82207B0A4F5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281DB10-1AFE-41F3-A38F-F9BD38499A9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7BAC-40D7-95AA-82207B0A4F50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0E579440-B178-4795-9946-2B6DF2D577A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7BAC-40D7-95AA-82207B0A4F50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D1CCDBD9-9379-41FE-8570-977A79D2340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7BAC-40D7-95AA-82207B0A4F50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16DD21DA-3826-4B5E-A759-96EB1903C91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C-7BAC-40D7-95AA-82207B0A4F50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16599545-C219-4B0E-8FEE-833559DB740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7BAC-40D7-95AA-82207B0A4F50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FA110A8E-5834-4135-A72A-DD176BA1FF0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E-7BAC-40D7-95AA-82207B0A4F50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DD5E58CB-38C5-4056-8A46-D689A01CBA1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F-7BAC-40D7-95AA-82207B0A4F50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7A139B75-8E28-47B9-9C9E-A2ECADA184B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0-7BAC-40D7-95AA-82207B0A4F50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C7BE7209-12C9-47B3-9B0C-4EFBF33C942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7BAC-40D7-95AA-82207B0A4F50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519ECD97-D5DB-429C-BBF5-BED28E09AF0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7BAC-40D7-95AA-82207B0A4F50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2A3136E4-F95A-4712-9C18-6D232FF791D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3-7BAC-40D7-95AA-82207B0A4F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8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Лист1!$C$2:$C$21</c:f>
              <c:numCache>
                <c:formatCode>_-* #\ ##0_-;\-* #\ ##0_-;_-* "-"??_-;_-@_-</c:formatCode>
                <c:ptCount val="20"/>
                <c:pt idx="1">
                  <c:v>101944635.10000002</c:v>
                </c:pt>
                <c:pt idx="2">
                  <c:v>110545570.85000005</c:v>
                </c:pt>
                <c:pt idx="5">
                  <c:v>196920.90000000002</c:v>
                </c:pt>
                <c:pt idx="6">
                  <c:v>41127.9</c:v>
                </c:pt>
                <c:pt idx="7">
                  <c:v>64079701.95000001</c:v>
                </c:pt>
                <c:pt idx="8">
                  <c:v>301958722.99999994</c:v>
                </c:pt>
                <c:pt idx="11">
                  <c:v>3131822.6500000004</c:v>
                </c:pt>
                <c:pt idx="12">
                  <c:v>427570320.64999992</c:v>
                </c:pt>
                <c:pt idx="13">
                  <c:v>0</c:v>
                </c:pt>
                <c:pt idx="15">
                  <c:v>38892293.550000004</c:v>
                </c:pt>
                <c:pt idx="17">
                  <c:v>63197.200000000004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Лист1!$C$25:$C$44</c15:f>
                <c15:dlblRangeCache>
                  <c:ptCount val="20"/>
                  <c:pt idx="0">
                    <c:v>0%</c:v>
                  </c:pt>
                  <c:pt idx="1">
                    <c:v>1%</c:v>
                  </c:pt>
                  <c:pt idx="2">
                    <c:v>2%</c:v>
                  </c:pt>
                  <c:pt idx="3">
                    <c:v>0%</c:v>
                  </c:pt>
                  <c:pt idx="4">
                    <c:v>0%</c:v>
                  </c:pt>
                  <c:pt idx="5">
                    <c:v>0%</c:v>
                  </c:pt>
                  <c:pt idx="6">
                    <c:v>0%</c:v>
                  </c:pt>
                  <c:pt idx="7">
                    <c:v>2%</c:v>
                  </c:pt>
                  <c:pt idx="8">
                    <c:v>11%</c:v>
                  </c:pt>
                  <c:pt idx="9">
                    <c:v>0%</c:v>
                  </c:pt>
                  <c:pt idx="10">
                    <c:v>0%</c:v>
                  </c:pt>
                  <c:pt idx="11">
                    <c:v>0%</c:v>
                  </c:pt>
                  <c:pt idx="12">
                    <c:v>18%</c:v>
                  </c:pt>
                  <c:pt idx="13">
                    <c:v>0%</c:v>
                  </c:pt>
                  <c:pt idx="14">
                    <c:v>0%</c:v>
                  </c:pt>
                  <c:pt idx="15">
                    <c:v>2%</c:v>
                  </c:pt>
                  <c:pt idx="16">
                    <c:v>0%</c:v>
                  </c:pt>
                  <c:pt idx="17">
                    <c:v>0%</c:v>
                  </c:pt>
                  <c:pt idx="18">
                    <c:v>0%</c:v>
                  </c:pt>
                  <c:pt idx="19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4-7BAC-40D7-95AA-82207B0A4F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Интернет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8B08CA6D-6768-4750-AAC3-CDB6E6E639A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7BAC-40D7-95AA-82207B0A4F50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17F2F53-CD8F-4DC4-B01E-154E6BE9210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6-7BAC-40D7-95AA-82207B0A4F50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54D4C54-FE07-4CCB-BCAA-6486AE1FCD1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7-7BAC-40D7-95AA-82207B0A4F5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49E88D2-A8E0-45CE-96DF-0C927D7D2F7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8-7BAC-40D7-95AA-82207B0A4F5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8492BD3F-B418-448A-8512-31023C14FCD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9-7BAC-40D7-95AA-82207B0A4F5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69886BB-2BC6-4832-B66E-18514EAC600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A-7BAC-40D7-95AA-82207B0A4F5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87548702-1977-4299-81BA-D405521738C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B-7BAC-40D7-95AA-82207B0A4F5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3827B3F7-5AFB-4B77-ACEE-FEEAE13D401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C-7BAC-40D7-95AA-82207B0A4F5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C5CA7404-6B95-46E8-9D10-81325B2A4C5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D-7BAC-40D7-95AA-82207B0A4F50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0903910F-C678-42AB-9CF4-CCC4F83B3EB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7BAC-40D7-95AA-82207B0A4F50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47810295-837D-4561-9231-5C867C0DBA2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7BAC-40D7-95AA-82207B0A4F50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B809ABFE-C0A3-4590-9426-7A90828F0A4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0-7BAC-40D7-95AA-82207B0A4F50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EA96EA57-4FE1-47DF-AB5F-78646CCB8C1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1-7BAC-40D7-95AA-82207B0A4F50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78E561CA-BF43-4613-9053-A0120DE98D5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2-7BAC-40D7-95AA-82207B0A4F50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2EFCE833-FA06-454E-805C-579883A85BB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3-7BAC-40D7-95AA-82207B0A4F50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AE8A7979-66A0-4C78-B5AB-B92710024D9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4-7BAC-40D7-95AA-82207B0A4F50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5DAABA10-066F-477C-B2EE-E9C6092432A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5-7BAC-40D7-95AA-82207B0A4F50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36622B02-376B-4976-A4C0-35F9F2FBD30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6-7BAC-40D7-95AA-82207B0A4F50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7D9E8982-D09A-431A-B30C-43F0B2A7254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7BAC-40D7-95AA-82207B0A4F50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A484604B-0129-4313-9C58-6E6C94EF27C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8-7BAC-40D7-95AA-82207B0A4F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8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Лист1!$D$2:$D$21</c:f>
              <c:numCache>
                <c:formatCode>_-* #\ ##0_-;\-* #\ ##0_-;_-* "-"??_-;_-@_-</c:formatCode>
                <c:ptCount val="20"/>
                <c:pt idx="0">
                  <c:v>5270444740.1909647</c:v>
                </c:pt>
                <c:pt idx="1">
                  <c:v>2048638766.5700781</c:v>
                </c:pt>
                <c:pt idx="2">
                  <c:v>1998563151.7850754</c:v>
                </c:pt>
                <c:pt idx="3">
                  <c:v>1184473605.2579331</c:v>
                </c:pt>
                <c:pt idx="4">
                  <c:v>1563841409.2879987</c:v>
                </c:pt>
                <c:pt idx="5">
                  <c:v>1125978926.6435463</c:v>
                </c:pt>
                <c:pt idx="6">
                  <c:v>1097691910.4102705</c:v>
                </c:pt>
                <c:pt idx="7">
                  <c:v>1060524428.1631049</c:v>
                </c:pt>
                <c:pt idx="8">
                  <c:v>944684237.90967906</c:v>
                </c:pt>
                <c:pt idx="9">
                  <c:v>592061538.11932743</c:v>
                </c:pt>
                <c:pt idx="10">
                  <c:v>582173471.32648528</c:v>
                </c:pt>
                <c:pt idx="11">
                  <c:v>813695828.30249989</c:v>
                </c:pt>
                <c:pt idx="12">
                  <c:v>890244778.94110262</c:v>
                </c:pt>
                <c:pt idx="13">
                  <c:v>556192408.93799818</c:v>
                </c:pt>
                <c:pt idx="14">
                  <c:v>674764879.80000007</c:v>
                </c:pt>
                <c:pt idx="15">
                  <c:v>842226741.41435409</c:v>
                </c:pt>
                <c:pt idx="16">
                  <c:v>531004444.0145039</c:v>
                </c:pt>
                <c:pt idx="17">
                  <c:v>646184680.44326425</c:v>
                </c:pt>
                <c:pt idx="18">
                  <c:v>379444510.45159292</c:v>
                </c:pt>
                <c:pt idx="19">
                  <c:v>552660091.33500004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Лист1!$D$25:$D$44</c15:f>
                <c15:dlblRangeCache>
                  <c:ptCount val="20"/>
                  <c:pt idx="0">
                    <c:v>42%</c:v>
                  </c:pt>
                  <c:pt idx="1">
                    <c:v>30%</c:v>
                  </c:pt>
                  <c:pt idx="2">
                    <c:v>36%</c:v>
                  </c:pt>
                  <c:pt idx="3">
                    <c:v>32%</c:v>
                  </c:pt>
                  <c:pt idx="4">
                    <c:v>39%</c:v>
                  </c:pt>
                  <c:pt idx="5">
                    <c:v>35%</c:v>
                  </c:pt>
                  <c:pt idx="6">
                    <c:v>35%</c:v>
                  </c:pt>
                  <c:pt idx="7">
                    <c:v>37%</c:v>
                  </c:pt>
                  <c:pt idx="8">
                    <c:v>35%</c:v>
                  </c:pt>
                  <c:pt idx="9">
                    <c:v>26%</c:v>
                  </c:pt>
                  <c:pt idx="10">
                    <c:v>28%</c:v>
                  </c:pt>
                  <c:pt idx="11">
                    <c:v>35%</c:v>
                  </c:pt>
                  <c:pt idx="12">
                    <c:v>38%</c:v>
                  </c:pt>
                  <c:pt idx="13">
                    <c:v>28%</c:v>
                  </c:pt>
                  <c:pt idx="14">
                    <c:v>35%</c:v>
                  </c:pt>
                  <c:pt idx="15">
                    <c:v>41%</c:v>
                  </c:pt>
                  <c:pt idx="16">
                    <c:v>31%</c:v>
                  </c:pt>
                  <c:pt idx="17">
                    <c:v>37%</c:v>
                  </c:pt>
                  <c:pt idx="18">
                    <c:v>27%</c:v>
                  </c:pt>
                  <c:pt idx="19">
                    <c:v>35%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39-7BAC-40D7-95AA-82207B0A4F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ООН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C052AB1-9A92-43CE-BDBD-842151FF372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A-7BAC-40D7-95AA-82207B0A4F50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51D69A2A-342A-452C-8F13-B67014B94FE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B-7BAC-40D7-95AA-82207B0A4F50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054EB16-EB02-4DAB-907D-CA60D03C159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C-7BAC-40D7-95AA-82207B0A4F5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E059BFC9-FBB0-487F-82C4-FACCC6959BC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D-7BAC-40D7-95AA-82207B0A4F5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4C414602-0557-450C-9A86-B0487915AD9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E-7BAC-40D7-95AA-82207B0A4F5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4E5866A-BD76-4344-8925-118DD48E573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F-7BAC-40D7-95AA-82207B0A4F5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16A949D-5193-439D-8E52-B01F9D1C2F3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0-7BAC-40D7-95AA-82207B0A4F5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4E8B152-9EA8-4854-81D6-21C9CD2BB9E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1-7BAC-40D7-95AA-82207B0A4F5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17EAD1FA-9B68-45EB-B198-F1D58F73D66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2-7BAC-40D7-95AA-82207B0A4F50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0D5C89E-9EF4-4578-81FC-C1ED6035773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3-7BAC-40D7-95AA-82207B0A4F50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7BAF79C-128A-4856-B922-41A4B7E5DF9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4-7BAC-40D7-95AA-82207B0A4F50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D69ED22C-F8B3-4AA3-8AE7-382F4C9E7CD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5-7BAC-40D7-95AA-82207B0A4F50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DCFE08E2-9B52-4C10-89B0-72D7899B5D9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6-7BAC-40D7-95AA-82207B0A4F50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DF6B84B9-EE60-4E9E-97C1-516D5C9D724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7-7BAC-40D7-95AA-82207B0A4F50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778EF689-AFBD-475E-AD19-3270D54A38A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8-7BAC-40D7-95AA-82207B0A4F50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F2F7E61F-AA79-4F06-A006-AC76C8383D7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B-7BAC-40D7-95AA-82207B0A4F50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025A4B0B-BD27-45D7-922E-CF552E3B1D9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C-7BAC-40D7-95AA-82207B0A4F50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56F50535-E1F8-45F3-A4AB-7247F09108F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D-7BAC-40D7-95AA-82207B0A4F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800" b="0" i="0" u="none" strike="noStrike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Лист1!$E$2:$E$21</c:f>
              <c:numCache>
                <c:formatCode>_-* #\ ##0_-;\-* #\ ##0_-;_-* "-"??_-;_-@_-</c:formatCode>
                <c:ptCount val="20"/>
                <c:pt idx="0">
                  <c:v>5834778662</c:v>
                </c:pt>
                <c:pt idx="1">
                  <c:v>1519433387</c:v>
                </c:pt>
                <c:pt idx="2">
                  <c:v>198292998</c:v>
                </c:pt>
                <c:pt idx="3">
                  <c:v>44464422</c:v>
                </c:pt>
                <c:pt idx="4">
                  <c:v>64556676</c:v>
                </c:pt>
                <c:pt idx="5">
                  <c:v>300913092</c:v>
                </c:pt>
                <c:pt idx="6">
                  <c:v>497942554</c:v>
                </c:pt>
                <c:pt idx="7">
                  <c:v>243939867</c:v>
                </c:pt>
                <c:pt idx="8">
                  <c:v>190233778</c:v>
                </c:pt>
                <c:pt idx="9">
                  <c:v>201977057</c:v>
                </c:pt>
                <c:pt idx="10">
                  <c:v>176538407</c:v>
                </c:pt>
                <c:pt idx="11">
                  <c:v>14036952</c:v>
                </c:pt>
                <c:pt idx="12">
                  <c:v>268729666</c:v>
                </c:pt>
                <c:pt idx="13">
                  <c:v>476912504</c:v>
                </c:pt>
                <c:pt idx="14">
                  <c:v>1226845236</c:v>
                </c:pt>
                <c:pt idx="15">
                  <c:v>7403381</c:v>
                </c:pt>
                <c:pt idx="16">
                  <c:v>0</c:v>
                </c:pt>
                <c:pt idx="17">
                  <c:v>245323893</c:v>
                </c:pt>
                <c:pt idx="18">
                  <c:v>143974458</c:v>
                </c:pt>
                <c:pt idx="19">
                  <c:v>683635120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Лист1!$E$25:$E$44</c15:f>
                <c15:dlblRangeCache>
                  <c:ptCount val="20"/>
                  <c:pt idx="0">
                    <c:v>46%</c:v>
                  </c:pt>
                  <c:pt idx="1">
                    <c:v>22%</c:v>
                  </c:pt>
                  <c:pt idx="2">
                    <c:v>4%</c:v>
                  </c:pt>
                  <c:pt idx="3">
                    <c:v>1%</c:v>
                  </c:pt>
                  <c:pt idx="4">
                    <c:v>2%</c:v>
                  </c:pt>
                  <c:pt idx="5">
                    <c:v>9%</c:v>
                  </c:pt>
                  <c:pt idx="6">
                    <c:v>16%</c:v>
                  </c:pt>
                  <c:pt idx="7">
                    <c:v>9%</c:v>
                  </c:pt>
                  <c:pt idx="8">
                    <c:v>7%</c:v>
                  </c:pt>
                  <c:pt idx="9">
                    <c:v>9%</c:v>
                  </c:pt>
                  <c:pt idx="10">
                    <c:v>8%</c:v>
                  </c:pt>
                  <c:pt idx="11">
                    <c:v>1%</c:v>
                  </c:pt>
                  <c:pt idx="12">
                    <c:v>12%</c:v>
                  </c:pt>
                  <c:pt idx="13">
                    <c:v>24%</c:v>
                  </c:pt>
                  <c:pt idx="14">
                    <c:v>65%</c:v>
                  </c:pt>
                  <c:pt idx="15">
                    <c:v>0%</c:v>
                  </c:pt>
                  <c:pt idx="16">
                    <c:v>0%</c:v>
                  </c:pt>
                  <c:pt idx="17">
                    <c:v>14%</c:v>
                  </c:pt>
                  <c:pt idx="18">
                    <c:v>10%</c:v>
                  </c:pt>
                  <c:pt idx="19">
                    <c:v>44%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E-7BAC-40D7-95AA-82207B0A4F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Радио 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A8A6E1F1-7AD8-4CF1-850E-38556474D4B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0-7BAC-40D7-95AA-82207B0A4F5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99C46AC4-A6B8-47BB-AED2-FEF66E2D2F1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1-7BAC-40D7-95AA-82207B0A4F5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52776BC-8129-48E6-BA0F-CAEE65DA696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2-7BAC-40D7-95AA-82207B0A4F5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021DE22-B93F-4428-96A4-50A00ECF3EC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3-7BAC-40D7-95AA-82207B0A4F5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34A3D47-98B8-4322-8AAE-6A9B26F5566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4-7BAC-40D7-95AA-82207B0A4F5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3B61538-4743-4BD9-92F4-030C1FFD6CA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5-7BAC-40D7-95AA-82207B0A4F5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AB6330C3-4EFD-4552-AA20-4B5CEF531FA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6-7BAC-40D7-95AA-82207B0A4F50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1C79E65E-2949-45EA-A6CA-346046D35E0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9-7BAC-40D7-95AA-82207B0A4F50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DE420E9F-7C42-4E01-BD38-D5E3D410D90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A-7BAC-40D7-95AA-82207B0A4F50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32DD04A1-3940-45DC-9E59-31D7D8F49AB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B-7BAC-40D7-95AA-82207B0A4F50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0CD417DD-8207-4BE9-A8E3-356B00CA294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C-7BAC-40D7-95AA-82207B0A4F50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E7B1F1E1-7A9F-4E01-B1FD-40939EA2267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E-7BAC-40D7-95AA-82207B0A4F50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6DB5AE8E-2926-4BA7-846F-9F206540875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F-7BAC-40D7-95AA-82207B0A4F50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5E0AF71F-FAC0-4613-B341-12447D9E1E6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0-7BAC-40D7-95AA-82207B0A4F50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588556DC-F54F-4374-940E-9422315CDCE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1-7BAC-40D7-95AA-82207B0A4F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8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Лист1!$F$2:$F$21</c:f>
              <c:numCache>
                <c:formatCode>_-* #\ ##0_-;\-* #\ ##0_-;_-* "-"??_-;_-@_-</c:formatCode>
                <c:ptCount val="20"/>
                <c:pt idx="0">
                  <c:v>45832475</c:v>
                </c:pt>
                <c:pt idx="1">
                  <c:v>284389459.5</c:v>
                </c:pt>
                <c:pt idx="2">
                  <c:v>46383511.5</c:v>
                </c:pt>
                <c:pt idx="4">
                  <c:v>281657401.25</c:v>
                </c:pt>
                <c:pt idx="5">
                  <c:v>42924956.25</c:v>
                </c:pt>
                <c:pt idx="6">
                  <c:v>25380176</c:v>
                </c:pt>
                <c:pt idx="7">
                  <c:v>186016199</c:v>
                </c:pt>
                <c:pt idx="8">
                  <c:v>43485950</c:v>
                </c:pt>
                <c:pt idx="9">
                  <c:v>3457000</c:v>
                </c:pt>
                <c:pt idx="10">
                  <c:v>54000</c:v>
                </c:pt>
                <c:pt idx="11">
                  <c:v>20698014.5</c:v>
                </c:pt>
                <c:pt idx="12">
                  <c:v>78478988.75</c:v>
                </c:pt>
                <c:pt idx="13">
                  <c:v>98037836.25</c:v>
                </c:pt>
                <c:pt idx="15">
                  <c:v>64262460</c:v>
                </c:pt>
                <c:pt idx="17">
                  <c:v>94520174</c:v>
                </c:pt>
                <c:pt idx="18">
                  <c:v>47260383.5</c:v>
                </c:pt>
                <c:pt idx="19">
                  <c:v>38368159.549999997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Лист1!$F$25:$F$44</c15:f>
                <c15:dlblRangeCache>
                  <c:ptCount val="20"/>
                  <c:pt idx="0">
                    <c:v>0%</c:v>
                  </c:pt>
                  <c:pt idx="1">
                    <c:v>4%</c:v>
                  </c:pt>
                  <c:pt idx="2">
                    <c:v>1%</c:v>
                  </c:pt>
                  <c:pt idx="3">
                    <c:v>0%</c:v>
                  </c:pt>
                  <c:pt idx="4">
                    <c:v>7%</c:v>
                  </c:pt>
                  <c:pt idx="5">
                    <c:v>1%</c:v>
                  </c:pt>
                  <c:pt idx="6">
                    <c:v>1%</c:v>
                  </c:pt>
                  <c:pt idx="7">
                    <c:v>7%</c:v>
                  </c:pt>
                  <c:pt idx="8">
                    <c:v>2%</c:v>
                  </c:pt>
                  <c:pt idx="9">
                    <c:v>0%</c:v>
                  </c:pt>
                  <c:pt idx="10">
                    <c:v>0%</c:v>
                  </c:pt>
                  <c:pt idx="11">
                    <c:v>1%</c:v>
                  </c:pt>
                  <c:pt idx="12">
                    <c:v>3%</c:v>
                  </c:pt>
                  <c:pt idx="13">
                    <c:v>5%</c:v>
                  </c:pt>
                  <c:pt idx="14">
                    <c:v>0%</c:v>
                  </c:pt>
                  <c:pt idx="15">
                    <c:v>3%</c:v>
                  </c:pt>
                  <c:pt idx="16">
                    <c:v>0%</c:v>
                  </c:pt>
                  <c:pt idx="17">
                    <c:v>5%</c:v>
                  </c:pt>
                  <c:pt idx="18">
                    <c:v>3%</c:v>
                  </c:pt>
                  <c:pt idx="19">
                    <c:v>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62-7BAC-40D7-95AA-82207B0A4F50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Пресса</c:v>
                </c:pt>
              </c:strCache>
            </c:strRef>
          </c:tx>
          <c:spPr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Лист1!$G$2:$G$21</c:f>
              <c:numCache>
                <c:formatCode>_-* #\ ##0_-;\-* #\ ##0_-;_-* "-"??_-;_-@_-</c:formatCode>
                <c:ptCount val="20"/>
                <c:pt idx="1">
                  <c:v>38878028.25</c:v>
                </c:pt>
                <c:pt idx="2">
                  <c:v>1668750</c:v>
                </c:pt>
                <c:pt idx="3">
                  <c:v>54099</c:v>
                </c:pt>
                <c:pt idx="4">
                  <c:v>1695123.75</c:v>
                </c:pt>
                <c:pt idx="5">
                  <c:v>671954.25</c:v>
                </c:pt>
                <c:pt idx="6">
                  <c:v>517130.25</c:v>
                </c:pt>
                <c:pt idx="7">
                  <c:v>1132008</c:v>
                </c:pt>
                <c:pt idx="8">
                  <c:v>517500</c:v>
                </c:pt>
                <c:pt idx="10">
                  <c:v>5287500</c:v>
                </c:pt>
                <c:pt idx="11">
                  <c:v>3719954.25</c:v>
                </c:pt>
                <c:pt idx="12">
                  <c:v>1425000</c:v>
                </c:pt>
                <c:pt idx="13">
                  <c:v>5914833.75</c:v>
                </c:pt>
                <c:pt idx="17">
                  <c:v>1027500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3-7BAC-40D7-95AA-82207B0A4F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catAx>
        <c:axId val="3224836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1800000" spcFirstLastPara="1" vertOverflow="ellipsis" wrap="square" anchor="ctr" anchorCtr="1"/>
          <a:lstStyle/>
          <a:p>
            <a:pPr>
              <a:defRPr sz="800" b="0" i="0" u="none" strike="noStrike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Algn val="ctr"/>
        <c:lblOffset val="100"/>
        <c:noMultiLvlLbl val="0"/>
      </c:catAx>
      <c:valAx>
        <c:axId val="322483216"/>
        <c:scaling>
          <c:orientation val="minMax"/>
          <c:max val="1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2.8473999999999999E-2"/>
          <c:y val="0.91566599999999998"/>
          <c:w val="0.56016200000000005"/>
          <c:h val="8.4334000000000006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93241" y="3923660"/>
      <a:ext cx="7500858" cy="238130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7.7751000000000001E-2"/>
          <c:y val="0.128884"/>
          <c:w val="0.91630800000000001"/>
          <c:h val="0.54614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Янв-Фев'25</c:v>
                </c:pt>
              </c:strCache>
            </c:strRef>
          </c:tx>
          <c:spPr>
            <a:prstGeom prst="rect">
              <a:avLst/>
            </a:prstGeom>
            <a:solidFill>
              <a:srgbClr val="AFAFAF"/>
            </a:solidFill>
            <a:ln>
              <a:noFill/>
            </a:ln>
          </c:spPr>
          <c:invertIfNegative val="0"/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Sheet1!$B$2:$B$21</c:f>
              <c:numCache>
                <c:formatCode>_-* #\ ##0_-;\-* #\ ##0_-;_-* "-"??_-;_-@_-</c:formatCode>
                <c:ptCount val="20"/>
                <c:pt idx="0">
                  <c:v>7760891273.7338438</c:v>
                </c:pt>
                <c:pt idx="1">
                  <c:v>4808779464.5980339</c:v>
                </c:pt>
                <c:pt idx="2">
                  <c:v>4461170203.958663</c:v>
                </c:pt>
                <c:pt idx="3">
                  <c:v>2455805297.4504352</c:v>
                </c:pt>
                <c:pt idx="4">
                  <c:v>3866604205.0749531</c:v>
                </c:pt>
                <c:pt idx="5">
                  <c:v>2686558044.4424009</c:v>
                </c:pt>
                <c:pt idx="6">
                  <c:v>3884408598.4512358</c:v>
                </c:pt>
                <c:pt idx="7">
                  <c:v>1902828568.5223508</c:v>
                </c:pt>
                <c:pt idx="8">
                  <c:v>1545293449.8651066</c:v>
                </c:pt>
                <c:pt idx="9">
                  <c:v>1915644079.3597982</c:v>
                </c:pt>
                <c:pt idx="10">
                  <c:v>1728983684.947783</c:v>
                </c:pt>
                <c:pt idx="11">
                  <c:v>1146484516.4224999</c:v>
                </c:pt>
                <c:pt idx="12">
                  <c:v>1672029929.3651843</c:v>
                </c:pt>
                <c:pt idx="13">
                  <c:v>3785674197.6426425</c:v>
                </c:pt>
                <c:pt idx="14">
                  <c:v>39783050.200000003</c:v>
                </c:pt>
                <c:pt idx="15">
                  <c:v>2289389055.7502809</c:v>
                </c:pt>
                <c:pt idx="16">
                  <c:v>1990013401.2780771</c:v>
                </c:pt>
                <c:pt idx="17">
                  <c:v>1235632995.6278741</c:v>
                </c:pt>
                <c:pt idx="18">
                  <c:v>1008468686.1276982</c:v>
                </c:pt>
                <c:pt idx="19">
                  <c:v>33615004.457499996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1C1-4834-9C07-388EBD37066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Янв-Фев'26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41C1-4834-9C07-388EBD370664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41C1-4834-9C07-388EBD37066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41C1-4834-9C07-388EBD370664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1C1-4834-9C07-388EBD370664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41C1-4834-9C07-388EBD370664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41C1-4834-9C07-388EBD370664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41C1-4834-9C07-388EBD370664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41C1-4834-9C07-388EBD370664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41C1-4834-9C07-388EBD370664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41C1-4834-9C07-388EBD370664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41C1-4834-9C07-388EBD370664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41C1-4834-9C07-388EBD370664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41C1-4834-9C07-388EBD370664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41C1-4834-9C07-388EBD370664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41C1-4834-9C07-388EBD370664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41C1-4834-9C07-388EBD370664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41C1-4834-9C07-388EBD370664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41C1-4834-9C07-388EBD370664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41C1-4834-9C07-388EBD370664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41C1-4834-9C07-388EBD370664}"/>
              </c:ext>
            </c:extLst>
          </c:dPt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СБЕР</c:v>
                </c:pt>
                <c:pt idx="2">
                  <c:v>OZON</c:v>
                </c:pt>
                <c:pt idx="3">
                  <c:v>МЕГАФОН</c:v>
                </c:pt>
                <c:pt idx="4">
                  <c:v>Т-БАНК</c:v>
                </c:pt>
                <c:pt idx="5">
                  <c:v>АЛЬФА-БАНК</c:v>
                </c:pt>
                <c:pt idx="6">
                  <c:v>ВТБ</c:v>
                </c:pt>
                <c:pt idx="7">
                  <c:v>МТС</c:v>
                </c:pt>
                <c:pt idx="8">
                  <c:v>ТАНДЕР</c:v>
                </c:pt>
                <c:pt idx="9">
                  <c:v>ВКУСНО - И ТОЧКА</c:v>
                </c:pt>
                <c:pt idx="10">
                  <c:v>СОВКОМБАНК</c:v>
                </c:pt>
                <c:pt idx="11">
                  <c:v>ГПМ</c:v>
                </c:pt>
                <c:pt idx="12">
                  <c:v>X5 GROUP</c:v>
                </c:pt>
                <c:pt idx="13">
                  <c:v>ЯНДЕКС</c:v>
                </c:pt>
                <c:pt idx="14">
                  <c:v>ДИДЖИКО</c:v>
                </c:pt>
                <c:pt idx="15">
                  <c:v>АВИТО</c:v>
                </c:pt>
                <c:pt idx="16">
                  <c:v>OTC-Pharm</c:v>
                </c:pt>
                <c:pt idx="17">
                  <c:v>TELE2</c:v>
                </c:pt>
                <c:pt idx="18">
                  <c:v>БИЛАЙН</c:v>
                </c:pt>
                <c:pt idx="19">
                  <c:v>ПС ГРУПП</c:v>
                </c:pt>
              </c:strCache>
            </c:strRef>
          </c:cat>
          <c:val>
            <c:numRef>
              <c:f>Sheet1!$C$2:$C$21</c:f>
              <c:numCache>
                <c:formatCode>_-* #\ ##0_-;\-* #\ ##0_-;_-* "-"??_-;_-@_-</c:formatCode>
                <c:ptCount val="20"/>
                <c:pt idx="0">
                  <c:v>12548180975.490963</c:v>
                </c:pt>
                <c:pt idx="1">
                  <c:v>6819646637.1200809</c:v>
                </c:pt>
                <c:pt idx="2">
                  <c:v>5580876026.6350756</c:v>
                </c:pt>
                <c:pt idx="3">
                  <c:v>3682786652.9579339</c:v>
                </c:pt>
                <c:pt idx="4">
                  <c:v>3975855419.7879992</c:v>
                </c:pt>
                <c:pt idx="5">
                  <c:v>3251451101.6435461</c:v>
                </c:pt>
                <c:pt idx="6">
                  <c:v>3103589522.1602707</c:v>
                </c:pt>
                <c:pt idx="7">
                  <c:v>2833507715.8131051</c:v>
                </c:pt>
                <c:pt idx="8">
                  <c:v>2696533359.1096773</c:v>
                </c:pt>
                <c:pt idx="9">
                  <c:v>2312816802.4193277</c:v>
                </c:pt>
                <c:pt idx="10">
                  <c:v>2080840393.3264852</c:v>
                </c:pt>
                <c:pt idx="11">
                  <c:v>2293142788.8524995</c:v>
                </c:pt>
                <c:pt idx="12">
                  <c:v>2325369241.2411041</c:v>
                </c:pt>
                <c:pt idx="13">
                  <c:v>1955390880.3379984</c:v>
                </c:pt>
                <c:pt idx="14">
                  <c:v>1901610115.8000002</c:v>
                </c:pt>
                <c:pt idx="15">
                  <c:v>2043915856.0643544</c:v>
                </c:pt>
                <c:pt idx="16">
                  <c:v>1693998503.2145042</c:v>
                </c:pt>
                <c:pt idx="17">
                  <c:v>1726510193.3432643</c:v>
                </c:pt>
                <c:pt idx="18">
                  <c:v>1423426007.9015927</c:v>
                </c:pt>
                <c:pt idx="19">
                  <c:v>1557496621.0350001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41C1-4834-9C07-388EBD3706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/>
          <a:lstStyle/>
          <a:p>
            <a:pPr>
              <a:defRPr sz="8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13000000000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98356624"/>
        <c:crosses val="autoZero"/>
        <c:crossBetween val="between"/>
        <c:dispUnits>
          <c:builtInUnit val="millions"/>
        </c:dispUnits>
      </c:valAx>
    </c:plotArea>
    <c:legend>
      <c:legendPos val="r"/>
      <c:layout>
        <c:manualLayout>
          <c:xMode val="edge"/>
          <c:yMode val="edge"/>
          <c:x val="0.37672099999999997"/>
          <c:y val="1.5169999999999999E-3"/>
          <c:w val="0.25554399999999999"/>
          <c:h val="0.2398560000000000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>
          <a:latin typeface="+mn-lt"/>
          <a:ea typeface="5ka Sans Design"/>
          <a:cs typeface="5ka Sans Design"/>
        </a:defRPr>
      </a:pPr>
      <a:endParaRPr lang="ru-RU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256289194001996E-2"/>
          <c:y val="5.1201999999999998E-2"/>
          <c:w val="0.93743710805998004"/>
          <c:h val="0.593099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ТВ Нац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D6F7304-FA03-4D75-B26E-53AACF65ED3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CBAF-4B02-B071-23054E5484F2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1FA1710-2E90-426C-AA68-9266759A2D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CBAF-4B02-B071-23054E5484F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57B5B6C-0035-43D8-A47D-675535941D3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CBAF-4B02-B071-23054E5484F2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B08F1E16-CD6B-462F-A043-F87A84132BF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CBAF-4B02-B071-23054E5484F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3CAA4B3-D214-4998-9DE8-809398A3AEC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CBAF-4B02-B071-23054E5484F2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2AD2D16D-2A63-422E-A232-B9AED5CA4A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CBAF-4B02-B071-23054E5484F2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64FBFD3-9987-4A21-8234-F12E005EF64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CBAF-4B02-B071-23054E5484F2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3C82A264-374E-4E34-B776-041AA963584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CBAF-4B02-B071-23054E5484F2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CBBDF1B-B65A-47B6-B24D-19386269559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CBAF-4B02-B071-23054E5484F2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5DB65C88-C13B-4D99-84A5-E3664B6AFFA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CBAF-4B02-B071-23054E5484F2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73B5F4C-8C5B-4696-AF24-C059DBE08C3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CBAF-4B02-B071-23054E5484F2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5FD949B9-1112-4278-BB01-C35981E4950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BAF-4B02-B071-23054E5484F2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624D4A08-A1B9-41E8-BEBE-11DAF4DFDFF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CBAF-4B02-B071-23054E5484F2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CBAF-4B02-B071-23054E5484F2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3B810E49-BFBF-424A-9558-49FDF426D36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CBAF-4B02-B071-23054E5484F2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469423C3-5308-4297-A12A-BF3AADCBB35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CBAF-4B02-B071-23054E5484F2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37ED0E32-1D31-42CD-90F9-276FB512FB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CBAF-4B02-B071-23054E5484F2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FD227ABF-4F1E-445E-83EB-E67D015C889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CBAF-4B02-B071-23054E5484F2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ABFB418C-BD90-4374-9B4C-D13B5A34B41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CBAF-4B02-B071-23054E5484F2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E24B0401-5A2F-4A84-ADA3-86839D99F1E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CBAF-4B02-B071-23054E5484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Лист1!$B$2:$B$21</c:f>
              <c:numCache>
                <c:formatCode>#,##0</c:formatCode>
                <c:ptCount val="20"/>
                <c:pt idx="0">
                  <c:v>1061639817.6000001</c:v>
                </c:pt>
                <c:pt idx="1">
                  <c:v>2758903101.3000002</c:v>
                </c:pt>
                <c:pt idx="2">
                  <c:v>1498017394.5000002</c:v>
                </c:pt>
                <c:pt idx="3">
                  <c:v>1654430496.0000005</c:v>
                </c:pt>
                <c:pt idx="4">
                  <c:v>1057292440.2000002</c:v>
                </c:pt>
                <c:pt idx="5">
                  <c:v>1102655702.1000001</c:v>
                </c:pt>
                <c:pt idx="6">
                  <c:v>896931040.50000012</c:v>
                </c:pt>
                <c:pt idx="7">
                  <c:v>784772712.00000024</c:v>
                </c:pt>
                <c:pt idx="8">
                  <c:v>504297135.60000008</c:v>
                </c:pt>
                <c:pt idx="9">
                  <c:v>836160333.9000001</c:v>
                </c:pt>
                <c:pt idx="10">
                  <c:v>809258697.00000012</c:v>
                </c:pt>
                <c:pt idx="11">
                  <c:v>830923706.70000017</c:v>
                </c:pt>
                <c:pt idx="12">
                  <c:v>488463589.20000011</c:v>
                </c:pt>
                <c:pt idx="14">
                  <c:v>493527267.60000008</c:v>
                </c:pt>
                <c:pt idx="15">
                  <c:v>707650446.25</c:v>
                </c:pt>
                <c:pt idx="16">
                  <c:v>547287975.14999998</c:v>
                </c:pt>
                <c:pt idx="17">
                  <c:v>613597602.79999995</c:v>
                </c:pt>
                <c:pt idx="18">
                  <c:v>622602122.70000005</c:v>
                </c:pt>
                <c:pt idx="19">
                  <c:v>595860268.20000017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Лист1!$B$25:$B$44</c15:f>
                <c15:dlblRangeCache>
                  <c:ptCount val="20"/>
                  <c:pt idx="0">
                    <c:v>19%</c:v>
                  </c:pt>
                  <c:pt idx="1">
                    <c:v>59%</c:v>
                  </c:pt>
                  <c:pt idx="2">
                    <c:v>46%</c:v>
                  </c:pt>
                  <c:pt idx="3">
                    <c:v>51%</c:v>
                  </c:pt>
                  <c:pt idx="4">
                    <c:v>52%</c:v>
                  </c:pt>
                  <c:pt idx="5">
                    <c:v>59%</c:v>
                  </c:pt>
                  <c:pt idx="6">
                    <c:v>47%</c:v>
                  </c:pt>
                  <c:pt idx="7">
                    <c:v>46%</c:v>
                  </c:pt>
                  <c:pt idx="8">
                    <c:v>30%</c:v>
                  </c:pt>
                  <c:pt idx="9">
                    <c:v>66%</c:v>
                  </c:pt>
                  <c:pt idx="10">
                    <c:v>52%</c:v>
                  </c:pt>
                  <c:pt idx="11">
                    <c:v>67%</c:v>
                  </c:pt>
                  <c:pt idx="12">
                    <c:v>45%</c:v>
                  </c:pt>
                  <c:pt idx="14">
                    <c:v>43%</c:v>
                  </c:pt>
                  <c:pt idx="15">
                    <c:v>66%</c:v>
                  </c:pt>
                  <c:pt idx="16">
                    <c:v>61%</c:v>
                  </c:pt>
                  <c:pt idx="17">
                    <c:v>62%</c:v>
                  </c:pt>
                  <c:pt idx="18">
                    <c:v>71%</c:v>
                  </c:pt>
                  <c:pt idx="19">
                    <c:v>69%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4-CBAF-4B02-B071-23054E5484F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ТВ Рег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CBAF-4B02-B071-23054E5484F2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0D2E962-75F1-4B25-B66B-C81ACB9D64A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CBAF-4B02-B071-23054E5484F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C45737E-BB4F-4B9D-BA44-E0D4F697CAB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4C6C-48FD-A6AF-4558070947F4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4C6C-48FD-A6AF-4558070947F4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2407F027-BCFC-A74E-AF64-31F5AC326FC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CBAF-4B02-B071-23054E5484F2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2033879-EB3A-C841-8132-F4D41E32F22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2-4C6C-48FD-A6AF-4558070947F4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5D88CB0E-9D19-402B-92CB-9D3A448D594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CBAF-4B02-B071-23054E5484F2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BAFB31B8-C001-41C3-98AA-A4081696F78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CBAF-4B02-B071-23054E5484F2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1CF7960-F78B-40F6-8BBD-AC373B9DFD0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CBAF-4B02-B071-23054E5484F2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CBAF-4B02-B071-23054E5484F2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18E7D435-FC11-433E-BA46-687424E63E1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CBAF-4B02-B071-23054E5484F2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CBAF-4B02-B071-23054E5484F2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7C610A73-37AD-514E-8021-3BB22A23B26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E-CBAF-4B02-B071-23054E5484F2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CBAF-4B02-B071-23054E5484F2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CBAF-4B02-B071-23054E5484F2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CBAF-4B02-B071-23054E5484F2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CBAF-4B02-B071-23054E5484F2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7DB97848-DB7D-E34C-8439-3A56F70C36E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3-CBAF-4B02-B071-23054E5484F2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CBAF-4B02-B071-23054E5484F2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4C6C-48FD-A6AF-4558070947F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Лист1!$C$2:$C$21</c:f>
              <c:numCache>
                <c:formatCode>#,##0</c:formatCode>
                <c:ptCount val="20"/>
                <c:pt idx="1">
                  <c:v>73815578.099999994</c:v>
                </c:pt>
                <c:pt idx="2">
                  <c:v>64600367.150000006</c:v>
                </c:pt>
                <c:pt idx="4">
                  <c:v>40390.9</c:v>
                </c:pt>
                <c:pt idx="5">
                  <c:v>98584.200000000012</c:v>
                </c:pt>
                <c:pt idx="6">
                  <c:v>63167201.350000009</c:v>
                </c:pt>
                <c:pt idx="7">
                  <c:v>178287976.90000007</c:v>
                </c:pt>
                <c:pt idx="8">
                  <c:v>317699853.3500002</c:v>
                </c:pt>
                <c:pt idx="10" formatCode="General">
                  <c:v>38892293.550000004</c:v>
                </c:pt>
                <c:pt idx="12" formatCode="General">
                  <c:v>0</c:v>
                </c:pt>
                <c:pt idx="17" formatCode="General">
                  <c:v>1134941.5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Лист1!$C$25:$C$44</c15:f>
                <c15:dlblRangeCache>
                  <c:ptCount val="20"/>
                  <c:pt idx="1">
                    <c:v>2%</c:v>
                  </c:pt>
                  <c:pt idx="2">
                    <c:v>2%</c:v>
                  </c:pt>
                  <c:pt idx="6">
                    <c:v>3%</c:v>
                  </c:pt>
                  <c:pt idx="7">
                    <c:v>11%</c:v>
                  </c:pt>
                  <c:pt idx="8">
                    <c:v>19%</c:v>
                  </c:pt>
                  <c:pt idx="10">
                    <c:v>3%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5-CBAF-4B02-B071-23054E5484F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Интернет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AC752FA6-6DEE-447A-BBA5-04FB69542C7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6-CBAF-4B02-B071-23054E5484F2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3855B531-04A0-4ED6-8032-3F7BA8A48A5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CBAF-4B02-B071-23054E5484F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0292310-8C95-43EA-8598-2F829430DEA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8-CBAF-4B02-B071-23054E5484F2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B9DF65CD-F24D-405E-BDF3-22F2BC4DF97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CBAF-4B02-B071-23054E5484F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BFB3C886-1791-442E-B617-6BC9823209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A-CBAF-4B02-B071-23054E5484F2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6C112BB3-4FEA-477F-8210-0D9D343655E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B-CBAF-4B02-B071-23054E5484F2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1BE30FF3-0EA5-41ED-9208-6C3ED5F6DD5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C-CBAF-4B02-B071-23054E5484F2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AA8ED5F2-8247-4307-93F1-1096B7AA91F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D-CBAF-4B02-B071-23054E5484F2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A12A5660-CAD6-4DFF-8FBE-45B7181D1E7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E-CBAF-4B02-B071-23054E5484F2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D653BDD0-EC3E-448F-AFA6-91BC331E23D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F-CBAF-4B02-B071-23054E5484F2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C3662C9-BCDB-44C0-AE27-75964073DE4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0-CBAF-4B02-B071-23054E5484F2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7668AF23-C55E-43CF-9222-1246320D5F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1-CBAF-4B02-B071-23054E5484F2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12C3BAB8-B6C2-426A-B276-02332257358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2-CBAF-4B02-B071-23054E5484F2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C114427A-48EB-4D80-ABC5-FE83CD767DC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CBAF-4B02-B071-23054E5484F2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FE19844B-29B1-47A0-BD9C-85A89D68DBA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CBAF-4B02-B071-23054E5484F2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9CC513D9-006C-4946-9B91-1957F004F4E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CBAF-4B02-B071-23054E5484F2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1039310E-8B5F-4835-A144-3F152B612A7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CBAF-4B02-B071-23054E5484F2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252693A9-E994-4CB9-B159-97008F94A4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7-CBAF-4B02-B071-23054E5484F2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9BD5DB36-F0FE-42C8-9DB3-C4892F4F117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8-CBAF-4B02-B071-23054E5484F2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3249D93B-C53F-41D0-8F2E-D57336A69EF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9-CBAF-4B02-B071-23054E5484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Лист1!$D$2:$D$21</c:f>
              <c:numCache>
                <c:formatCode>#,##0</c:formatCode>
                <c:ptCount val="20"/>
                <c:pt idx="0">
                  <c:v>2390762524.7868071</c:v>
                </c:pt>
                <c:pt idx="1">
                  <c:v>1677165020.518918</c:v>
                </c:pt>
                <c:pt idx="2">
                  <c:v>970083640.7073909</c:v>
                </c:pt>
                <c:pt idx="3">
                  <c:v>1267344334.5677466</c:v>
                </c:pt>
                <c:pt idx="4">
                  <c:v>715853464.50364161</c:v>
                </c:pt>
                <c:pt idx="5">
                  <c:v>646982278.22185373</c:v>
                </c:pt>
                <c:pt idx="6">
                  <c:v>710490245.1985383</c:v>
                </c:pt>
                <c:pt idx="7">
                  <c:v>591814122.48935056</c:v>
                </c:pt>
                <c:pt idx="8">
                  <c:v>651069469.64679599</c:v>
                </c:pt>
                <c:pt idx="9">
                  <c:v>322137296.406932</c:v>
                </c:pt>
                <c:pt idx="10">
                  <c:v>640732325.16820872</c:v>
                </c:pt>
                <c:pt idx="11">
                  <c:v>401252837.56851703</c:v>
                </c:pt>
                <c:pt idx="12">
                  <c:v>311791691.67312753</c:v>
                </c:pt>
                <c:pt idx="13">
                  <c:v>412995557.15000004</c:v>
                </c:pt>
                <c:pt idx="14">
                  <c:v>429069056.57778108</c:v>
                </c:pt>
                <c:pt idx="15">
                  <c:v>370869153.13801563</c:v>
                </c:pt>
                <c:pt idx="16">
                  <c:v>240504000.49600127</c:v>
                </c:pt>
                <c:pt idx="17">
                  <c:v>348686966.95249999</c:v>
                </c:pt>
                <c:pt idx="18">
                  <c:v>245015100.37293276</c:v>
                </c:pt>
                <c:pt idx="19">
                  <c:v>272060246.5016222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Лист1!$D$25:$D$44</c15:f>
                <c15:dlblRangeCache>
                  <c:ptCount val="20"/>
                  <c:pt idx="0">
                    <c:v>42%</c:v>
                  </c:pt>
                  <c:pt idx="1">
                    <c:v>36%</c:v>
                  </c:pt>
                  <c:pt idx="2">
                    <c:v>30%</c:v>
                  </c:pt>
                  <c:pt idx="3">
                    <c:v>39%</c:v>
                  </c:pt>
                  <c:pt idx="4">
                    <c:v>35%</c:v>
                  </c:pt>
                  <c:pt idx="5">
                    <c:v>35%</c:v>
                  </c:pt>
                  <c:pt idx="6">
                    <c:v>37%</c:v>
                  </c:pt>
                  <c:pt idx="7">
                    <c:v>35%</c:v>
                  </c:pt>
                  <c:pt idx="8">
                    <c:v>38%</c:v>
                  </c:pt>
                  <c:pt idx="9">
                    <c:v>26%</c:v>
                  </c:pt>
                  <c:pt idx="10">
                    <c:v>41%</c:v>
                  </c:pt>
                  <c:pt idx="11">
                    <c:v>32%</c:v>
                  </c:pt>
                  <c:pt idx="12">
                    <c:v>28%</c:v>
                  </c:pt>
                  <c:pt idx="13">
                    <c:v>35%</c:v>
                  </c:pt>
                  <c:pt idx="14">
                    <c:v>37%</c:v>
                  </c:pt>
                  <c:pt idx="15">
                    <c:v>34%</c:v>
                  </c:pt>
                  <c:pt idx="16">
                    <c:v>27%</c:v>
                  </c:pt>
                  <c:pt idx="17">
                    <c:v>35%</c:v>
                  </c:pt>
                  <c:pt idx="18">
                    <c:v>28%</c:v>
                  </c:pt>
                  <c:pt idx="19">
                    <c:v>31%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3A-CBAF-4B02-B071-23054E5484F2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ООН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7F82FAF1-1077-4C7A-8CD7-C5935762305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B-CBAF-4B02-B071-23054E5484F2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DB6D131-9AD8-4C05-9A58-9857E4CCC98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C-CBAF-4B02-B071-23054E5484F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3E5FF5D-3E75-4A1A-81AF-D8DBC19F8D9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D-CBAF-4B02-B071-23054E5484F2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4CC5BCF3-B45D-49C6-BA90-05183C59659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E-CBAF-4B02-B071-23054E5484F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FF176F8-C0A2-4B2F-8A70-73309175A2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F-CBAF-4B02-B071-23054E5484F2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438A855-559D-448D-88C7-A441B8AB91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0-CBAF-4B02-B071-23054E5484F2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419E59B-8A6A-4A29-AC8C-592B38A12F2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1-CBAF-4B02-B071-23054E5484F2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EE375D61-7FDC-43C9-9B03-B0C2FE5DBD9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2-CBAF-4B02-B071-23054E5484F2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FA33331-01ED-4C95-9201-09221DA0B40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3-CBAF-4B02-B071-23054E5484F2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A8564CE-97F1-497A-A73F-028CC100F82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4-CBAF-4B02-B071-23054E5484F2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A1A9B30-889E-A44C-9892-C468E815459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5-CBAF-4B02-B071-23054E5484F2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7C3746A8-0AF2-4A01-8D37-DB694A76D57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6-CBAF-4B02-B071-23054E5484F2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010FA388-86E4-42D6-9B6C-BE08F4C640F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7-CBAF-4B02-B071-23054E5484F2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9640CAEC-5642-4A8E-B0C7-8B02264CE50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8-CBAF-4B02-B071-23054E5484F2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FD17BC07-E2C8-433E-8CB6-4FFB333708B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9-CBAF-4B02-B071-23054E5484F2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7D408D3F-C573-1F41-95FE-E073B771620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A-CBAF-4B02-B071-23054E5484F2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831141F4-1BD3-4018-85E5-BD863929C3A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B-CBAF-4B02-B071-23054E5484F2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ACD09F82-3F76-AA49-94F1-EB3E5818573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C-CBAF-4B02-B071-23054E5484F2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25EFE9E8-70C0-41F3-83A5-A7DA74E813D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D-CBAF-4B02-B071-23054E5484F2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9CA02C29-BAEE-1640-BD89-31A4231DC7B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E-CBAF-4B02-B071-23054E5484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Лист1!$E$2:$E$21</c:f>
              <c:numCache>
                <c:formatCode>#,##0</c:formatCode>
                <c:ptCount val="20"/>
                <c:pt idx="0">
                  <c:v>2193831471</c:v>
                </c:pt>
                <c:pt idx="1">
                  <c:v>140518928</c:v>
                </c:pt>
                <c:pt idx="2">
                  <c:v>499050316</c:v>
                </c:pt>
                <c:pt idx="3">
                  <c:v>59168299</c:v>
                </c:pt>
                <c:pt idx="4">
                  <c:v>236401475</c:v>
                </c:pt>
                <c:pt idx="5">
                  <c:v>111224445</c:v>
                </c:pt>
                <c:pt idx="6">
                  <c:v>127951811</c:v>
                </c:pt>
                <c:pt idx="7">
                  <c:v>91023778</c:v>
                </c:pt>
                <c:pt idx="8">
                  <c:v>150648678</c:v>
                </c:pt>
                <c:pt idx="9">
                  <c:v>96635763</c:v>
                </c:pt>
                <c:pt idx="10">
                  <c:v>1783431</c:v>
                </c:pt>
                <c:pt idx="11">
                  <c:v>15378951</c:v>
                </c:pt>
                <c:pt idx="12">
                  <c:v>234525675</c:v>
                </c:pt>
                <c:pt idx="13">
                  <c:v>750901013</c:v>
                </c:pt>
                <c:pt idx="14">
                  <c:v>143344591</c:v>
                </c:pt>
                <c:pt idx="15">
                  <c:v>274612</c:v>
                </c:pt>
                <c:pt idx="16">
                  <c:v>96197101</c:v>
                </c:pt>
                <c:pt idx="17">
                  <c:v>3441735</c:v>
                </c:pt>
                <c:pt idx="18">
                  <c:v>6705888</c:v>
                </c:pt>
                <c:pt idx="19">
                  <c:v>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Лист1!$E$25:$E$44</c15:f>
                <c15:dlblRangeCache>
                  <c:ptCount val="20"/>
                  <c:pt idx="0">
                    <c:v>39%</c:v>
                  </c:pt>
                  <c:pt idx="1">
                    <c:v>3%</c:v>
                  </c:pt>
                  <c:pt idx="2">
                    <c:v>15%</c:v>
                  </c:pt>
                  <c:pt idx="3">
                    <c:v>2%</c:v>
                  </c:pt>
                  <c:pt idx="4">
                    <c:v>12%</c:v>
                  </c:pt>
                  <c:pt idx="5">
                    <c:v>6%</c:v>
                  </c:pt>
                  <c:pt idx="6">
                    <c:v>7%</c:v>
                  </c:pt>
                  <c:pt idx="7">
                    <c:v>5%</c:v>
                  </c:pt>
                  <c:pt idx="8">
                    <c:v>9%</c:v>
                  </c:pt>
                  <c:pt idx="9">
                    <c:v>8%</c:v>
                  </c:pt>
                  <c:pt idx="11">
                    <c:v>1%</c:v>
                  </c:pt>
                  <c:pt idx="12">
                    <c:v>21%</c:v>
                  </c:pt>
                  <c:pt idx="13">
                    <c:v>65%</c:v>
                  </c:pt>
                  <c:pt idx="14">
                    <c:v>13%</c:v>
                  </c:pt>
                  <c:pt idx="16">
                    <c:v>11%</c:v>
                  </c:pt>
                  <c:pt idx="18">
                    <c:v>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F-CBAF-4B02-B071-23054E5484F2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Радио 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6F7B64D-B6EE-4F97-8A14-AE5C581631C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0-CBAF-4B02-B071-23054E5484F2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B9A4686-5C72-4BE8-90C2-B14C81F44D2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1-CBAF-4B02-B071-23054E5484F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8117EE6-8F5F-4020-B771-08810DE5EFB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2-CBAF-4B02-B071-23054E5484F2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F91AF591-19BC-43A1-87C4-CC09C9B66C4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3-CBAF-4B02-B071-23054E5484F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ADE5B54-CEDE-466A-94AF-D124234B2FD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4-CBAF-4B02-B071-23054E5484F2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D15E48B6-F4AE-3444-B359-E04EBFC2DC8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5-CBAF-4B02-B071-23054E5484F2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6B0D3DD8-FFA4-4772-8545-B045EDFABFB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6-CBAF-4B02-B071-23054E5484F2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8535756A-EC7B-4B00-9443-48654A87E02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7-CBAF-4B02-B071-23054E5484F2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D8655BAF-B5BD-489A-A245-E67E09B6BE1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8-CBAF-4B02-B071-23054E5484F2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A20C6E85-AF60-7640-9010-036E10849A1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9-CBAF-4B02-B071-23054E5484F2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A9EEA372-B535-4261-A6B0-27D8F591EBC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A-CBAF-4B02-B071-23054E5484F2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B-CBAF-4B02-B071-23054E5484F2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3ECF8BA-58CE-42C1-A65E-450FFB4B6FC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C-CBAF-4B02-B071-23054E5484F2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D-CBAF-4B02-B071-23054E5484F2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A73E8ADA-861C-43A7-AE70-EF883DA20FC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E-CBAF-4B02-B071-23054E5484F2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F-CBAF-4B02-B071-23054E5484F2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E5804891-5E28-4E5B-9E8C-A0FB3CD73D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0-CBAF-4B02-B071-23054E5484F2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6E25EA8F-99EB-4F13-94D8-FC3BC3A398E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1-CBAF-4B02-B071-23054E5484F2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2-CBAF-4B02-B071-23054E5484F2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3-CBAF-4B02-B071-23054E5484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Лист1!$F$2:$F$21</c:f>
              <c:numCache>
                <c:formatCode>#,##0</c:formatCode>
                <c:ptCount val="20"/>
                <c:pt idx="0">
                  <c:v>45832475</c:v>
                </c:pt>
                <c:pt idx="1">
                  <c:v>32987060</c:v>
                </c:pt>
                <c:pt idx="2">
                  <c:v>170882763.75</c:v>
                </c:pt>
                <c:pt idx="3">
                  <c:v>239844677.5</c:v>
                </c:pt>
                <c:pt idx="4">
                  <c:v>14126225</c:v>
                </c:pt>
                <c:pt idx="5">
                  <c:v>7307740</c:v>
                </c:pt>
                <c:pt idx="6">
                  <c:v>98614558.75</c:v>
                </c:pt>
                <c:pt idx="7">
                  <c:v>43392350</c:v>
                </c:pt>
                <c:pt idx="8">
                  <c:v>75489796.25</c:v>
                </c:pt>
                <c:pt idx="9">
                  <c:v>3457000</c:v>
                </c:pt>
                <c:pt idx="10">
                  <c:v>64262460</c:v>
                </c:pt>
                <c:pt idx="12">
                  <c:v>60476813.75</c:v>
                </c:pt>
                <c:pt idx="14">
                  <c:v>79440842.5</c:v>
                </c:pt>
                <c:pt idx="16" formatCode="General">
                  <c:v>18223605</c:v>
                </c:pt>
                <c:pt idx="17" formatCode="General">
                  <c:v>13286757.5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Лист1!$F$25:$F$44</c15:f>
                <c15:dlblRangeCache>
                  <c:ptCount val="20"/>
                  <c:pt idx="0">
                    <c:v>1%</c:v>
                  </c:pt>
                  <c:pt idx="1">
                    <c:v>1%</c:v>
                  </c:pt>
                  <c:pt idx="2">
                    <c:v>5%</c:v>
                  </c:pt>
                  <c:pt idx="3">
                    <c:v>7%</c:v>
                  </c:pt>
                  <c:pt idx="4">
                    <c:v>1%</c:v>
                  </c:pt>
                  <c:pt idx="6">
                    <c:v>5%</c:v>
                  </c:pt>
                  <c:pt idx="7">
                    <c:v>3%</c:v>
                  </c:pt>
                  <c:pt idx="8">
                    <c:v>4%</c:v>
                  </c:pt>
                  <c:pt idx="10">
                    <c:v>4%</c:v>
                  </c:pt>
                  <c:pt idx="12">
                    <c:v>6%</c:v>
                  </c:pt>
                  <c:pt idx="14">
                    <c:v>7%</c:v>
                  </c:pt>
                  <c:pt idx="16">
                    <c:v>2%</c:v>
                  </c:pt>
                  <c:pt idx="17">
                    <c:v>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64-CBAF-4B02-B071-23054E5484F2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Пресса</c:v>
                </c:pt>
              </c:strCache>
            </c:strRef>
          </c:tx>
          <c:spPr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4C6C-48FD-A6AF-4558070947F4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4C6C-48FD-A6AF-4558070947F4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BB95386-ED68-46E1-80F8-367805101E2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4C6C-48FD-A6AF-4558070947F4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299E059A-EDCA-A240-A463-383FBC71510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4C6C-48FD-A6AF-4558070947F4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8CA8049-9946-F745-B75F-FC06DF0915C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8-4C6C-48FD-A6AF-4558070947F4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4C6C-48FD-A6AF-4558070947F4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76A0735E-DC19-054C-97B2-FC11F6ED3FA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A-4C6C-48FD-A6AF-4558070947F4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4C6C-48FD-A6AF-4558070947F4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449ACFEB-F74F-F24F-A92D-A897B889FAF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4C6C-48FD-A6AF-4558070947F4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4C6C-48FD-A6AF-4558070947F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4C6C-48FD-A6AF-4558070947F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998928A2-3DC5-6644-9995-C6455BDDDB6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4C6C-48FD-A6AF-4558070947F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D5B97A8B-F850-1A45-B3CC-87A9B30A3C1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0-4C6C-48FD-A6AF-4558070947F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4C6C-48FD-A6AF-4558070947F4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27790C7B-1C33-E447-8FEF-5CDB15EC1A4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2-4C6C-48FD-A6AF-4558070947F4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4C6C-48FD-A6AF-4558070947F4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4C6C-48FD-A6AF-4558070947F4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5AC1710C-E973-D945-8F28-96E1790EE73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5-4C6C-48FD-A6AF-4558070947F4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13DB205E-557F-FA46-9A37-A3C7BE9C5D2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6-4C6C-48FD-A6AF-4558070947F4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4C6C-48FD-A6AF-4558070947F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Лист1!$G$2:$G$21</c:f>
              <c:numCache>
                <c:formatCode>General</c:formatCode>
                <c:ptCount val="20"/>
                <c:pt idx="2" formatCode="#,##0">
                  <c:v>26645245.5</c:v>
                </c:pt>
                <c:pt idx="3" formatCode="#,##0">
                  <c:v>1263873.75</c:v>
                </c:pt>
                <c:pt idx="4" formatCode="#,##0">
                  <c:v>274056.75</c:v>
                </c:pt>
                <c:pt idx="6" formatCode="#,##0">
                  <c:v>1132008</c:v>
                </c:pt>
                <c:pt idx="8" formatCode="#,##0">
                  <c:v>1425000</c:v>
                </c:pt>
                <c:pt idx="11" formatCode="#,##0">
                  <c:v>27049.5</c:v>
                </c:pt>
                <c:pt idx="12" formatCode="#,##0">
                  <c:v>900000</c:v>
                </c:pt>
                <c:pt idx="14" formatCode="#,##0">
                  <c:v>1027500</c:v>
                </c:pt>
                <c:pt idx="17">
                  <c:v>2515266.75</c:v>
                </c:pt>
                <c:pt idx="18">
                  <c:v>1425000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Лист1!$G$25:$G$44</c15:f>
                <c15:dlblRangeCache>
                  <c:ptCount val="20"/>
                  <c:pt idx="2">
                    <c:v>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65-CBAF-4B02-B071-23054E5484F2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catAx>
        <c:axId val="3224836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1800000" spcFirstLastPara="1" vertOverflow="ellipsis" wrap="square" anchor="ctr" anchorCtr="1"/>
          <a:lstStyle/>
          <a:p>
            <a:pPr>
              <a:defRPr sz="800" b="0" i="0" u="none" strike="noStrike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Algn val="ctr"/>
        <c:lblOffset val="100"/>
        <c:noMultiLvlLbl val="0"/>
      </c:catAx>
      <c:valAx>
        <c:axId val="322483216"/>
        <c:scaling>
          <c:orientation val="minMax"/>
          <c:max val="1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2.8473999999999999E-2"/>
          <c:y val="0.91566599999999998"/>
          <c:w val="0.56016200000000005"/>
          <c:h val="8.4334000000000006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93241" y="4083121"/>
      <a:ext cx="7450279" cy="222184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9.7130999999999995E-2"/>
          <c:y val="0.14458199999999999"/>
          <c:w val="0.89369799999999999"/>
          <c:h val="0.5334140000000000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Фев'25</c:v>
                </c:pt>
              </c:strCache>
            </c:strRef>
          </c:tx>
          <c:spPr>
            <a:prstGeom prst="rect">
              <a:avLst/>
            </a:prstGeom>
            <a:solidFill>
              <a:srgbClr val="AFAFAF"/>
            </a:solidFill>
            <a:ln>
              <a:noFill/>
            </a:ln>
          </c:spPr>
          <c:invertIfNegative val="0"/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Sheet1!$B$2:$B$21</c:f>
              <c:numCache>
                <c:formatCode>#,##0</c:formatCode>
                <c:ptCount val="20"/>
                <c:pt idx="0">
                  <c:v>3247276014.8885279</c:v>
                </c:pt>
                <c:pt idx="1">
                  <c:v>3291005366.0143266</c:v>
                </c:pt>
                <c:pt idx="2">
                  <c:v>3000233177.4763799</c:v>
                </c:pt>
                <c:pt idx="3">
                  <c:v>2644549189.9067087</c:v>
                </c:pt>
                <c:pt idx="4">
                  <c:v>2410282058.4437218</c:v>
                </c:pt>
                <c:pt idx="5">
                  <c:v>1478682601.6523123</c:v>
                </c:pt>
                <c:pt idx="6">
                  <c:v>1219600495.4624839</c:v>
                </c:pt>
                <c:pt idx="7">
                  <c:v>1040886287.9891307</c:v>
                </c:pt>
                <c:pt idx="8">
                  <c:v>1017090913.5421712</c:v>
                </c:pt>
                <c:pt idx="9">
                  <c:v>1016317391.4386232</c:v>
                </c:pt>
                <c:pt idx="10">
                  <c:v>1612986991.6633587</c:v>
                </c:pt>
                <c:pt idx="11">
                  <c:v>1228410573.153801</c:v>
                </c:pt>
                <c:pt idx="12">
                  <c:v>2278063698.4968119</c:v>
                </c:pt>
                <c:pt idx="13">
                  <c:v>0</c:v>
                </c:pt>
                <c:pt idx="14">
                  <c:v>685989155.28184688</c:v>
                </c:pt>
                <c:pt idx="15">
                  <c:v>184158345.31116351</c:v>
                </c:pt>
                <c:pt idx="16">
                  <c:v>703927116.01755524</c:v>
                </c:pt>
                <c:pt idx="17">
                  <c:v>695851476.96249998</c:v>
                </c:pt>
                <c:pt idx="18" formatCode="General">
                  <c:v>825193011.9255265</c:v>
                </c:pt>
                <c:pt idx="19">
                  <c:v>1066576694.1782919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2E3-4646-AE10-F5D379223E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Фев'26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2E3-4646-AE10-F5D379223E56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02E3-4646-AE10-F5D379223E5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2E3-4646-AE10-F5D379223E56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02E3-4646-AE10-F5D379223E56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2E3-4646-AE10-F5D379223E56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02E3-4646-AE10-F5D379223E56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2E3-4646-AE10-F5D379223E56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02E3-4646-AE10-F5D379223E56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2E3-4646-AE10-F5D379223E56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02E3-4646-AE10-F5D379223E56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02E3-4646-AE10-F5D379223E56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02E3-4646-AE10-F5D379223E56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02E3-4646-AE10-F5D379223E56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02E3-4646-AE10-F5D379223E56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02E3-4646-AE10-F5D379223E56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02E3-4646-AE10-F5D379223E56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02E3-4646-AE10-F5D379223E56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02E3-4646-AE10-F5D379223E56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02E3-4646-AE10-F5D379223E56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02E3-4646-AE10-F5D379223E56}"/>
              </c:ext>
            </c:extLst>
          </c:dPt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OZON</c:v>
                </c:pt>
                <c:pt idx="2">
                  <c:v>СБЕР</c:v>
                </c:pt>
                <c:pt idx="3">
                  <c:v>Т-БАНК</c:v>
                </c:pt>
                <c:pt idx="4">
                  <c:v>ВТБ</c:v>
                </c:pt>
                <c:pt idx="5">
                  <c:v>АЛЬФА-БАНК</c:v>
                </c:pt>
                <c:pt idx="6">
                  <c:v>МТС</c:v>
                </c:pt>
                <c:pt idx="7">
                  <c:v>ТАНДЕР</c:v>
                </c:pt>
                <c:pt idx="8">
                  <c:v>X5 GROUP</c:v>
                </c:pt>
                <c:pt idx="9">
                  <c:v>ВКУСНО - И ТОЧКА</c:v>
                </c:pt>
                <c:pt idx="10">
                  <c:v>АВИТО</c:v>
                </c:pt>
                <c:pt idx="11">
                  <c:v>МЕГАФОН</c:v>
                </c:pt>
                <c:pt idx="12">
                  <c:v>ЯНДЕКС</c:v>
                </c:pt>
                <c:pt idx="13">
                  <c:v>O'SHADE</c:v>
                </c:pt>
                <c:pt idx="14">
                  <c:v>TELE2</c:v>
                </c:pt>
                <c:pt idx="15">
                  <c:v>ОТП БАНК</c:v>
                </c:pt>
                <c:pt idx="16">
                  <c:v>БИЛАЙН</c:v>
                </c:pt>
                <c:pt idx="17">
                  <c:v>ГПМ</c:v>
                </c:pt>
                <c:pt idx="18">
                  <c:v>СОВКОМБАНК</c:v>
                </c:pt>
                <c:pt idx="19">
                  <c:v>ОТС-pharm</c:v>
                </c:pt>
              </c:strCache>
            </c:strRef>
          </c:cat>
          <c:val>
            <c:numRef>
              <c:f>Sheet1!$C$2:$C$21</c:f>
              <c:numCache>
                <c:formatCode>#,##0</c:formatCode>
                <c:ptCount val="20"/>
                <c:pt idx="0">
                  <c:v>5692066288.3868074</c:v>
                </c:pt>
                <c:pt idx="1">
                  <c:v>4683389687.9189186</c:v>
                </c:pt>
                <c:pt idx="2">
                  <c:v>3229279727.6073909</c:v>
                </c:pt>
                <c:pt idx="3">
                  <c:v>3222051680.8177471</c:v>
                </c:pt>
                <c:pt idx="4">
                  <c:v>2023988052.3536417</c:v>
                </c:pt>
                <c:pt idx="5">
                  <c:v>1868268749.5218539</c:v>
                </c:pt>
                <c:pt idx="6">
                  <c:v>1898286864.7985384</c:v>
                </c:pt>
                <c:pt idx="7">
                  <c:v>1689290939.3893507</c:v>
                </c:pt>
                <c:pt idx="8">
                  <c:v>1700629932.846796</c:v>
                </c:pt>
                <c:pt idx="9">
                  <c:v>1258390393.306932</c:v>
                </c:pt>
                <c:pt idx="10">
                  <c:v>1554929206.7182088</c:v>
                </c:pt>
                <c:pt idx="11">
                  <c:v>1247582544.7685173</c:v>
                </c:pt>
                <c:pt idx="12">
                  <c:v>1096157769.6231275</c:v>
                </c:pt>
                <c:pt idx="13">
                  <c:v>1163896570.1500001</c:v>
                </c:pt>
                <c:pt idx="14">
                  <c:v>1146409257.6777811</c:v>
                </c:pt>
                <c:pt idx="15">
                  <c:v>1078794211.3880157</c:v>
                </c:pt>
                <c:pt idx="16">
                  <c:v>902212681.64600122</c:v>
                </c:pt>
                <c:pt idx="17">
                  <c:v>982663270.50249994</c:v>
                </c:pt>
                <c:pt idx="18">
                  <c:v>875748111.07293284</c:v>
                </c:pt>
                <c:pt idx="19">
                  <c:v>867920514.70162237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E3-4646-AE10-F5D379223E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800">
                <a:latin typeface="+mn-lt"/>
              </a:defRPr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8000000000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  <a:latin typeface="+mn-lt"/>
              </a:defRPr>
            </a:pPr>
            <a:endParaRPr lang="ru-RU"/>
          </a:p>
        </c:txPr>
        <c:crossAx val="398356624"/>
        <c:crosses val="autoZero"/>
        <c:crossBetween val="between"/>
        <c:dispUnits>
          <c:builtInUnit val="millions"/>
        </c:dispUnits>
      </c:valAx>
    </c:plotArea>
    <c:legend>
      <c:legendPos val="r"/>
      <c:layout>
        <c:manualLayout>
          <c:xMode val="edge"/>
          <c:yMode val="edge"/>
          <c:x val="0.39125599999999999"/>
          <c:y val="6.7489999999999998E-3"/>
          <c:w val="0.25554399999999999"/>
          <c:h val="0.23985600000000001"/>
        </c:manualLayout>
      </c:layout>
      <c:overlay val="0"/>
      <c:txPr>
        <a:bodyPr/>
        <a:lstStyle/>
        <a:p>
          <a:pPr>
            <a:defRPr sz="1200">
              <a:latin typeface="+mn-lt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ru-RU" sz="1200" b="1" dirty="0">
                <a:latin typeface="+mn-lt"/>
              </a:rPr>
              <a:t>Топ 20 брендов, </a:t>
            </a:r>
            <a:r>
              <a:rPr lang="en-GB" sz="1200" b="1" dirty="0">
                <a:latin typeface="+mn-lt"/>
              </a:rPr>
              <a:t>{</a:t>
            </a:r>
            <a:r>
              <a:rPr lang="en-GB" sz="1200" b="1" dirty="0" err="1">
                <a:latin typeface="+mn-lt"/>
              </a:rPr>
              <a:t>jan_current_mont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vs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jan_ly_month_mmo_rtg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(All 18+ TRP)</a:t>
            </a:r>
            <a:endParaRPr lang="ru-RU" sz="1200" b="1" i="0" u="none" strike="noStrike" kern="1200" baseline="0" dirty="0">
              <a:solidFill>
                <a:prstClr val="black"/>
              </a:solidFill>
              <a:latin typeface="+mn-lt"/>
              <a:ea typeface="5ka Sans Design"/>
              <a:cs typeface="5ka Sans Design"/>
            </a:endParaRPr>
          </a:p>
        </c:rich>
      </c:tx>
      <c:layout>
        <c:manualLayout>
          <c:xMode val="edge"/>
          <c:yMode val="edge"/>
          <c:x val="0.229216"/>
          <c:y val="7.7622999999999998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8059999999999994E-2"/>
          <c:y val="0.133963"/>
          <c:w val="0.87786799999999998"/>
          <c:h val="0.572023361912633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Янв-Мар'25</c:v>
                </c:pt>
              </c:strCache>
            </c:strRef>
          </c:tx>
          <c:spPr>
            <a:prstGeom prst="rect">
              <a:avLst/>
            </a:prstGeom>
            <a:solidFill>
              <a:sysClr val="window" lastClr="FFFFFF">
                <a:lumMod val="65000"/>
              </a:sysClr>
            </a:solidFill>
            <a:ln>
              <a:noFill/>
            </a:ln>
          </c:spPr>
          <c:invertIfNegative val="0"/>
          <c:cat>
            <c:strRef>
              <c:f>Sheet1!$A$2:$A$21</c:f>
              <c:strCache>
                <c:ptCount val="20"/>
                <c:pt idx="0">
                  <c:v>OZON</c:v>
                </c:pt>
                <c:pt idx="1">
                  <c:v>WB</c:v>
                </c:pt>
                <c:pt idx="2">
                  <c:v>АЛЬФА-БАНК</c:v>
                </c:pt>
                <c:pt idx="3">
                  <c:v>СБЕР</c:v>
                </c:pt>
                <c:pt idx="4">
                  <c:v>ВКУСНО - И ТОЧКА</c:v>
                </c:pt>
                <c:pt idx="5">
                  <c:v>AVITO</c:v>
                </c:pt>
                <c:pt idx="6">
                  <c:v>OZON БАНК</c:v>
                </c:pt>
                <c:pt idx="7">
                  <c:v>ВТБ</c:v>
                </c:pt>
                <c:pt idx="8">
                  <c:v>Т-БАНК</c:v>
                </c:pt>
                <c:pt idx="9">
                  <c:v>СОВКОМБАНК</c:v>
                </c:pt>
                <c:pt idx="10">
                  <c:v>МЕГАФОН</c:v>
                </c:pt>
                <c:pt idx="11">
                  <c:v>МАГНИТ</c:v>
                </c:pt>
                <c:pt idx="12">
                  <c:v>ЭВАЛАР</c:v>
                </c:pt>
                <c:pt idx="13">
                  <c:v>АПТЕКИ ПЛЮС</c:v>
                </c:pt>
                <c:pt idx="14">
                  <c:v>СБЕР БАНК</c:v>
                </c:pt>
                <c:pt idx="15">
                  <c:v>ПЯТЕРОЧКА</c:v>
                </c:pt>
                <c:pt idx="16">
                  <c:v>САМОКАТ </c:v>
                </c:pt>
                <c:pt idx="17">
                  <c:v>ROSTIC'S</c:v>
                </c:pt>
                <c:pt idx="18">
                  <c:v>СТОЛОТО</c:v>
                </c:pt>
                <c:pt idx="19">
                  <c:v>TELE2</c:v>
                </c:pt>
              </c:strCache>
            </c:strRef>
          </c:cat>
          <c:val>
            <c:numRef>
              <c:f>Sheet1!$B$2:$B$21</c:f>
              <c:numCache>
                <c:formatCode>_-* #\ ##0_-;\-* #\ ##0_-;_-* "-"??_-;_-@_-</c:formatCode>
                <c:ptCount val="20"/>
                <c:pt idx="0">
                  <c:v>41421.60653944467</c:v>
                </c:pt>
                <c:pt idx="1">
                  <c:v>17340.239348251798</c:v>
                </c:pt>
                <c:pt idx="2">
                  <c:v>25698.676398110172</c:v>
                </c:pt>
                <c:pt idx="3">
                  <c:v>12933.498756437639</c:v>
                </c:pt>
                <c:pt idx="4">
                  <c:v>29911.758814162982</c:v>
                </c:pt>
                <c:pt idx="5">
                  <c:v>18922.420763500406</c:v>
                </c:pt>
                <c:pt idx="6">
                  <c:v>6196.2286273204199</c:v>
                </c:pt>
                <c:pt idx="7">
                  <c:v>33897.452978442714</c:v>
                </c:pt>
                <c:pt idx="8">
                  <c:v>27073.706038434942</c:v>
                </c:pt>
                <c:pt idx="9">
                  <c:v>22238.298411473344</c:v>
                </c:pt>
                <c:pt idx="10">
                  <c:v>18302.813421636773</c:v>
                </c:pt>
                <c:pt idx="11">
                  <c:v>21931.511384687448</c:v>
                </c:pt>
                <c:pt idx="12">
                  <c:v>26746.009529458308</c:v>
                </c:pt>
                <c:pt idx="13">
                  <c:v>6221.5538906795955</c:v>
                </c:pt>
                <c:pt idx="14">
                  <c:v>25112.990709951944</c:v>
                </c:pt>
                <c:pt idx="15">
                  <c:v>12153.640621353974</c:v>
                </c:pt>
                <c:pt idx="16">
                  <c:v>3051.6971288662098</c:v>
                </c:pt>
                <c:pt idx="17">
                  <c:v>11284.383795939813</c:v>
                </c:pt>
                <c:pt idx="18">
                  <c:v>5917.6698461357391</c:v>
                </c:pt>
                <c:pt idx="19">
                  <c:v>7272.3362747439605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A5D-47A6-B7F9-BCFD72CCD45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Янв-Мар'26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5D-47A6-B7F9-BCFD72CCD455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AA5D-47A6-B7F9-BCFD72CCD455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5D-47A6-B7F9-BCFD72CCD455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AA5D-47A6-B7F9-BCFD72CCD455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5D-47A6-B7F9-BCFD72CCD455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AA5D-47A6-B7F9-BCFD72CCD455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5D-47A6-B7F9-BCFD72CCD455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AA5D-47A6-B7F9-BCFD72CCD455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AA5D-47A6-B7F9-BCFD72CCD455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AA5D-47A6-B7F9-BCFD72CCD455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AA5D-47A6-B7F9-BCFD72CCD455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AA5D-47A6-B7F9-BCFD72CCD455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AA5D-47A6-B7F9-BCFD72CCD455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AA5D-47A6-B7F9-BCFD72CCD455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AA5D-47A6-B7F9-BCFD72CCD455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AA5D-47A6-B7F9-BCFD72CCD455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AA5D-47A6-B7F9-BCFD72CCD455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AA5D-47A6-B7F9-BCFD72CCD455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AA5D-47A6-B7F9-BCFD72CCD455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AA5D-47A6-B7F9-BCFD72CCD455}"/>
              </c:ext>
            </c:extLst>
          </c:dPt>
          <c:cat>
            <c:strRef>
              <c:f>Sheet1!$A$2:$A$21</c:f>
              <c:strCache>
                <c:ptCount val="20"/>
                <c:pt idx="0">
                  <c:v>OZON</c:v>
                </c:pt>
                <c:pt idx="1">
                  <c:v>WB</c:v>
                </c:pt>
                <c:pt idx="2">
                  <c:v>АЛЬФА-БАНК</c:v>
                </c:pt>
                <c:pt idx="3">
                  <c:v>СБЕР</c:v>
                </c:pt>
                <c:pt idx="4">
                  <c:v>ВКУСНО - И ТОЧКА</c:v>
                </c:pt>
                <c:pt idx="5">
                  <c:v>AVITO</c:v>
                </c:pt>
                <c:pt idx="6">
                  <c:v>OZON БАНК</c:v>
                </c:pt>
                <c:pt idx="7">
                  <c:v>ВТБ</c:v>
                </c:pt>
                <c:pt idx="8">
                  <c:v>Т-БАНК</c:v>
                </c:pt>
                <c:pt idx="9">
                  <c:v>СОВКОМБАНК</c:v>
                </c:pt>
                <c:pt idx="10">
                  <c:v>МЕГАФОН</c:v>
                </c:pt>
                <c:pt idx="11">
                  <c:v>МАГНИТ</c:v>
                </c:pt>
                <c:pt idx="12">
                  <c:v>ЭВАЛАР</c:v>
                </c:pt>
                <c:pt idx="13">
                  <c:v>АПТЕКИ ПЛЮС</c:v>
                </c:pt>
                <c:pt idx="14">
                  <c:v>СБЕР БАНК</c:v>
                </c:pt>
                <c:pt idx="15">
                  <c:v>ПЯТЕРОЧКА</c:v>
                </c:pt>
                <c:pt idx="16">
                  <c:v>САМОКАТ </c:v>
                </c:pt>
                <c:pt idx="17">
                  <c:v>ROSTIC'S</c:v>
                </c:pt>
                <c:pt idx="18">
                  <c:v>СТОЛОТО</c:v>
                </c:pt>
                <c:pt idx="19">
                  <c:v>TELE2</c:v>
                </c:pt>
              </c:strCache>
            </c:strRef>
          </c:cat>
          <c:val>
            <c:numRef>
              <c:f>Sheet1!$C$2:$C$21</c:f>
              <c:numCache>
                <c:formatCode>_-* #\ ##0_-;\-* #\ ##0_-;_-* "-"??_-;_-@_-</c:formatCode>
                <c:ptCount val="20"/>
                <c:pt idx="0">
                  <c:v>40613.37434407352</c:v>
                </c:pt>
                <c:pt idx="1">
                  <c:v>37613.269754924317</c:v>
                </c:pt>
                <c:pt idx="2">
                  <c:v>34361.31309151162</c:v>
                </c:pt>
                <c:pt idx="3">
                  <c:v>28703.759724008749</c:v>
                </c:pt>
                <c:pt idx="4">
                  <c:v>27671.041158201187</c:v>
                </c:pt>
                <c:pt idx="5">
                  <c:v>25458.082154723324</c:v>
                </c:pt>
                <c:pt idx="6">
                  <c:v>24040.285032770746</c:v>
                </c:pt>
                <c:pt idx="7">
                  <c:v>20614.131634300909</c:v>
                </c:pt>
                <c:pt idx="8">
                  <c:v>19859.053774761327</c:v>
                </c:pt>
                <c:pt idx="9">
                  <c:v>17951.783652800055</c:v>
                </c:pt>
                <c:pt idx="10">
                  <c:v>17446.825315926922</c:v>
                </c:pt>
                <c:pt idx="11">
                  <c:v>17381.788429156237</c:v>
                </c:pt>
                <c:pt idx="12">
                  <c:v>16309.530433803968</c:v>
                </c:pt>
                <c:pt idx="13">
                  <c:v>13779.207669585998</c:v>
                </c:pt>
                <c:pt idx="14">
                  <c:v>13750.335609819285</c:v>
                </c:pt>
                <c:pt idx="15">
                  <c:v>11318.425992816958</c:v>
                </c:pt>
                <c:pt idx="16">
                  <c:v>11191.303021116399</c:v>
                </c:pt>
                <c:pt idx="17">
                  <c:v>9888.6585211473466</c:v>
                </c:pt>
                <c:pt idx="18">
                  <c:v>9877.619221612993</c:v>
                </c:pt>
                <c:pt idx="19">
                  <c:v>8829.7268928901649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AA5D-47A6-B7F9-BCFD72CCD4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800">
                <a:latin typeface="+mn-lt"/>
              </a:defRPr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+mn-lt"/>
              </a:defRPr>
            </a:pPr>
            <a:endParaRPr lang="ru-RU"/>
          </a:p>
        </c:txPr>
        <c:crossAx val="39835662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2.9224712201638078E-2"/>
          <c:y val="0.87193060125733168"/>
          <c:w val="0.23238800000000001"/>
          <c:h val="0.118603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Топ 20 брендов,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jan_current_month_mmo_rtg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vs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jan_ly_month_mmo_rtg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 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(Stand. All 18+ TRP)</a:t>
            </a:r>
            <a:endParaRPr lang="ru-RU" sz="1200" b="1" i="0" u="none" strike="noStrike" kern="1200" baseline="0" dirty="0">
              <a:solidFill>
                <a:prstClr val="black"/>
              </a:solidFill>
              <a:latin typeface="+mn-lt"/>
              <a:ea typeface="5ka Sans Design"/>
              <a:cs typeface="5ka Sans Design"/>
            </a:endParaRPr>
          </a:p>
        </c:rich>
      </c:tx>
      <c:layout>
        <c:manualLayout>
          <c:xMode val="edge"/>
          <c:yMode val="edge"/>
          <c:x val="0.23713793595466687"/>
          <c:y val="6.9359986585182568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8059999999999994E-2"/>
          <c:y val="0.162221"/>
          <c:w val="0.87786799999999998"/>
          <c:h val="0.4999092800721389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Янв-Март’25</c:v>
                </c:pt>
              </c:strCache>
            </c:strRef>
          </c:tx>
          <c:spPr>
            <a:prstGeom prst="rect">
              <a:avLst/>
            </a:prstGeom>
            <a:solidFill>
              <a:sysClr val="window" lastClr="FFFFFF">
                <a:lumMod val="65000"/>
              </a:sysClr>
            </a:solidFill>
            <a:ln>
              <a:noFill/>
            </a:ln>
          </c:spPr>
          <c:invertIfNegative val="0"/>
          <c:cat>
            <c:strRef>
              <c:f>Sheet1!$A$2:$A$23</c:f>
              <c:strCache>
                <c:ptCount val="22"/>
                <c:pt idx="0">
                  <c:v>OZON</c:v>
                </c:pt>
                <c:pt idx="1">
                  <c:v>АЛЬФА-БАНК</c:v>
                </c:pt>
                <c:pt idx="2">
                  <c:v>СБЕР</c:v>
                </c:pt>
                <c:pt idx="3">
                  <c:v>ВТБ</c:v>
                </c:pt>
                <c:pt idx="4">
                  <c:v>Т-БАНК</c:v>
                </c:pt>
                <c:pt idx="5">
                  <c:v>МЕГАФОН</c:v>
                </c:pt>
                <c:pt idx="6">
                  <c:v>WB</c:v>
                </c:pt>
                <c:pt idx="7">
                  <c:v>AVITO</c:v>
                </c:pt>
                <c:pt idx="8">
                  <c:v>OZON БАНК</c:v>
                </c:pt>
                <c:pt idx="9">
                  <c:v>ВКУСНО - И ТОЧКА</c:v>
                </c:pt>
                <c:pt idx="10">
                  <c:v>LEOMAX</c:v>
                </c:pt>
                <c:pt idx="11">
                  <c:v>СОВКОМБАНК</c:v>
                </c:pt>
                <c:pt idx="12">
                  <c:v>СБЕР БАНК</c:v>
                </c:pt>
                <c:pt idx="13">
                  <c:v>МТС</c:v>
                </c:pt>
                <c:pt idx="14">
                  <c:v>ЭВАЛАР</c:v>
                </c:pt>
                <c:pt idx="15">
                  <c:v>МАГНИТ</c:v>
                </c:pt>
                <c:pt idx="16">
                  <c:v>САМОКАТ</c:v>
                </c:pt>
                <c:pt idx="17">
                  <c:v>МОЙ МИР</c:v>
                </c:pt>
                <c:pt idx="18">
                  <c:v>TELE2</c:v>
                </c:pt>
                <c:pt idx="19">
                  <c:v>БИЛАЙН</c:v>
                </c:pt>
                <c:pt idx="20">
                  <c:v>ПЕРЕКРЕСТОК</c:v>
                </c:pt>
                <c:pt idx="21">
                  <c:v> ЧИЖИК </c:v>
                </c:pt>
              </c:strCache>
            </c:strRef>
          </c:cat>
          <c:val>
            <c:numRef>
              <c:f>Sheet1!$B$2:$B$23</c:f>
              <c:numCache>
                <c:formatCode>_-* #\ ##0_-;\-* #\ ##0_-;_-* "-"??_-;_-@_-</c:formatCode>
                <c:ptCount val="22"/>
                <c:pt idx="0">
                  <c:v>29451.134188284355</c:v>
                </c:pt>
                <c:pt idx="1">
                  <c:v>24013.332829427272</c:v>
                </c:pt>
                <c:pt idx="2">
                  <c:v>11605.209444916622</c:v>
                </c:pt>
                <c:pt idx="3">
                  <c:v>37884.871526828021</c:v>
                </c:pt>
                <c:pt idx="4">
                  <c:v>33381.21919919418</c:v>
                </c:pt>
                <c:pt idx="5">
                  <c:v>17110.464455989833</c:v>
                </c:pt>
                <c:pt idx="6">
                  <c:v>13248.590133462594</c:v>
                </c:pt>
                <c:pt idx="7">
                  <c:v>14353.577303054095</c:v>
                </c:pt>
                <c:pt idx="8">
                  <c:v>5794.5835288963617</c:v>
                </c:pt>
                <c:pt idx="9">
                  <c:v>19422.618540971664</c:v>
                </c:pt>
                <c:pt idx="10">
                  <c:v>35250.130305964864</c:v>
                </c:pt>
                <c:pt idx="11">
                  <c:v>18129.841777188489</c:v>
                </c:pt>
                <c:pt idx="12">
                  <c:v>24774.328378265105</c:v>
                </c:pt>
                <c:pt idx="13">
                  <c:v>12108.931783510518</c:v>
                </c:pt>
                <c:pt idx="14">
                  <c:v>15888.054505508988</c:v>
                </c:pt>
                <c:pt idx="15">
                  <c:v>11360.73018373637</c:v>
                </c:pt>
                <c:pt idx="16">
                  <c:v>3050.616834359249</c:v>
                </c:pt>
                <c:pt idx="17">
                  <c:v>16549.755096077828</c:v>
                </c:pt>
                <c:pt idx="18">
                  <c:v>7367.6562072764009</c:v>
                </c:pt>
                <c:pt idx="19">
                  <c:v>8232.7333069504821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A6-46BC-B6AE-0804CF44531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Янв-Март’26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FAA6-46BC-B6AE-0804CF44531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FAA6-46BC-B6AE-0804CF44531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FAA6-46BC-B6AE-0804CF445311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FAA6-46BC-B6AE-0804CF445311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FAA6-46BC-B6AE-0804CF445311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FAA6-46BC-B6AE-0804CF445311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FAA6-46BC-B6AE-0804CF445311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FAA6-46BC-B6AE-0804CF445311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FAA6-46BC-B6AE-0804CF445311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FAA6-46BC-B6AE-0804CF445311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FAA6-46BC-B6AE-0804CF445311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FAA6-46BC-B6AE-0804CF445311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FAA6-46BC-B6AE-0804CF445311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FAA6-46BC-B6AE-0804CF445311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FAA6-46BC-B6AE-0804CF445311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FAA6-46BC-B6AE-0804CF445311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FAA6-46BC-B6AE-0804CF445311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FAA6-46BC-B6AE-0804CF445311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FAA6-46BC-B6AE-0804CF445311}"/>
              </c:ext>
            </c:extLst>
          </c:dPt>
          <c:cat>
            <c:strRef>
              <c:f>Sheet1!$A$2:$A$23</c:f>
              <c:strCache>
                <c:ptCount val="22"/>
                <c:pt idx="0">
                  <c:v>OZON</c:v>
                </c:pt>
                <c:pt idx="1">
                  <c:v>АЛЬФА-БАНК</c:v>
                </c:pt>
                <c:pt idx="2">
                  <c:v>СБЕР</c:v>
                </c:pt>
                <c:pt idx="3">
                  <c:v>ВТБ</c:v>
                </c:pt>
                <c:pt idx="4">
                  <c:v>Т-БАНК</c:v>
                </c:pt>
                <c:pt idx="5">
                  <c:v>МЕГАФОН</c:v>
                </c:pt>
                <c:pt idx="6">
                  <c:v>WB</c:v>
                </c:pt>
                <c:pt idx="7">
                  <c:v>AVITO</c:v>
                </c:pt>
                <c:pt idx="8">
                  <c:v>OZON БАНК</c:v>
                </c:pt>
                <c:pt idx="9">
                  <c:v>ВКУСНО - И ТОЧКА</c:v>
                </c:pt>
                <c:pt idx="10">
                  <c:v>LEOMAX</c:v>
                </c:pt>
                <c:pt idx="11">
                  <c:v>СОВКОМБАНК</c:v>
                </c:pt>
                <c:pt idx="12">
                  <c:v>СБЕР БАНК</c:v>
                </c:pt>
                <c:pt idx="13">
                  <c:v>МТС</c:v>
                </c:pt>
                <c:pt idx="14">
                  <c:v>ЭВАЛАР</c:v>
                </c:pt>
                <c:pt idx="15">
                  <c:v>МАГНИТ</c:v>
                </c:pt>
                <c:pt idx="16">
                  <c:v>САМОКАТ</c:v>
                </c:pt>
                <c:pt idx="17">
                  <c:v>МОЙ МИР</c:v>
                </c:pt>
                <c:pt idx="18">
                  <c:v>TELE2</c:v>
                </c:pt>
                <c:pt idx="19">
                  <c:v>БИЛАЙН</c:v>
                </c:pt>
                <c:pt idx="20">
                  <c:v>ПЕРЕКРЕСТОК</c:v>
                </c:pt>
                <c:pt idx="21">
                  <c:v> ЧИЖИК </c:v>
                </c:pt>
              </c:strCache>
            </c:strRef>
          </c:cat>
          <c:val>
            <c:numRef>
              <c:f>Sheet1!$C$2:$C$23</c:f>
              <c:numCache>
                <c:formatCode>_-* #\ ##0_-;\-* #\ ##0_-;_-* "-"??_-;_-@_-</c:formatCode>
                <c:ptCount val="22"/>
                <c:pt idx="0">
                  <c:v>31287.356592913973</c:v>
                </c:pt>
                <c:pt idx="1">
                  <c:v>30946.500657692017</c:v>
                </c:pt>
                <c:pt idx="2">
                  <c:v>25857.012835295023</c:v>
                </c:pt>
                <c:pt idx="3">
                  <c:v>25265.475561334959</c:v>
                </c:pt>
                <c:pt idx="4">
                  <c:v>24780.995297573114</c:v>
                </c:pt>
                <c:pt idx="5">
                  <c:v>23516.837737864695</c:v>
                </c:pt>
                <c:pt idx="6">
                  <c:v>23354.841064111482</c:v>
                </c:pt>
                <c:pt idx="7">
                  <c:v>19654.198536466312</c:v>
                </c:pt>
                <c:pt idx="8">
                  <c:v>19486.53925303337</c:v>
                </c:pt>
                <c:pt idx="9">
                  <c:v>18943.778635193437</c:v>
                </c:pt>
                <c:pt idx="10">
                  <c:v>18895.627761634503</c:v>
                </c:pt>
                <c:pt idx="11">
                  <c:v>18801.555685563351</c:v>
                </c:pt>
                <c:pt idx="12">
                  <c:v>17601.363423393737</c:v>
                </c:pt>
                <c:pt idx="13">
                  <c:v>12167.939131003935</c:v>
                </c:pt>
                <c:pt idx="14">
                  <c:v>10349.511402513705</c:v>
                </c:pt>
                <c:pt idx="15">
                  <c:v>9860.3438294133339</c:v>
                </c:pt>
                <c:pt idx="16">
                  <c:v>9538.7887090671356</c:v>
                </c:pt>
                <c:pt idx="17">
                  <c:v>9119.641278501229</c:v>
                </c:pt>
                <c:pt idx="18">
                  <c:v>8988.2251056690093</c:v>
                </c:pt>
                <c:pt idx="19">
                  <c:v>8821.7535147022118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FAA6-46BC-B6AE-0804CF4453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9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45000"/>
          <c:min val="0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98356624"/>
        <c:crosses val="autoZero"/>
        <c:crossBetween val="between"/>
      </c:valAx>
      <c:spPr>
        <a:prstGeom prst="rect">
          <a:avLst/>
        </a:prstGeom>
        <a:noFill/>
        <a:ln w="25400">
          <a:noFill/>
          <a:miter/>
        </a:ln>
      </c:spPr>
    </c:plotArea>
    <c:legend>
      <c:legendPos val="r"/>
      <c:layout>
        <c:manualLayout>
          <c:xMode val="edge"/>
          <c:yMode val="edge"/>
          <c:x val="1.358E-2"/>
          <c:y val="0.87639299999999998"/>
          <c:w val="0.42587199999999997"/>
          <c:h val="7.3386999999999994E-2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  <c:userShapes r:id="rId2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Топ 20 брендов,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cur_month_mmo_rtg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vs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ly_month_mmo_rtg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(All 18+ TRP)</a:t>
            </a:r>
            <a:endParaRPr lang="ru-RU" sz="1200" b="1" i="0" u="none" strike="noStrike" kern="1200" baseline="0" dirty="0">
              <a:solidFill>
                <a:prstClr val="black"/>
              </a:solidFill>
              <a:latin typeface="+mn-lt"/>
              <a:ea typeface="5ka Sans Design"/>
              <a:cs typeface="5ka Sans Design"/>
            </a:endParaRPr>
          </a:p>
        </c:rich>
      </c:tx>
      <c:layout>
        <c:manualLayout>
          <c:xMode val="edge"/>
          <c:yMode val="edge"/>
          <c:x val="0.229216"/>
          <c:y val="7.7622999999999998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8059999999999994E-2"/>
          <c:y val="0.133963"/>
          <c:w val="0.87786799999999998"/>
          <c:h val="0.5616736116614792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мар.25</c:v>
                </c:pt>
              </c:strCache>
            </c:strRef>
          </c:tx>
          <c:spPr>
            <a:prstGeom prst="rect">
              <a:avLst/>
            </a:prstGeom>
            <a:solidFill>
              <a:sysClr val="window" lastClr="FFFFFF">
                <a:lumMod val="65000"/>
              </a:sysClr>
            </a:solidFill>
            <a:ln>
              <a:noFill/>
            </a:ln>
          </c:spPr>
          <c:invertIfNegative val="0"/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АЛЬФА-БАНК</c:v>
                </c:pt>
                <c:pt idx="2">
                  <c:v>OZON</c:v>
                </c:pt>
                <c:pt idx="3">
                  <c:v>AVITO</c:v>
                </c:pt>
                <c:pt idx="4">
                  <c:v>ВТБ</c:v>
                </c:pt>
                <c:pt idx="5">
                  <c:v>СБЕР</c:v>
                </c:pt>
                <c:pt idx="6">
                  <c:v>ВКУСНО - И ТОЧКА</c:v>
                </c:pt>
                <c:pt idx="7">
                  <c:v>Т-БАНК</c:v>
                </c:pt>
                <c:pt idx="8">
                  <c:v>ЭВАЛАР</c:v>
                </c:pt>
                <c:pt idx="9">
                  <c:v>OZON БАНК</c:v>
                </c:pt>
                <c:pt idx="10">
                  <c:v>СОВКОМБАНК</c:v>
                </c:pt>
                <c:pt idx="11">
                  <c:v>МАГНИТ</c:v>
                </c:pt>
                <c:pt idx="12">
                  <c:v>СБЕР БАНК</c:v>
                </c:pt>
                <c:pt idx="13">
                  <c:v>МЕГАФОН</c:v>
                </c:pt>
                <c:pt idx="14">
                  <c:v>КУПЕР</c:v>
                </c:pt>
                <c:pt idx="15">
                  <c:v>ПЯТЕРОЧКА</c:v>
                </c:pt>
                <c:pt idx="16">
                  <c:v>ROSTIC'S</c:v>
                </c:pt>
                <c:pt idx="17">
                  <c:v>T2</c:v>
                </c:pt>
                <c:pt idx="18">
                  <c:v>АПТЕКИ ПЛЮС</c:v>
                </c:pt>
                <c:pt idx="19">
                  <c:v>ПОЧТА РОССИИ</c:v>
                </c:pt>
              </c:strCache>
            </c:strRef>
          </c:cat>
          <c:val>
            <c:numRef>
              <c:f>Sheet1!$B$2:$B$21</c:f>
              <c:numCache>
                <c:formatCode>_-* #\ ##0_-;\-* #\ ##0_-;_-* "-"??_-;_-@_-</c:formatCode>
                <c:ptCount val="20"/>
                <c:pt idx="0">
                  <c:v>5021.7424001185063</c:v>
                </c:pt>
                <c:pt idx="1">
                  <c:v>8024.7864869666382</c:v>
                </c:pt>
                <c:pt idx="2">
                  <c:v>12017.01122936229</c:v>
                </c:pt>
                <c:pt idx="3">
                  <c:v>5623.3911527221244</c:v>
                </c:pt>
                <c:pt idx="4">
                  <c:v>14754.441112883231</c:v>
                </c:pt>
                <c:pt idx="5">
                  <c:v>6368.2549101486993</c:v>
                </c:pt>
                <c:pt idx="6">
                  <c:v>9464.4789827122513</c:v>
                </c:pt>
                <c:pt idx="7">
                  <c:v>10068.353304125339</c:v>
                </c:pt>
                <c:pt idx="8">
                  <c:v>11363.55749602198</c:v>
                </c:pt>
                <c:pt idx="9">
                  <c:v>3.0394309197046478</c:v>
                </c:pt>
                <c:pt idx="10">
                  <c:v>6730.7563366935174</c:v>
                </c:pt>
                <c:pt idx="11">
                  <c:v>9547.0832844947654</c:v>
                </c:pt>
                <c:pt idx="12">
                  <c:v>12219.24615342058</c:v>
                </c:pt>
                <c:pt idx="13">
                  <c:v>5401.382396902648</c:v>
                </c:pt>
                <c:pt idx="14">
                  <c:v>1264.4580708479821</c:v>
                </c:pt>
                <c:pt idx="15">
                  <c:v>5463.073757900881</c:v>
                </c:pt>
                <c:pt idx="16">
                  <c:v>3470.6401336865129</c:v>
                </c:pt>
                <c:pt idx="17">
                  <c:v>3015.0029590186741</c:v>
                </c:pt>
                <c:pt idx="18">
                  <c:v>2601.3689629374298</c:v>
                </c:pt>
                <c:pt idx="19">
                  <c:v>4.9861788760838506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90F-4DB6-BE4C-AA284950337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мар.26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890F-4DB6-BE4C-AA284950337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890F-4DB6-BE4C-AA284950337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890F-4DB6-BE4C-AA2849503371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890F-4DB6-BE4C-AA2849503371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890F-4DB6-BE4C-AA2849503371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890F-4DB6-BE4C-AA2849503371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890F-4DB6-BE4C-AA2849503371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890F-4DB6-BE4C-AA2849503371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890F-4DB6-BE4C-AA2849503371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890F-4DB6-BE4C-AA2849503371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890F-4DB6-BE4C-AA2849503371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890F-4DB6-BE4C-AA2849503371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890F-4DB6-BE4C-AA2849503371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890F-4DB6-BE4C-AA2849503371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890F-4DB6-BE4C-AA2849503371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890F-4DB6-BE4C-AA2849503371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890F-4DB6-BE4C-AA2849503371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890F-4DB6-BE4C-AA2849503371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890F-4DB6-BE4C-AA2849503371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890F-4DB6-BE4C-AA2849503371}"/>
              </c:ext>
            </c:extLst>
          </c:dPt>
          <c:cat>
            <c:strRef>
              <c:f>Sheet1!$A$2:$A$21</c:f>
              <c:strCache>
                <c:ptCount val="20"/>
                <c:pt idx="0">
                  <c:v>WB</c:v>
                </c:pt>
                <c:pt idx="1">
                  <c:v>АЛЬФА-БАНК</c:v>
                </c:pt>
                <c:pt idx="2">
                  <c:v>OZON</c:v>
                </c:pt>
                <c:pt idx="3">
                  <c:v>AVITO</c:v>
                </c:pt>
                <c:pt idx="4">
                  <c:v>ВТБ</c:v>
                </c:pt>
                <c:pt idx="5">
                  <c:v>СБЕР</c:v>
                </c:pt>
                <c:pt idx="6">
                  <c:v>ВКУСНО - И ТОЧКА</c:v>
                </c:pt>
                <c:pt idx="7">
                  <c:v>Т-БАНК</c:v>
                </c:pt>
                <c:pt idx="8">
                  <c:v>ЭВАЛАР</c:v>
                </c:pt>
                <c:pt idx="9">
                  <c:v>OZON БАНК</c:v>
                </c:pt>
                <c:pt idx="10">
                  <c:v>СОВКОМБАНК</c:v>
                </c:pt>
                <c:pt idx="11">
                  <c:v>МАГНИТ</c:v>
                </c:pt>
                <c:pt idx="12">
                  <c:v>СБЕР БАНК</c:v>
                </c:pt>
                <c:pt idx="13">
                  <c:v>МЕГАФОН</c:v>
                </c:pt>
                <c:pt idx="14">
                  <c:v>КУПЕР</c:v>
                </c:pt>
                <c:pt idx="15">
                  <c:v>ПЯТЕРОЧКА</c:v>
                </c:pt>
                <c:pt idx="16">
                  <c:v>ROSTIC'S</c:v>
                </c:pt>
                <c:pt idx="17">
                  <c:v>T2</c:v>
                </c:pt>
                <c:pt idx="18">
                  <c:v>АПТЕКИ ПЛЮС</c:v>
                </c:pt>
                <c:pt idx="19">
                  <c:v>ПОЧТА РОССИИ</c:v>
                </c:pt>
              </c:strCache>
            </c:strRef>
          </c:cat>
          <c:val>
            <c:numRef>
              <c:f>Sheet1!$C$2:$C$21</c:f>
              <c:numCache>
                <c:formatCode>_-* #\ ##0_-;\-* #\ ##0_-;_-* "-"??_-;_-@_-</c:formatCode>
                <c:ptCount val="20"/>
                <c:pt idx="0">
                  <c:v>13625.557996</c:v>
                </c:pt>
                <c:pt idx="1">
                  <c:v>13226.585880000001</c:v>
                </c:pt>
                <c:pt idx="2">
                  <c:v>12362.167880999999</c:v>
                </c:pt>
                <c:pt idx="3">
                  <c:v>11372.618871000001</c:v>
                </c:pt>
                <c:pt idx="4">
                  <c:v>11074.010888000001</c:v>
                </c:pt>
                <c:pt idx="5">
                  <c:v>9966.8372770000005</c:v>
                </c:pt>
                <c:pt idx="6">
                  <c:v>9504.4396280000001</c:v>
                </c:pt>
                <c:pt idx="7">
                  <c:v>8523.4246299999995</c:v>
                </c:pt>
                <c:pt idx="8">
                  <c:v>7764.4755910000003</c:v>
                </c:pt>
                <c:pt idx="9">
                  <c:v>6664.2246720000003</c:v>
                </c:pt>
                <c:pt idx="10">
                  <c:v>6450.7147619999996</c:v>
                </c:pt>
                <c:pt idx="11">
                  <c:v>5718.17184</c:v>
                </c:pt>
                <c:pt idx="12">
                  <c:v>5500.0212879999999</c:v>
                </c:pt>
                <c:pt idx="13">
                  <c:v>4490.6528079999998</c:v>
                </c:pt>
                <c:pt idx="14">
                  <c:v>4053.7269769999998</c:v>
                </c:pt>
                <c:pt idx="15">
                  <c:v>3914.606675</c:v>
                </c:pt>
                <c:pt idx="16">
                  <c:v>3735.2553630000002</c:v>
                </c:pt>
                <c:pt idx="17">
                  <c:v>3695.492229</c:v>
                </c:pt>
                <c:pt idx="18">
                  <c:v>3628.8675779999999</c:v>
                </c:pt>
                <c:pt idx="19">
                  <c:v>3475.2273949999999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890F-4DB6-BE4C-AA28495033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9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9835662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3.3952000000000003E-2"/>
          <c:y val="0.856406"/>
          <c:w val="0.23238800000000001"/>
          <c:h val="0.118603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  <c:userShapes r:id="rId2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920" b="1" i="0" u="none" strike="noStrike" kern="1200" baseline="0">
                <a:solidFill>
                  <a:prstClr val="black"/>
                </a:solidFill>
                <a:latin typeface="5ka Sans Design"/>
                <a:ea typeface="5ka Sans Design"/>
                <a:cs typeface="5ka Sans Design"/>
              </a:defRPr>
            </a:pP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Топ 20 брендов,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cur_month_mmo_rtg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vs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ly_month_mmo_rtg</a:t>
            </a:r>
            <a:r>
              <a:rPr lang="en-GB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en-US" sz="1200" b="1" i="0" u="none" strike="noStrike" kern="1200" baseline="0" dirty="0">
                <a:solidFill>
                  <a:prstClr val="black"/>
                </a:solidFill>
                <a:latin typeface="+mn-lt"/>
                <a:ea typeface="5ka Sans Design"/>
                <a:cs typeface="5ka Sans Design"/>
              </a:rPr>
              <a:t> (Stand. All 18+ TRP)</a:t>
            </a:r>
            <a:endParaRPr lang="ru-RU" sz="1200" b="1" i="0" u="none" strike="noStrike" kern="1200" baseline="0" dirty="0">
              <a:solidFill>
                <a:prstClr val="black"/>
              </a:solidFill>
              <a:latin typeface="+mn-lt"/>
              <a:ea typeface="5ka Sans Design"/>
              <a:cs typeface="5ka Sans Design"/>
            </a:endParaRPr>
          </a:p>
        </c:rich>
      </c:tx>
      <c:layout>
        <c:manualLayout>
          <c:xMode val="edge"/>
          <c:yMode val="edge"/>
          <c:x val="0.20200199999999999"/>
          <c:y val="1.0599000000000001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7514"/>
          <c:y val="0.10216500000000001"/>
          <c:w val="0.87786799999999998"/>
          <c:h val="0.583246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мар.25</c:v>
                </c:pt>
              </c:strCache>
            </c:strRef>
          </c:tx>
          <c:spPr>
            <a:prstGeom prst="rect">
              <a:avLst/>
            </a:prstGeom>
            <a:solidFill>
              <a:sysClr val="window" lastClr="FFFFFF">
                <a:lumMod val="65000"/>
              </a:sysClr>
            </a:solidFill>
            <a:ln>
              <a:noFill/>
            </a:ln>
          </c:spPr>
          <c:invertIfNegative val="0"/>
          <c:cat>
            <c:strRef>
              <c:f>Sheet1!$A$2:$A$22</c:f>
              <c:strCache>
                <c:ptCount val="21"/>
                <c:pt idx="0">
                  <c:v>АЛЬФА-БАНК</c:v>
                </c:pt>
                <c:pt idx="1">
                  <c:v>ВТБ</c:v>
                </c:pt>
                <c:pt idx="2">
                  <c:v>WB</c:v>
                </c:pt>
                <c:pt idx="3">
                  <c:v>Т-БАНК</c:v>
                </c:pt>
                <c:pt idx="4">
                  <c:v>OZON</c:v>
                </c:pt>
                <c:pt idx="5">
                  <c:v>СБЕР</c:v>
                </c:pt>
                <c:pt idx="6">
                  <c:v>AVITO</c:v>
                </c:pt>
                <c:pt idx="7">
                  <c:v>ВКУСНО - И ТОЧКА</c:v>
                </c:pt>
                <c:pt idx="8">
                  <c:v>СОВКОМБАНК</c:v>
                </c:pt>
                <c:pt idx="9">
                  <c:v>МТС</c:v>
                </c:pt>
                <c:pt idx="10">
                  <c:v>ЭВАЛАР</c:v>
                </c:pt>
                <c:pt idx="11">
                  <c:v>СБЕР БАНК</c:v>
                </c:pt>
                <c:pt idx="12">
                  <c:v>LEOMAX</c:v>
                </c:pt>
                <c:pt idx="13">
                  <c:v>OZON БАНК</c:v>
                </c:pt>
                <c:pt idx="14">
                  <c:v>МЕГАФОН</c:v>
                </c:pt>
                <c:pt idx="15">
                  <c:v>КУПЕР</c:v>
                </c:pt>
                <c:pt idx="16">
                  <c:v>ПОЧТА РОССИИ</c:v>
                </c:pt>
                <c:pt idx="17">
                  <c:v>Т-АВТО</c:v>
                </c:pt>
                <c:pt idx="18">
                  <c:v>МАГНИТ</c:v>
                </c:pt>
                <c:pt idx="19">
                  <c:v>TELE2</c:v>
                </c:pt>
                <c:pt idx="20">
                  <c:v>БИЛАЙН</c:v>
                </c:pt>
              </c:strCache>
            </c:strRef>
          </c:cat>
          <c:val>
            <c:numRef>
              <c:f>Sheet1!$B$2:$B$22</c:f>
              <c:numCache>
                <c:formatCode>_-* #\ ##0_-;\-* #\ ##0_-;_-* "-"??_-;_-@_-</c:formatCode>
                <c:ptCount val="21"/>
                <c:pt idx="0">
                  <c:v>7447.0197031245252</c:v>
                </c:pt>
                <c:pt idx="1">
                  <c:v>14280.62223375913</c:v>
                </c:pt>
                <c:pt idx="2">
                  <c:v>3612.336169033284</c:v>
                </c:pt>
                <c:pt idx="3">
                  <c:v>12118.01039765968</c:v>
                </c:pt>
                <c:pt idx="4">
                  <c:v>8249.9993003689651</c:v>
                </c:pt>
                <c:pt idx="5">
                  <c:v>6092.4792995727348</c:v>
                </c:pt>
                <c:pt idx="6">
                  <c:v>3893.3478785128059</c:v>
                </c:pt>
                <c:pt idx="7">
                  <c:v>6759.8854666093748</c:v>
                </c:pt>
                <c:pt idx="8">
                  <c:v>5065.8025851759603</c:v>
                </c:pt>
                <c:pt idx="9">
                  <c:v>5628.8212842868388</c:v>
                </c:pt>
                <c:pt idx="10">
                  <c:v>6985.9556055651638</c:v>
                </c:pt>
                <c:pt idx="11">
                  <c:v>11460.23998846322</c:v>
                </c:pt>
                <c:pt idx="12">
                  <c:v>11249.661909743991</c:v>
                </c:pt>
                <c:pt idx="13">
                  <c:v>8.6588629368517262E-3</c:v>
                </c:pt>
                <c:pt idx="14">
                  <c:v>4286.0325742958576</c:v>
                </c:pt>
                <c:pt idx="15">
                  <c:v>952.25293484558449</c:v>
                </c:pt>
                <c:pt idx="16">
                  <c:v>0</c:v>
                </c:pt>
                <c:pt idx="18">
                  <c:v>4762.1924501160747</c:v>
                </c:pt>
                <c:pt idx="19" formatCode="General">
                  <c:v>2793.7664821392491</c:v>
                </c:pt>
                <c:pt idx="20">
                  <c:v>3070.8171362959638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A52-4EAB-A69C-D11339726FF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мар.26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8A52-4EAB-A69C-D11339726FF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8A52-4EAB-A69C-D11339726FF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8A52-4EAB-A69C-D11339726FF1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8A52-4EAB-A69C-D11339726FF1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8A52-4EAB-A69C-D11339726FF1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8A52-4EAB-A69C-D11339726FF1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8A52-4EAB-A69C-D11339726FF1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8A52-4EAB-A69C-D11339726FF1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8A52-4EAB-A69C-D11339726FF1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8A52-4EAB-A69C-D11339726FF1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8A52-4EAB-A69C-D11339726FF1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8A52-4EAB-A69C-D11339726FF1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8A52-4EAB-A69C-D11339726FF1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8A52-4EAB-A69C-D11339726FF1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8A52-4EAB-A69C-D11339726FF1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8A52-4EAB-A69C-D11339726FF1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8A52-4EAB-A69C-D11339726FF1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8A52-4EAB-A69C-D11339726FF1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8A52-4EAB-A69C-D11339726FF1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8A52-4EAB-A69C-D11339726FF1}"/>
              </c:ext>
            </c:extLst>
          </c:dPt>
          <c:cat>
            <c:strRef>
              <c:f>Sheet1!$A$2:$A$22</c:f>
              <c:strCache>
                <c:ptCount val="21"/>
                <c:pt idx="0">
                  <c:v>АЛЬФА-БАНК</c:v>
                </c:pt>
                <c:pt idx="1">
                  <c:v>ВТБ</c:v>
                </c:pt>
                <c:pt idx="2">
                  <c:v>WB</c:v>
                </c:pt>
                <c:pt idx="3">
                  <c:v>Т-БАНК</c:v>
                </c:pt>
                <c:pt idx="4">
                  <c:v>OZON</c:v>
                </c:pt>
                <c:pt idx="5">
                  <c:v>СБЕР</c:v>
                </c:pt>
                <c:pt idx="6">
                  <c:v>AVITO</c:v>
                </c:pt>
                <c:pt idx="7">
                  <c:v>ВКУСНО - И ТОЧКА</c:v>
                </c:pt>
                <c:pt idx="8">
                  <c:v>СОВКОМБАНК</c:v>
                </c:pt>
                <c:pt idx="9">
                  <c:v>МТС</c:v>
                </c:pt>
                <c:pt idx="10">
                  <c:v>ЭВАЛАР</c:v>
                </c:pt>
                <c:pt idx="11">
                  <c:v>СБЕР БАНК</c:v>
                </c:pt>
                <c:pt idx="12">
                  <c:v>LEOMAX</c:v>
                </c:pt>
                <c:pt idx="13">
                  <c:v>OZON БАНК</c:v>
                </c:pt>
                <c:pt idx="14">
                  <c:v>МЕГАФОН</c:v>
                </c:pt>
                <c:pt idx="15">
                  <c:v>КУПЕР</c:v>
                </c:pt>
                <c:pt idx="16">
                  <c:v>ПОЧТА РОССИИ</c:v>
                </c:pt>
                <c:pt idx="17">
                  <c:v>Т-АВТО</c:v>
                </c:pt>
                <c:pt idx="18">
                  <c:v>МАГНИТ</c:v>
                </c:pt>
                <c:pt idx="19">
                  <c:v>TELE2</c:v>
                </c:pt>
                <c:pt idx="20">
                  <c:v>БИЛАЙН</c:v>
                </c:pt>
              </c:strCache>
            </c:strRef>
          </c:cat>
          <c:val>
            <c:numRef>
              <c:f>Sheet1!$C$2:$C$22</c:f>
              <c:numCache>
                <c:formatCode>_-* #\ ##0_-;\-* #\ ##0_-;_-* "-"??_-;_-@_-</c:formatCode>
                <c:ptCount val="21"/>
                <c:pt idx="0">
                  <c:v>12938.355447</c:v>
                </c:pt>
                <c:pt idx="1">
                  <c:v>11810.154602000001</c:v>
                </c:pt>
                <c:pt idx="2">
                  <c:v>9736.9107459999996</c:v>
                </c:pt>
                <c:pt idx="3">
                  <c:v>9662.6920310000005</c:v>
                </c:pt>
                <c:pt idx="4">
                  <c:v>8791.6413749999992</c:v>
                </c:pt>
                <c:pt idx="5">
                  <c:v>8453.7904500000004</c:v>
                </c:pt>
                <c:pt idx="6">
                  <c:v>8382.9457110000003</c:v>
                </c:pt>
                <c:pt idx="7">
                  <c:v>6853.8385710000002</c:v>
                </c:pt>
                <c:pt idx="8">
                  <c:v>6449.5910100000001</c:v>
                </c:pt>
                <c:pt idx="9">
                  <c:v>5814.3905240000004</c:v>
                </c:pt>
                <c:pt idx="10">
                  <c:v>5425.1684830000004</c:v>
                </c:pt>
                <c:pt idx="11">
                  <c:v>5269.308196</c:v>
                </c:pt>
                <c:pt idx="12">
                  <c:v>5126.700229</c:v>
                </c:pt>
                <c:pt idx="13">
                  <c:v>5066.8100800000002</c:v>
                </c:pt>
                <c:pt idx="14">
                  <c:v>4630.116583</c:v>
                </c:pt>
                <c:pt idx="15">
                  <c:v>3861.7862810000001</c:v>
                </c:pt>
                <c:pt idx="16">
                  <c:v>3220.1707059999999</c:v>
                </c:pt>
                <c:pt idx="17">
                  <c:v>3069.1610740000001</c:v>
                </c:pt>
                <c:pt idx="18">
                  <c:v>3067.9219699999999</c:v>
                </c:pt>
                <c:pt idx="19">
                  <c:v>2863.7734070000001</c:v>
                </c:pt>
                <c:pt idx="20">
                  <c:v>2844.6025479999998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8A52-4EAB-A69C-D11339726F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9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15000"/>
          <c:min val="0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9835662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3.3952000000000003E-2"/>
          <c:y val="0.856406"/>
          <c:w val="0.42587199999999997"/>
          <c:h val="7.3386999999999994E-2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  <c:userShapes r:id="rId2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/>
              <a:t>Инвестиции, млн </a:t>
            </a:r>
            <a:r>
              <a:rPr lang="ru-RU" sz="1200" b="1" dirty="0" err="1"/>
              <a:t>руб</a:t>
            </a:r>
            <a:endParaRPr lang="ru-RU" sz="1200" b="1" dirty="0"/>
          </a:p>
        </c:rich>
      </c:tx>
      <c:layout>
        <c:manualLayout>
          <c:xMode val="edge"/>
          <c:yMode val="edge"/>
          <c:x val="0.21523200000000001"/>
          <c:y val="4.1161000000000003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9735000000000003E-2"/>
          <c:y val="0.175209"/>
          <c:w val="0.60496799999999995"/>
          <c:h val="0.574964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B2D7-4E67-BB92-94085A1BD27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B2D7-4E67-BB92-94085A1BD27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7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Sheet1!$B$2:$B$37</c:f>
              <c:numCache>
                <c:formatCode>_-* #\ ##0_-;\-* #\ ##0_-;_-* "-"??_-;_-@_-</c:formatCode>
                <c:ptCount val="24"/>
                <c:pt idx="0">
                  <c:v>227745021.94999987</c:v>
                </c:pt>
                <c:pt idx="1">
                  <c:v>497143624.80000025</c:v>
                </c:pt>
                <c:pt idx="2">
                  <c:v>608619736.25000024</c:v>
                </c:pt>
                <c:pt idx="3">
                  <c:v>549740602.69999874</c:v>
                </c:pt>
                <c:pt idx="4">
                  <c:v>510532262.75000107</c:v>
                </c:pt>
                <c:pt idx="5">
                  <c:v>368992343.54999977</c:v>
                </c:pt>
                <c:pt idx="6">
                  <c:v>315319368.9999994</c:v>
                </c:pt>
                <c:pt idx="7">
                  <c:v>392374884.55000019</c:v>
                </c:pt>
                <c:pt idx="8">
                  <c:v>874848784.54999912</c:v>
                </c:pt>
                <c:pt idx="9">
                  <c:v>870037546.80000114</c:v>
                </c:pt>
                <c:pt idx="10">
                  <c:v>922359539.40000165</c:v>
                </c:pt>
                <c:pt idx="11">
                  <c:v>557833513.7499994</c:v>
                </c:pt>
                <c:pt idx="12">
                  <c:v>384435651.75000018</c:v>
                </c:pt>
                <c:pt idx="13">
                  <c:v>702251040.85000014</c:v>
                </c:pt>
                <c:pt idx="14">
                  <c:v>697894293.75312471</c:v>
                </c:pt>
                <c:pt idx="15">
                  <c:v>630378554.64998913</c:v>
                </c:pt>
                <c:pt idx="16">
                  <c:v>585418992.72839522</c:v>
                </c:pt>
                <c:pt idx="17">
                  <c:v>423117483.15759182</c:v>
                </c:pt>
                <c:pt idx="18">
                  <c:v>361571561.40027398</c:v>
                </c:pt>
                <c:pt idx="19">
                  <c:v>449929860.35372943</c:v>
                </c:pt>
                <c:pt idx="20">
                  <c:v>1003174787.5877415</c:v>
                </c:pt>
                <c:pt idx="21">
                  <c:v>997657819.97788084</c:v>
                </c:pt>
                <c:pt idx="22">
                  <c:v>1057654592.8369428</c:v>
                </c:pt>
                <c:pt idx="23">
                  <c:v>639658563.3405503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18-B2D7-4E67-BB92-94085A1BD27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САМОКАТ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B2D7-4E67-BB92-94085A1BD27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2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3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4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5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6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7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8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9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A-B2D7-4E67-BB92-94085A1BD27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B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C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D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E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F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0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Sheet1!$C$2:$C$37</c:f>
              <c:numCache>
                <c:formatCode>_-* #\ ##0_-;\-* #\ ##0_-;_-* "-"??_-;_-@_-</c:formatCode>
                <c:ptCount val="24"/>
                <c:pt idx="0">
                  <c:v>154584600.50000012</c:v>
                </c:pt>
                <c:pt idx="1">
                  <c:v>202181397.54999983</c:v>
                </c:pt>
                <c:pt idx="2">
                  <c:v>641743581.74999952</c:v>
                </c:pt>
                <c:pt idx="3">
                  <c:v>368787171.50000018</c:v>
                </c:pt>
                <c:pt idx="4">
                  <c:v>194003833.09999987</c:v>
                </c:pt>
                <c:pt idx="5">
                  <c:v>181585952.8999992</c:v>
                </c:pt>
                <c:pt idx="6">
                  <c:v>256187949.05000067</c:v>
                </c:pt>
                <c:pt idx="7">
                  <c:v>780870417.8499999</c:v>
                </c:pt>
                <c:pt idx="8">
                  <c:v>1058656508.5000006</c:v>
                </c:pt>
                <c:pt idx="9">
                  <c:v>868321275.00000107</c:v>
                </c:pt>
                <c:pt idx="10">
                  <c:v>759644295.20000005</c:v>
                </c:pt>
                <c:pt idx="11">
                  <c:v>597109418.34999955</c:v>
                </c:pt>
                <c:pt idx="12">
                  <c:v>315981630.5</c:v>
                </c:pt>
                <c:pt idx="13">
                  <c:v>517491200.54999864</c:v>
                </c:pt>
                <c:pt idx="14">
                  <c:v>714536416.41993344</c:v>
                </c:pt>
                <c:pt idx="15">
                  <c:v>410618620.02058697</c:v>
                </c:pt>
                <c:pt idx="16">
                  <c:v>216009645.62354949</c:v>
                </c:pt>
                <c:pt idx="17">
                  <c:v>202183207.97777787</c:v>
                </c:pt>
                <c:pt idx="18">
                  <c:v>285247292.29854912</c:v>
                </c:pt>
                <c:pt idx="19">
                  <c:v>869444379.22908044</c:v>
                </c:pt>
                <c:pt idx="20">
                  <c:v>1178739685.6240234</c:v>
                </c:pt>
                <c:pt idx="21">
                  <c:v>966814768.05387425</c:v>
                </c:pt>
                <c:pt idx="22">
                  <c:v>845810582.11113846</c:v>
                </c:pt>
                <c:pt idx="23">
                  <c:v>664839409.58931112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31-B2D7-4E67-BB92-94085A1BD2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2-B2D7-4E67-BB92-94085A1BD27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3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4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5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6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7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8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9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A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B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C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D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E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F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0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1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2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3-B2D7-4E67-BB92-94085A1BD27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4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5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6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7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8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9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Sheet1!$D$2:$D$37</c:f>
              <c:numCache>
                <c:formatCode>_-* #\ ##0_-;\-* #\ ##0_-;_-* "-"??_-;_-@_-</c:formatCode>
                <c:ptCount val="24"/>
                <c:pt idx="0">
                  <c:v>175770391.54999974</c:v>
                </c:pt>
                <c:pt idx="1">
                  <c:v>277140638.24999976</c:v>
                </c:pt>
                <c:pt idx="2">
                  <c:v>394114963.05000043</c:v>
                </c:pt>
                <c:pt idx="3">
                  <c:v>421908014.19999963</c:v>
                </c:pt>
                <c:pt idx="4">
                  <c:v>349823345.59999985</c:v>
                </c:pt>
                <c:pt idx="5">
                  <c:v>271504173.34999996</c:v>
                </c:pt>
                <c:pt idx="6">
                  <c:v>214798206.90000048</c:v>
                </c:pt>
                <c:pt idx="7">
                  <c:v>261158969.40000027</c:v>
                </c:pt>
                <c:pt idx="8">
                  <c:v>502929769.00000006</c:v>
                </c:pt>
                <c:pt idx="9">
                  <c:v>611165053.79999852</c:v>
                </c:pt>
                <c:pt idx="10">
                  <c:v>506833671.74999905</c:v>
                </c:pt>
                <c:pt idx="11">
                  <c:v>410862637.70000005</c:v>
                </c:pt>
                <c:pt idx="12">
                  <c:v>125491112.10000017</c:v>
                </c:pt>
                <c:pt idx="13">
                  <c:v>588046449.25000226</c:v>
                </c:pt>
                <c:pt idx="14">
                  <c:v>291431025.24773687</c:v>
                </c:pt>
                <c:pt idx="15">
                  <c:v>524180489.73528397</c:v>
                </c:pt>
                <c:pt idx="16">
                  <c:v>389612333.7292968</c:v>
                </c:pt>
                <c:pt idx="17">
                  <c:v>327698982.20298225</c:v>
                </c:pt>
                <c:pt idx="18">
                  <c:v>408929460.20137</c:v>
                </c:pt>
                <c:pt idx="19">
                  <c:v>374689259.43736506</c:v>
                </c:pt>
                <c:pt idx="20">
                  <c:v>637164475.4884783</c:v>
                </c:pt>
                <c:pt idx="21">
                  <c:v>486724827.17030436</c:v>
                </c:pt>
                <c:pt idx="22">
                  <c:v>688960422.86647332</c:v>
                </c:pt>
                <c:pt idx="23">
                  <c:v>479803038.31635064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4A-B2D7-4E67-BB92-94085A1BD27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КУПЕР</c:v>
                </c:pt>
              </c:strCache>
            </c:strRef>
          </c:tx>
          <c:spPr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B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C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D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E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F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0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1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2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3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4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5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6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7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8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9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A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Sheet1!$E$2:$E$37</c:f>
              <c:numCache>
                <c:formatCode>_-* #\ ##0_-;\-* #\ ##0_-;_-* "-"??_-;_-@_-</c:formatCode>
                <c:ptCount val="24"/>
                <c:pt idx="1">
                  <c:v>299674912.5</c:v>
                </c:pt>
                <c:pt idx="2">
                  <c:v>116628036.60000001</c:v>
                </c:pt>
                <c:pt idx="3">
                  <c:v>88925894.099999994</c:v>
                </c:pt>
                <c:pt idx="6">
                  <c:v>29949516.90000001</c:v>
                </c:pt>
                <c:pt idx="7">
                  <c:v>257308407.30000001</c:v>
                </c:pt>
                <c:pt idx="8">
                  <c:v>426407548.50000024</c:v>
                </c:pt>
                <c:pt idx="9">
                  <c:v>329102733.99999994</c:v>
                </c:pt>
                <c:pt idx="10">
                  <c:v>281182523.90000004</c:v>
                </c:pt>
                <c:pt idx="11">
                  <c:v>512705320.69999987</c:v>
                </c:pt>
                <c:pt idx="13">
                  <c:v>230254958.69999999</c:v>
                </c:pt>
                <c:pt idx="14">
                  <c:v>111160852.82410578</c:v>
                </c:pt>
                <c:pt idx="15">
                  <c:v>84757306.343114033</c:v>
                </c:pt>
                <c:pt idx="16">
                  <c:v>0</c:v>
                </c:pt>
                <c:pt idx="17">
                  <c:v>0</c:v>
                </c:pt>
                <c:pt idx="18">
                  <c:v>28545570.493415728</c:v>
                </c:pt>
                <c:pt idx="19">
                  <c:v>245246536.1513285</c:v>
                </c:pt>
                <c:pt idx="20">
                  <c:v>406418800.51932794</c:v>
                </c:pt>
                <c:pt idx="21">
                  <c:v>313675353.23993289</c:v>
                </c:pt>
                <c:pt idx="22">
                  <c:v>268001503.47346678</c:v>
                </c:pt>
                <c:pt idx="23">
                  <c:v>488671183.68747908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5B-B2D7-4E67-BB92-94085A1BD27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ЯНДЕКС.ЛАВКА</c:v>
                </c:pt>
              </c:strCache>
            </c:strRef>
          </c:tx>
          <c:spPr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C-B2D7-4E67-BB92-94085A1BD27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D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E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F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0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1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2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3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4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5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6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7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8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9-B2D7-4E67-BB92-94085A1BD27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A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B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C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D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E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F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Sheet1!$F$2:$F$37</c:f>
              <c:numCache>
                <c:formatCode>_-* #\ ##0_-;\-* #\ ##0_-;_-* "-"??_-;_-@_-</c:formatCode>
                <c:ptCount val="24"/>
                <c:pt idx="0">
                  <c:v>99049639.150000066</c:v>
                </c:pt>
                <c:pt idx="1">
                  <c:v>116498106.99999999</c:v>
                </c:pt>
                <c:pt idx="2">
                  <c:v>114207970.8000001</c:v>
                </c:pt>
                <c:pt idx="3">
                  <c:v>125248390.3</c:v>
                </c:pt>
                <c:pt idx="4">
                  <c:v>6588255.3000000007</c:v>
                </c:pt>
                <c:pt idx="5">
                  <c:v>45588887.300000012</c:v>
                </c:pt>
                <c:pt idx="6">
                  <c:v>74380194.899999961</c:v>
                </c:pt>
                <c:pt idx="7">
                  <c:v>81524550.799999997</c:v>
                </c:pt>
                <c:pt idx="8">
                  <c:v>158551012.39999995</c:v>
                </c:pt>
                <c:pt idx="9">
                  <c:v>263668705.85000017</c:v>
                </c:pt>
                <c:pt idx="10">
                  <c:v>196438272.25000024</c:v>
                </c:pt>
                <c:pt idx="11">
                  <c:v>261644349.99999994</c:v>
                </c:pt>
                <c:pt idx="14">
                  <c:v>138658727.17407414</c:v>
                </c:pt>
                <c:pt idx="15">
                  <c:v>152062787.36894992</c:v>
                </c:pt>
                <c:pt idx="16">
                  <c:v>7998733.2565044351</c:v>
                </c:pt>
                <c:pt idx="17">
                  <c:v>55349000.967455335</c:v>
                </c:pt>
                <c:pt idx="18">
                  <c:v>90304232.529044703</c:v>
                </c:pt>
                <c:pt idx="19">
                  <c:v>98978121.826205656</c:v>
                </c:pt>
                <c:pt idx="20">
                  <c:v>192495159.6420871</c:v>
                </c:pt>
                <c:pt idx="21">
                  <c:v>320117474.22445536</c:v>
                </c:pt>
                <c:pt idx="22">
                  <c:v>238493693.63332793</c:v>
                </c:pt>
                <c:pt idx="23">
                  <c:v>317659724.52850837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70-B2D7-4E67-BB92-94085A1BD27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ЛЕНТА</c:v>
                </c:pt>
              </c:strCache>
            </c:strRef>
          </c:tx>
          <c:spPr>
            <a:prstGeom prst="rect">
              <a:avLst/>
            </a:prstGeom>
            <a:solidFill>
              <a:srgbClr val="4472C4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1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2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3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4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5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6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7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8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9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A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B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C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D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E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F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Sheet1!$G$2:$G$37</c:f>
              <c:numCache>
                <c:formatCode>_-* #\ ##0_-;\-* #\ ##0_-;_-* "-"??_-;_-@_-</c:formatCode>
                <c:ptCount val="24"/>
                <c:pt idx="0">
                  <c:v>16809663.749999993</c:v>
                </c:pt>
                <c:pt idx="1">
                  <c:v>116337513.59999999</c:v>
                </c:pt>
                <c:pt idx="2">
                  <c:v>50707884.699999996</c:v>
                </c:pt>
                <c:pt idx="3">
                  <c:v>107147565.25000004</c:v>
                </c:pt>
                <c:pt idx="4">
                  <c:v>74249426.900000006</c:v>
                </c:pt>
                <c:pt idx="5">
                  <c:v>23740022.349999998</c:v>
                </c:pt>
                <c:pt idx="6">
                  <c:v>4451077.4000000032</c:v>
                </c:pt>
                <c:pt idx="7">
                  <c:v>208356225</c:v>
                </c:pt>
                <c:pt idx="8">
                  <c:v>120466712.85000001</c:v>
                </c:pt>
                <c:pt idx="9">
                  <c:v>131662803.80000004</c:v>
                </c:pt>
                <c:pt idx="10">
                  <c:v>123310076.44999999</c:v>
                </c:pt>
                <c:pt idx="11">
                  <c:v>401896971.30000001</c:v>
                </c:pt>
                <c:pt idx="12">
                  <c:v>5922569.400000005</c:v>
                </c:pt>
                <c:pt idx="13">
                  <c:v>7389683.9499999927</c:v>
                </c:pt>
                <c:pt idx="14">
                  <c:v>52520549.679368883</c:v>
                </c:pt>
                <c:pt idx="15">
                  <c:v>110977790.87077649</c:v>
                </c:pt>
                <c:pt idx="16">
                  <c:v>76903636.135429621</c:v>
                </c:pt>
                <c:pt idx="17">
                  <c:v>24588661.716005333</c:v>
                </c:pt>
                <c:pt idx="18">
                  <c:v>4610190.9613558827</c:v>
                </c:pt>
                <c:pt idx="19">
                  <c:v>215804376.98909301</c:v>
                </c:pt>
                <c:pt idx="20">
                  <c:v>124773060.7257749</c:v>
                </c:pt>
                <c:pt idx="21">
                  <c:v>136369380.59660178</c:v>
                </c:pt>
                <c:pt idx="22">
                  <c:v>127718066.61773451</c:v>
                </c:pt>
                <c:pt idx="23">
                  <c:v>416263663.37362802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0-B2D7-4E67-BB92-94085A1BD272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1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2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3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4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5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6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7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8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9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A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B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C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Sheet1!$H$2:$H$37</c:f>
              <c:numCache>
                <c:formatCode>_-* #\ ##0_-;\-* #\ ##0_-;_-* "-"??_-;_-@_-</c:formatCode>
                <c:ptCount val="24"/>
                <c:pt idx="0">
                  <c:v>38097534.200000003</c:v>
                </c:pt>
                <c:pt idx="1">
                  <c:v>53110189.550000049</c:v>
                </c:pt>
                <c:pt idx="2">
                  <c:v>77828830.199999854</c:v>
                </c:pt>
                <c:pt idx="3">
                  <c:v>96681536.599999949</c:v>
                </c:pt>
                <c:pt idx="4">
                  <c:v>89065454.500000194</c:v>
                </c:pt>
                <c:pt idx="5">
                  <c:v>48047091.399999984</c:v>
                </c:pt>
                <c:pt idx="6">
                  <c:v>34524139.100000069</c:v>
                </c:pt>
                <c:pt idx="7">
                  <c:v>60463725.300000034</c:v>
                </c:pt>
                <c:pt idx="8">
                  <c:v>137956620.44999978</c:v>
                </c:pt>
                <c:pt idx="9">
                  <c:v>78626322.750000134</c:v>
                </c:pt>
                <c:pt idx="10">
                  <c:v>58155553.800000019</c:v>
                </c:pt>
                <c:pt idx="11">
                  <c:v>78849543.850000024</c:v>
                </c:pt>
                <c:pt idx="12">
                  <c:v>92071773.049999997</c:v>
                </c:pt>
                <c:pt idx="13">
                  <c:v>159039067.60000017</c:v>
                </c:pt>
                <c:pt idx="14">
                  <c:v>129928718.28586109</c:v>
                </c:pt>
                <c:pt idx="15">
                  <c:v>101770993.13551185</c:v>
                </c:pt>
                <c:pt idx="16">
                  <c:v>21597259.370026801</c:v>
                </c:pt>
                <c:pt idx="17">
                  <c:v>19464574.156714626</c:v>
                </c:pt>
                <c:pt idx="18">
                  <c:v>15453606.1556502</c:v>
                </c:pt>
                <c:pt idx="19">
                  <c:v>54515066.435914986</c:v>
                </c:pt>
                <c:pt idx="20">
                  <c:v>177160097.25275552</c:v>
                </c:pt>
                <c:pt idx="21">
                  <c:v>69028998.991924316</c:v>
                </c:pt>
                <c:pt idx="22">
                  <c:v>36148462.783944905</c:v>
                </c:pt>
                <c:pt idx="23">
                  <c:v>28752297.043282479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D-B2D7-4E67-BB92-94085A1BD272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ЧИЖИК 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E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F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0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1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2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3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4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5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6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7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8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9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A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B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C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D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E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Sheet1!$I$2:$I$37</c:f>
              <c:numCache>
                <c:formatCode>_-* #\ ##0_-;\-* #\ ##0_-;_-* "-"??_-;_-@_-</c:formatCode>
                <c:ptCount val="24"/>
                <c:pt idx="0">
                  <c:v>24271801.399999995</c:v>
                </c:pt>
                <c:pt idx="1">
                  <c:v>37632263.899999894</c:v>
                </c:pt>
                <c:pt idx="2">
                  <c:v>69650309.300000086</c:v>
                </c:pt>
                <c:pt idx="3">
                  <c:v>101217832.10000013</c:v>
                </c:pt>
                <c:pt idx="4">
                  <c:v>65361256.399999984</c:v>
                </c:pt>
                <c:pt idx="5">
                  <c:v>94244181.349999756</c:v>
                </c:pt>
                <c:pt idx="6">
                  <c:v>43286120.349999927</c:v>
                </c:pt>
                <c:pt idx="7">
                  <c:v>45449669.100000098</c:v>
                </c:pt>
                <c:pt idx="8">
                  <c:v>87891473.999999925</c:v>
                </c:pt>
                <c:pt idx="9">
                  <c:v>248078435.55000058</c:v>
                </c:pt>
                <c:pt idx="10">
                  <c:v>144768270.3499999</c:v>
                </c:pt>
                <c:pt idx="11">
                  <c:v>145596687.50000045</c:v>
                </c:pt>
                <c:pt idx="12">
                  <c:v>44036111.349999949</c:v>
                </c:pt>
                <c:pt idx="13">
                  <c:v>69209203.799999893</c:v>
                </c:pt>
                <c:pt idx="14">
                  <c:v>154815159.56440303</c:v>
                </c:pt>
                <c:pt idx="15">
                  <c:v>185970379.98285526</c:v>
                </c:pt>
                <c:pt idx="16">
                  <c:v>124244113.50536345</c:v>
                </c:pt>
                <c:pt idx="17">
                  <c:v>0</c:v>
                </c:pt>
                <c:pt idx="18">
                  <c:v>0</c:v>
                </c:pt>
                <c:pt idx="19">
                  <c:v>74141190.965134814</c:v>
                </c:pt>
                <c:pt idx="20">
                  <c:v>169603177.00027347</c:v>
                </c:pt>
                <c:pt idx="21">
                  <c:v>150897863.26287746</c:v>
                </c:pt>
                <c:pt idx="22">
                  <c:v>193065073.31130558</c:v>
                </c:pt>
                <c:pt idx="23">
                  <c:v>160247568.77068555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9F-B2D7-4E67-BB92-94085A1BD272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0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1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2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3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4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5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6-B2D7-4E67-BB92-94085A1BD27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7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8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9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Sheet1!$J$2:$J$37</c:f>
              <c:numCache>
                <c:formatCode>_-* #\ ##0_-;\-* #\ ##0_-;_-* "-"??_-;_-@_-</c:formatCode>
                <c:ptCount val="24"/>
                <c:pt idx="0">
                  <c:v>23861140.050000008</c:v>
                </c:pt>
                <c:pt idx="1">
                  <c:v>53655643.800000086</c:v>
                </c:pt>
                <c:pt idx="2">
                  <c:v>47527296.29999999</c:v>
                </c:pt>
                <c:pt idx="3">
                  <c:v>51523465.950000025</c:v>
                </c:pt>
                <c:pt idx="4">
                  <c:v>46293349.849999964</c:v>
                </c:pt>
                <c:pt idx="5">
                  <c:v>32876690.549999963</c:v>
                </c:pt>
                <c:pt idx="6">
                  <c:v>27282705.450000033</c:v>
                </c:pt>
                <c:pt idx="7">
                  <c:v>53701444.500000097</c:v>
                </c:pt>
                <c:pt idx="8">
                  <c:v>77124097.600000039</c:v>
                </c:pt>
                <c:pt idx="9">
                  <c:v>78273091.600000173</c:v>
                </c:pt>
                <c:pt idx="10">
                  <c:v>103556339.70000018</c:v>
                </c:pt>
                <c:pt idx="11">
                  <c:v>57090179.300000079</c:v>
                </c:pt>
                <c:pt idx="12">
                  <c:v>33270735.849999994</c:v>
                </c:pt>
                <c:pt idx="13">
                  <c:v>53036284.950000003</c:v>
                </c:pt>
                <c:pt idx="14">
                  <c:v>60436085.358150072</c:v>
                </c:pt>
                <c:pt idx="15">
                  <c:v>65517646.247887686</c:v>
                </c:pt>
                <c:pt idx="16">
                  <c:v>58866989.306296863</c:v>
                </c:pt>
                <c:pt idx="17">
                  <c:v>41806259.372117579</c:v>
                </c:pt>
                <c:pt idx="18">
                  <c:v>34692903.736193985</c:v>
                </c:pt>
                <c:pt idx="19">
                  <c:v>68287180.974314436</c:v>
                </c:pt>
                <c:pt idx="20">
                  <c:v>98071611.654540941</c:v>
                </c:pt>
                <c:pt idx="21">
                  <c:v>99532681.499997526</c:v>
                </c:pt>
                <c:pt idx="22">
                  <c:v>131683059.47769214</c:v>
                </c:pt>
                <c:pt idx="23">
                  <c:v>72596322.911111981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AA-B2D7-4E67-BB92-94085A1BD272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Другие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B-B2D7-4E67-BB92-94085A1BD27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C-B2D7-4E67-BB92-94085A1BD27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D-B2D7-4E67-BB92-94085A1BD27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E-B2D7-4E67-BB92-94085A1BD27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F-B2D7-4E67-BB92-94085A1BD27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0-B2D7-4E67-BB92-94085A1BD27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1-B2D7-4E67-BB92-94085A1BD27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2-B2D7-4E67-BB92-94085A1BD27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3-B2D7-4E67-BB92-94085A1BD27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4-B2D7-4E67-BB92-94085A1BD27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5-B2D7-4E67-BB92-94085A1BD27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6-B2D7-4E67-BB92-94085A1BD27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7-B2D7-4E67-BB92-94085A1BD27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8-B2D7-4E67-BB92-94085A1BD27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9-B2D7-4E67-BB92-94085A1BD27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A-B2D7-4E67-BB92-94085A1BD27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>
                        <a:solidFill>
                          <a:schemeClr val="bg1"/>
                        </a:solidFill>
                      </a:rPr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B-B2D7-4E67-BB92-94085A1BD27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C-B2D7-4E67-BB92-94085A1BD27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D-B2D7-4E67-BB92-94085A1BD27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E-B2D7-4E67-BB92-94085A1BD27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>
                        <a:solidFill>
                          <a:schemeClr val="bg1"/>
                        </a:solidFill>
                      </a:rPr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F-B2D7-4E67-BB92-94085A1BD27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C0-B2D7-4E67-BB92-94085A1BD27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C1-B2D7-4E67-BB92-94085A1BD2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Sheet1!$K$2:$K$37</c:f>
              <c:numCache>
                <c:formatCode>_-* #\ ##0_-;\-* #\ ##0_-;_-* "-"??_-;_-@_-</c:formatCode>
                <c:ptCount val="24"/>
                <c:pt idx="0">
                  <c:v>27782631.249999985</c:v>
                </c:pt>
                <c:pt idx="1">
                  <c:v>203719238.79999998</c:v>
                </c:pt>
                <c:pt idx="2">
                  <c:v>161971087.84999996</c:v>
                </c:pt>
                <c:pt idx="3">
                  <c:v>156984486.99999994</c:v>
                </c:pt>
                <c:pt idx="4">
                  <c:v>165941414.6500001</c:v>
                </c:pt>
                <c:pt idx="5">
                  <c:v>101782251.45000002</c:v>
                </c:pt>
                <c:pt idx="6">
                  <c:v>71062257.200000003</c:v>
                </c:pt>
                <c:pt idx="7">
                  <c:v>165513706.04999992</c:v>
                </c:pt>
                <c:pt idx="8">
                  <c:v>186015616.60000008</c:v>
                </c:pt>
                <c:pt idx="9">
                  <c:v>130833057.85000001</c:v>
                </c:pt>
                <c:pt idx="10">
                  <c:v>147671350.20000008</c:v>
                </c:pt>
                <c:pt idx="11">
                  <c:v>287826375.05000007</c:v>
                </c:pt>
                <c:pt idx="12">
                  <c:v>48836388.700000018</c:v>
                </c:pt>
                <c:pt idx="13">
                  <c:v>141230540.54999998</c:v>
                </c:pt>
                <c:pt idx="14">
                  <c:v>128435408.17233743</c:v>
                </c:pt>
                <c:pt idx="15">
                  <c:v>127762166.79131593</c:v>
                </c:pt>
                <c:pt idx="16">
                  <c:v>45360510.624727994</c:v>
                </c:pt>
                <c:pt idx="17">
                  <c:v>90946786.251428008</c:v>
                </c:pt>
                <c:pt idx="18">
                  <c:v>63797034.886958115</c:v>
                </c:pt>
                <c:pt idx="19">
                  <c:v>31619775.506960455</c:v>
                </c:pt>
                <c:pt idx="20">
                  <c:v>148912309.99727967</c:v>
                </c:pt>
                <c:pt idx="21">
                  <c:v>97543123.121357933</c:v>
                </c:pt>
                <c:pt idx="22">
                  <c:v>112402815.07890704</c:v>
                </c:pt>
                <c:pt idx="23">
                  <c:v>107701378.07234518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C2-B2D7-4E67-BB92-94085A1BD272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Total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600" b="1"/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Sheet1!$L$2:$L$37</c:f>
              <c:numCache>
                <c:formatCode>_-* #\ ##0_-;\-* #\ ##0_-;_-* "-"??_-;_-@_-</c:formatCode>
                <c:ptCount val="24"/>
                <c:pt idx="0">
                  <c:v>787972423.79999983</c:v>
                </c:pt>
                <c:pt idx="1">
                  <c:v>1857093529.7499998</c:v>
                </c:pt>
                <c:pt idx="2">
                  <c:v>2282999696.8000002</c:v>
                </c:pt>
                <c:pt idx="3">
                  <c:v>2068164959.6999984</c:v>
                </c:pt>
                <c:pt idx="4">
                  <c:v>1501858599.0500011</c:v>
                </c:pt>
                <c:pt idx="5">
                  <c:v>1168361594.1999986</c:v>
                </c:pt>
                <c:pt idx="6">
                  <c:v>1071241536.2500005</c:v>
                </c:pt>
                <c:pt idx="7">
                  <c:v>2306721999.8500004</c:v>
                </c:pt>
                <c:pt idx="8">
                  <c:v>3630848144.4499998</c:v>
                </c:pt>
                <c:pt idx="9">
                  <c:v>3609769027.0000019</c:v>
                </c:pt>
                <c:pt idx="10">
                  <c:v>3243919893.0000014</c:v>
                </c:pt>
                <c:pt idx="11">
                  <c:v>3311414997.4999995</c:v>
                </c:pt>
                <c:pt idx="12">
                  <c:v>1050045972.7000003</c:v>
                </c:pt>
                <c:pt idx="13">
                  <c:v>2467948430.2000012</c:v>
                </c:pt>
                <c:pt idx="14">
                  <c:v>2479817236.4790955</c:v>
                </c:pt>
                <c:pt idx="15">
                  <c:v>2393996735.1462712</c:v>
                </c:pt>
                <c:pt idx="16">
                  <c:v>1526012214.2795908</c:v>
                </c:pt>
                <c:pt idx="17">
                  <c:v>1185154955.802073</c:v>
                </c:pt>
                <c:pt idx="18">
                  <c:v>1293151852.6628115</c:v>
                </c:pt>
                <c:pt idx="19">
                  <c:v>2482655747.8691263</c:v>
                </c:pt>
                <c:pt idx="20">
                  <c:v>4136513165.4922824</c:v>
                </c:pt>
                <c:pt idx="21">
                  <c:v>3638362290.1392069</c:v>
                </c:pt>
                <c:pt idx="22">
                  <c:v>3699938272.1909337</c:v>
                </c:pt>
                <c:pt idx="23">
                  <c:v>3376193149.6332531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C3-B2D7-4E67-BB92-94085A1BD2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44575"/>
        <c:crosses val="autoZero"/>
        <c:auto val="1"/>
        <c:lblOffset val="100"/>
        <c:baseTimeUnit val="months"/>
        <c:majorUnit val="1"/>
      </c:dateAx>
      <c:valAx>
        <c:axId val="2143344575"/>
        <c:scaling>
          <c:orientation val="minMax"/>
          <c:max val="5000000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bg1">
                    <a:lumMod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38335"/>
        <c:crosses val="autoZero"/>
        <c:crossBetween val="between"/>
        <c:majorUnit val="1000000000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620878805048489"/>
          <c:y val="9.4363421555652957E-2"/>
          <c:w val="0.17716409780558773"/>
          <c:h val="0.82931238179984235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200371" y="4017958"/>
      <a:ext cx="7306740" cy="246562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0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</a:rPr>
              <a:t>TRPs, SOV (%)</a:t>
            </a:r>
            <a:endParaRPr lang="ru-RU" sz="1200" b="1" i="0" u="none" strike="noStrike" kern="1200" spc="0" baseline="0" dirty="0">
              <a:solidFill>
                <a:prstClr val="black">
                  <a:lumMod val="65000"/>
                  <a:lumOff val="35000"/>
                </a:prstClr>
              </a:solidFill>
            </a:endParaRPr>
          </a:p>
        </c:rich>
      </c:tx>
      <c:layout>
        <c:manualLayout>
          <c:xMode val="edge"/>
          <c:yMode val="edge"/>
          <c:x val="0.30213802598696549"/>
          <c:y val="4.1161132644962115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9735000000000003E-2"/>
          <c:y val="0.175209"/>
          <c:w val="0.70724481779836146"/>
          <c:h val="0.574964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AF76-4118-804A-18DE0EA5D257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76-4118-804A-18DE0EA5D257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AF76-4118-804A-18DE0EA5D257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AF76-4118-804A-18DE0EA5D257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AF76-4118-804A-18DE0EA5D257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76-4118-804A-18DE0EA5D257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76-4118-804A-18DE0EA5D257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76-4118-804A-18DE0EA5D257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AF76-4118-804A-18DE0EA5D257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AF76-4118-804A-18DE0EA5D257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7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Sheet1!$B$2:$B$37</c:f>
              <c:numCache>
                <c:formatCode>#,##0</c:formatCode>
                <c:ptCount val="24"/>
                <c:pt idx="0">
                  <c:v>6025</c:v>
                </c:pt>
                <c:pt idx="1">
                  <c:v>8513</c:v>
                </c:pt>
                <c:pt idx="2">
                  <c:v>9852</c:v>
                </c:pt>
                <c:pt idx="3">
                  <c:v>8497</c:v>
                </c:pt>
                <c:pt idx="4">
                  <c:v>10307</c:v>
                </c:pt>
                <c:pt idx="5">
                  <c:v>6820</c:v>
                </c:pt>
                <c:pt idx="6">
                  <c:v>7339</c:v>
                </c:pt>
                <c:pt idx="7">
                  <c:v>8023</c:v>
                </c:pt>
                <c:pt idx="8">
                  <c:v>8897</c:v>
                </c:pt>
                <c:pt idx="9">
                  <c:v>10747</c:v>
                </c:pt>
                <c:pt idx="10">
                  <c:v>12502</c:v>
                </c:pt>
                <c:pt idx="11">
                  <c:v>10555</c:v>
                </c:pt>
                <c:pt idx="12" formatCode="_-* #\ ##0_-;\-* #\ ##0_-;_-* &quot;-&quot;??_-;_-@_-">
                  <c:v>7417.59238</c:v>
                </c:pt>
                <c:pt idx="13" formatCode="_-* #\ ##0_-;\-* #\ ##0_-;_-* &quot;-&quot;??_-;_-@_-">
                  <c:v>9763.0397999999986</c:v>
                </c:pt>
                <c:pt idx="14" formatCode="_-* #\ ##0_-;\-* #\ ##0_-;_-* &quot;-&quot;??_-;_-@_-">
                  <c:v>8040.4698200000003</c:v>
                </c:pt>
                <c:pt idx="15" formatCode="_-* #\ ##0_-;\-* #\ ##0_-;_-* &quot;-&quot;??_-;_-@_-">
                  <c:v>7986.3695722200437</c:v>
                </c:pt>
                <c:pt idx="16" formatCode="_-* #\ ##0_-;\-* #\ ##0_-;_-* &quot;-&quot;??_-;_-@_-">
                  <c:v>9687.5969378453574</c:v>
                </c:pt>
                <c:pt idx="17" formatCode="_-* #\ ##0_-;\-* #\ ##0_-;_-* &quot;-&quot;??_-;_-@_-">
                  <c:v>6410.1495213064263</c:v>
                </c:pt>
                <c:pt idx="18" formatCode="_-* #\ ##0_-;\-* #\ ##0_-;_-* &quot;-&quot;??_-;_-@_-">
                  <c:v>6897.9600200686009</c:v>
                </c:pt>
                <c:pt idx="19" formatCode="_-* #\ ##0_-;\-* #\ ##0_-;_-* &quot;-&quot;??_-;_-@_-">
                  <c:v>7540.8547814430294</c:v>
                </c:pt>
                <c:pt idx="20" formatCode="_-* #\ ##0_-;\-* #\ ##0_-;_-* &quot;-&quot;??_-;_-@_-">
                  <c:v>8362.3314209770197</c:v>
                </c:pt>
                <c:pt idx="21" formatCode="_-* #\ ##0_-;\-* #\ ##0_-;_-* &quot;-&quot;??_-;_-@_-">
                  <c:v>10101.15497147803</c:v>
                </c:pt>
                <c:pt idx="22" formatCode="_-* #\ ##0_-;\-* #\ ##0_-;_-* &quot;-&quot;??_-;_-@_-">
                  <c:v>11750.687582899258</c:v>
                </c:pt>
                <c:pt idx="23" formatCode="_-* #\ ##0_-;\-* #\ ##0_-;_-* &quot;-&quot;??_-;_-@_-">
                  <c:v>9920.6932840746813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8-AF76-4118-804A-18DE0EA5D25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САМОКАТ (ДОСТАВКА)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AF76-4118-804A-18DE0EA5D257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AF76-4118-804A-18DE0EA5D257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AF76-4118-804A-18DE0EA5D257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AF76-4118-804A-18DE0EA5D257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2-AF76-4118-804A-18DE0EA5D257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3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4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5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6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7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8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9-AF76-4118-804A-18DE0EA5D257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A-AF76-4118-804A-18DE0EA5D257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B-AF76-4118-804A-18DE0EA5D257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C-AF76-4118-804A-18DE0EA5D257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D-AF76-4118-804A-18DE0EA5D257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E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F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0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Sheet1!$C$2:$C$37</c:f>
              <c:numCache>
                <c:formatCode>#,##0</c:formatCode>
                <c:ptCount val="24"/>
                <c:pt idx="0">
                  <c:v>1245</c:v>
                </c:pt>
                <c:pt idx="1">
                  <c:v>1160</c:v>
                </c:pt>
                <c:pt idx="2">
                  <c:v>5171</c:v>
                </c:pt>
                <c:pt idx="3">
                  <c:v>1649</c:v>
                </c:pt>
                <c:pt idx="4">
                  <c:v>1069</c:v>
                </c:pt>
                <c:pt idx="5">
                  <c:v>1083</c:v>
                </c:pt>
                <c:pt idx="6">
                  <c:v>2317</c:v>
                </c:pt>
                <c:pt idx="7">
                  <c:v>7818</c:v>
                </c:pt>
                <c:pt idx="8">
                  <c:v>5734</c:v>
                </c:pt>
                <c:pt idx="9">
                  <c:v>5433</c:v>
                </c:pt>
                <c:pt idx="10">
                  <c:v>4348</c:v>
                </c:pt>
                <c:pt idx="11">
                  <c:v>4763</c:v>
                </c:pt>
                <c:pt idx="12" formatCode="_-* #\ ##0_-;\-* #\ ##0_-;_-* &quot;-&quot;??_-;_-@_-">
                  <c:v>4664.9920400000001</c:v>
                </c:pt>
                <c:pt idx="13" formatCode="_-* #\ ##0_-;\-* #\ ##0_-;_-* &quot;-&quot;??_-;_-@_-">
                  <c:v>4843.7515100000001</c:v>
                </c:pt>
                <c:pt idx="14" formatCode="_-* #\ ##0_-;\-* #\ ##0_-;_-* &quot;-&quot;??_-;_-@_-">
                  <c:v>3213.0969100000002</c:v>
                </c:pt>
                <c:pt idx="15" formatCode="_-* #\ ##0_-;\-* #\ ##0_-;_-* &quot;-&quot;??_-;_-@_-">
                  <c:v>1504.955500618639</c:v>
                </c:pt>
                <c:pt idx="16" formatCode="_-* #\ ##0_-;\-* #\ ##0_-;_-* &quot;-&quot;??_-;_-@_-">
                  <c:v>975.62003041923901</c:v>
                </c:pt>
                <c:pt idx="17" formatCode="_-* #\ ##0_-;\-* #\ ##0_-;_-* &quot;-&quot;??_-;_-@_-">
                  <c:v>988.39709349301756</c:v>
                </c:pt>
                <c:pt idx="18" formatCode="_-* #\ ##0_-;\-* #\ ##0_-;_-* &quot;-&quot;??_-;_-@_-">
                  <c:v>2114.6039387103615</c:v>
                </c:pt>
                <c:pt idx="19" formatCode="_-* #\ ##0_-;\-* #\ ##0_-;_-* &quot;-&quot;??_-;_-@_-">
                  <c:v>7135.0770793429465</c:v>
                </c:pt>
                <c:pt idx="20" formatCode="_-* #\ ##0_-;\-* #\ ##0_-;_-* &quot;-&quot;??_-;_-@_-">
                  <c:v>5233.1199760747577</c:v>
                </c:pt>
                <c:pt idx="21" formatCode="_-* #\ ##0_-;\-* #\ ##0_-;_-* &quot;-&quot;??_-;_-@_-">
                  <c:v>4958.4131199885187</c:v>
                </c:pt>
                <c:pt idx="22" formatCode="_-* #\ ##0_-;\-* #\ ##0_-;_-* &quot;-&quot;??_-;_-@_-">
                  <c:v>3968.1907317706746</c:v>
                </c:pt>
                <c:pt idx="23" formatCode="_-* #\ ##0_-;\-* #\ ##0_-;_-* &quot;-&quot;??_-;_-@_-">
                  <c:v>4346.9393871719694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31-AF76-4118-804A-18DE0EA5D25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2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3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4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5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6-AF76-4118-804A-18DE0EA5D257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7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8-AF76-4118-804A-18DE0EA5D257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9-AF76-4118-804A-18DE0EA5D257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A-AF76-4118-804A-18DE0EA5D257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B-AF76-4118-804A-18DE0EA5D257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C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D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E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F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0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1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2-AF76-4118-804A-18DE0EA5D257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3-AF76-4118-804A-18DE0EA5D257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4-AF76-4118-804A-18DE0EA5D257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5-AF76-4118-804A-18DE0EA5D257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6-AF76-4118-804A-18DE0EA5D257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7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8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9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Sheet1!$D$2:$D$37</c:f>
              <c:numCache>
                <c:formatCode>#,##0</c:formatCode>
                <c:ptCount val="24"/>
                <c:pt idx="0">
                  <c:v>5558</c:v>
                </c:pt>
                <c:pt idx="1">
                  <c:v>5120</c:v>
                </c:pt>
                <c:pt idx="2">
                  <c:v>6552</c:v>
                </c:pt>
                <c:pt idx="3">
                  <c:v>7013</c:v>
                </c:pt>
                <c:pt idx="4">
                  <c:v>8484</c:v>
                </c:pt>
                <c:pt idx="5">
                  <c:v>5660</c:v>
                </c:pt>
                <c:pt idx="6">
                  <c:v>5761</c:v>
                </c:pt>
                <c:pt idx="7">
                  <c:v>5437</c:v>
                </c:pt>
                <c:pt idx="8">
                  <c:v>6554</c:v>
                </c:pt>
                <c:pt idx="9">
                  <c:v>8130</c:v>
                </c:pt>
                <c:pt idx="10">
                  <c:v>6652</c:v>
                </c:pt>
                <c:pt idx="11">
                  <c:v>6706</c:v>
                </c:pt>
                <c:pt idx="12" formatCode="_-* #\ ##0_-;\-* #\ ##0_-;_-* &quot;-&quot;??_-;_-@_-">
                  <c:v>3212.8358500000004</c:v>
                </c:pt>
                <c:pt idx="13" formatCode="_-* #\ ##0_-;\-* #\ ##0_-;_-* &quot;-&quot;??_-;_-@_-">
                  <c:v>8083.8521199999996</c:v>
                </c:pt>
                <c:pt idx="14" formatCode="_-* #\ ##0_-;\-* #\ ##0_-;_-* &quot;-&quot;??_-;_-@_-">
                  <c:v>6906.4005699999998</c:v>
                </c:pt>
                <c:pt idx="15" formatCode="_-* #\ ##0_-;\-* #\ ##0_-;_-* &quot;-&quot;??_-;_-@_-">
                  <c:v>7141.7901587223059</c:v>
                </c:pt>
                <c:pt idx="16" formatCode="_-* #\ ##0_-;\-* #\ ##0_-;_-* &quot;-&quot;??_-;_-@_-">
                  <c:v>7745.0591144256668</c:v>
                </c:pt>
                <c:pt idx="17" formatCode="_-* #\ ##0_-;\-* #\ ##0_-;_-* &quot;-&quot;??_-;_-@_-">
                  <c:v>5599.5765151038477</c:v>
                </c:pt>
                <c:pt idx="18" formatCode="_-* #\ ##0_-;\-* #\ ##0_-;_-* &quot;-&quot;??_-;_-@_-">
                  <c:v>8989.9192783438739</c:v>
                </c:pt>
                <c:pt idx="19" formatCode="_-* #\ ##0_-;\-* #\ ##0_-;_-* &quot;-&quot;??_-;_-@_-">
                  <c:v>6393.8994210423689</c:v>
                </c:pt>
                <c:pt idx="20" formatCode="_-* #\ ##0_-;\-* #\ ##0_-;_-* &quot;-&quot;??_-;_-@_-">
                  <c:v>6805.9823376219101</c:v>
                </c:pt>
                <c:pt idx="21" formatCode="_-* #\ ##0_-;\-* #\ ##0_-;_-* &quot;-&quot;??_-;_-@_-">
                  <c:v>5307.0808150988005</c:v>
                </c:pt>
                <c:pt idx="22" formatCode="_-* #\ ##0_-;\-* #\ ##0_-;_-* &quot;-&quot;??_-;_-@_-">
                  <c:v>7411.7578980614535</c:v>
                </c:pt>
                <c:pt idx="23" formatCode="_-* #\ ##0_-;\-* #\ ##0_-;_-* &quot;-&quot;??_-;_-@_-">
                  <c:v>6419.0397082293202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4A-AF76-4118-804A-18DE0EA5D25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КУПЕР</c:v>
                </c:pt>
              </c:strCache>
            </c:strRef>
          </c:tx>
          <c:spPr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B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C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D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E-AF76-4118-804A-18DE0EA5D257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F-AF76-4118-804A-18DE0EA5D257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0-AF76-4118-804A-18DE0EA5D257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1-AF76-4118-804A-18DE0EA5D257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2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3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4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5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6-AF76-4118-804A-18DE0EA5D257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7-AF76-4118-804A-18DE0EA5D257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8-AF76-4118-804A-18DE0EA5D257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9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A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B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Sheet1!$E$2:$E$37</c:f>
              <c:numCache>
                <c:formatCode>#,##0</c:formatCode>
                <c:ptCount val="24"/>
                <c:pt idx="0">
                  <c:v>2</c:v>
                </c:pt>
                <c:pt idx="1">
                  <c:v>3071</c:v>
                </c:pt>
                <c:pt idx="2">
                  <c:v>1429</c:v>
                </c:pt>
                <c:pt idx="3">
                  <c:v>890</c:v>
                </c:pt>
                <c:pt idx="4">
                  <c:v>44</c:v>
                </c:pt>
                <c:pt idx="5">
                  <c:v>0</c:v>
                </c:pt>
                <c:pt idx="6">
                  <c:v>643</c:v>
                </c:pt>
                <c:pt idx="7">
                  <c:v>4695</c:v>
                </c:pt>
                <c:pt idx="8">
                  <c:v>4788</c:v>
                </c:pt>
                <c:pt idx="9">
                  <c:v>2845</c:v>
                </c:pt>
                <c:pt idx="10">
                  <c:v>2453</c:v>
                </c:pt>
                <c:pt idx="11">
                  <c:v>4838</c:v>
                </c:pt>
                <c:pt idx="12" formatCode="_-* #\ ##0_-;\-* #\ ##0_-;_-* &quot;-&quot;??_-;_-@_-">
                  <c:v>0.68067</c:v>
                </c:pt>
                <c:pt idx="13" formatCode="_-* #\ ##0_-;\-* #\ ##0_-;_-* &quot;-&quot;??_-;_-@_-">
                  <c:v>2450.69596</c:v>
                </c:pt>
                <c:pt idx="14" formatCode="_-* #\ ##0_-;\-* #\ ##0_-;_-* &quot;-&quot;??_-;_-@_-">
                  <c:v>2791.34746</c:v>
                </c:pt>
                <c:pt idx="15" formatCode="_-* #\ ##0_-;\-* #\ ##0_-;_-* &quot;-&quot;??_-;_-@_-">
                  <c:v>695.31097027587714</c:v>
                </c:pt>
                <c:pt idx="16" formatCode="_-* #\ ##0_-;\-* #\ ##0_-;_-* &quot;-&quot;??_-;_-@_-">
                  <c:v>0</c:v>
                </c:pt>
                <c:pt idx="17" formatCode="_-* #\ ##0_-;\-* #\ ##0_-;_-* &quot;-&quot;??_-;_-@_-">
                  <c:v>0</c:v>
                </c:pt>
                <c:pt idx="18" formatCode="_-* #\ ##0_-;\-* #\ ##0_-;_-* &quot;-&quot;??_-;_-@_-">
                  <c:v>502.34264481729099</c:v>
                </c:pt>
                <c:pt idx="19" formatCode="_-* #\ ##0_-;\-* #\ ##0_-;_-* &quot;-&quot;??_-;_-@_-">
                  <c:v>3667.9606802755538</c:v>
                </c:pt>
                <c:pt idx="20" formatCode="_-* #\ ##0_-;\-* #\ ##0_-;_-* &quot;-&quot;??_-;_-@_-">
                  <c:v>3740.6167704279778</c:v>
                </c:pt>
                <c:pt idx="21" formatCode="_-* #\ ##0_-;\-* #\ ##0_-;_-* &quot;-&quot;??_-;_-@_-">
                  <c:v>2222.65136003918</c:v>
                </c:pt>
                <c:pt idx="22" formatCode="_-* #\ ##0_-;\-* #\ ##0_-;_-* &quot;-&quot;??_-;_-@_-">
                  <c:v>1916.402033805311</c:v>
                </c:pt>
                <c:pt idx="23" formatCode="_-* #\ ##0_-;\-* #\ ##0_-;_-* &quot;-&quot;??_-;_-@_-">
                  <c:v>3779.6791844884192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5C-AF76-4118-804A-18DE0EA5D25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ЯНДЕКС.ЛАВКА</c:v>
                </c:pt>
              </c:strCache>
            </c:strRef>
          </c:tx>
          <c:spPr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D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E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F-AF76-4118-804A-18DE0EA5D257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0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1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Sheet1!$F$2:$F$37</c:f>
              <c:numCache>
                <c:formatCode>#,##0</c:formatCode>
                <c:ptCount val="24"/>
                <c:pt idx="0">
                  <c:v>769</c:v>
                </c:pt>
                <c:pt idx="1">
                  <c:v>699</c:v>
                </c:pt>
                <c:pt idx="2">
                  <c:v>535</c:v>
                </c:pt>
                <c:pt idx="3">
                  <c:v>606</c:v>
                </c:pt>
                <c:pt idx="4">
                  <c:v>43</c:v>
                </c:pt>
                <c:pt idx="5">
                  <c:v>341</c:v>
                </c:pt>
                <c:pt idx="6">
                  <c:v>738</c:v>
                </c:pt>
                <c:pt idx="7">
                  <c:v>667</c:v>
                </c:pt>
                <c:pt idx="8">
                  <c:v>660</c:v>
                </c:pt>
                <c:pt idx="9">
                  <c:v>785</c:v>
                </c:pt>
                <c:pt idx="10">
                  <c:v>772</c:v>
                </c:pt>
                <c:pt idx="11">
                  <c:v>944</c:v>
                </c:pt>
                <c:pt idx="12" formatCode="_-* #\ ##0_-;\-* #\ ##0_-;_-* &quot;-&quot;??_-;_-@_-">
                  <c:v>0.84038999999999997</c:v>
                </c:pt>
                <c:pt idx="13" formatCode="_-* #\ ##0_-;\-* #\ ##0_-;_-* &quot;-&quot;??_-;_-@_-">
                  <c:v>0</c:v>
                </c:pt>
                <c:pt idx="14" formatCode="_-* #\ ##0_-;\-* #\ ##0_-;_-* &quot;-&quot;??_-;_-@_-">
                  <c:v>0</c:v>
                </c:pt>
                <c:pt idx="15" formatCode="_-* #\ ##0_-;\-* #\ ##0_-;_-* &quot;-&quot;??_-;_-@_-">
                  <c:v>603.06425485862064</c:v>
                </c:pt>
                <c:pt idx="16" formatCode="_-* #\ ##0_-;\-* #\ ##0_-;_-* &quot;-&quot;??_-;_-@_-">
                  <c:v>42.791688051024238</c:v>
                </c:pt>
                <c:pt idx="17" formatCode="_-* #\ ##0_-;\-* #\ ##0_-;_-* &quot;-&quot;??_-;_-@_-">
                  <c:v>339.34803779998288</c:v>
                </c:pt>
                <c:pt idx="18" formatCode="_-* #\ ##0_-;\-* #\ ##0_-;_-* &quot;-&quot;??_-;_-@_-">
                  <c:v>734.42478561990436</c:v>
                </c:pt>
                <c:pt idx="19" formatCode="_-* #\ ##0_-;\-* #\ ##0_-;_-* &quot;-&quot;??_-;_-@_-">
                  <c:v>663.76874255891084</c:v>
                </c:pt>
                <c:pt idx="20" formatCode="_-* #\ ##0_-;\-* #\ ##0_-;_-* &quot;-&quot;??_-;_-@_-">
                  <c:v>656.80265380641856</c:v>
                </c:pt>
                <c:pt idx="21" formatCode="_-* #\ ##0_-;\-* #\ ##0_-;_-* &quot;-&quot;??_-;_-@_-">
                  <c:v>781.19709581520976</c:v>
                </c:pt>
                <c:pt idx="22" formatCode="_-* #\ ##0_-;\-* #\ ##0_-;_-* &quot;-&quot;??_-;_-@_-">
                  <c:v>768.26007384629565</c:v>
                </c:pt>
                <c:pt idx="23" formatCode="_-* #\ ##0_-;\-* #\ ##0_-;_-* &quot;-&quot;??_-;_-@_-">
                  <c:v>939.42682605039238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62-AF76-4118-804A-18DE0EA5D25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ЛЕНТА</c:v>
                </c:pt>
              </c:strCache>
            </c:strRef>
          </c:tx>
          <c:spPr>
            <a:prstGeom prst="rect">
              <a:avLst/>
            </a:prstGeom>
            <a:solidFill>
              <a:srgbClr val="4472C4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3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4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5-AF76-4118-804A-18DE0EA5D257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6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7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8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9-AF76-4118-804A-18DE0EA5D257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A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B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Sheet1!$G$2:$G$37</c:f>
              <c:numCache>
                <c:formatCode>#,##0</c:formatCode>
                <c:ptCount val="24"/>
                <c:pt idx="0">
                  <c:v>267</c:v>
                </c:pt>
                <c:pt idx="1">
                  <c:v>944</c:v>
                </c:pt>
                <c:pt idx="2">
                  <c:v>384</c:v>
                </c:pt>
                <c:pt idx="3">
                  <c:v>1057</c:v>
                </c:pt>
                <c:pt idx="4">
                  <c:v>997</c:v>
                </c:pt>
                <c:pt idx="5">
                  <c:v>413</c:v>
                </c:pt>
                <c:pt idx="6">
                  <c:v>69</c:v>
                </c:pt>
                <c:pt idx="7">
                  <c:v>1190</c:v>
                </c:pt>
                <c:pt idx="8">
                  <c:v>502</c:v>
                </c:pt>
                <c:pt idx="9">
                  <c:v>883</c:v>
                </c:pt>
                <c:pt idx="10">
                  <c:v>876</c:v>
                </c:pt>
                <c:pt idx="11">
                  <c:v>2313</c:v>
                </c:pt>
                <c:pt idx="12" formatCode="_-* #\ ##0_-;\-* #\ ##0_-;_-* &quot;-&quot;??_-;_-@_-">
                  <c:v>89.002390000000005</c:v>
                </c:pt>
                <c:pt idx="13" formatCode="_-* #\ ##0_-;\-* #\ ##0_-;_-* &quot;-&quot;??_-;_-@_-">
                  <c:v>71.650310000000005</c:v>
                </c:pt>
                <c:pt idx="14" formatCode="_-* #\ ##0_-;\-* #\ ##0_-;_-* &quot;-&quot;??_-;_-@_-">
                  <c:v>81.961349999999996</c:v>
                </c:pt>
                <c:pt idx="15" formatCode="_-* #\ ##0_-;\-* #\ ##0_-;_-* &quot;-&quot;??_-;_-@_-">
                  <c:v>897.36458372041159</c:v>
                </c:pt>
                <c:pt idx="16" formatCode="_-* #\ ##0_-;\-* #\ ##0_-;_-* &quot;-&quot;??_-;_-@_-">
                  <c:v>846.42619675425772</c:v>
                </c:pt>
                <c:pt idx="17" formatCode="_-* #\ ##0_-;\-* #\ ##0_-;_-* &quot;-&quot;??_-;_-@_-">
                  <c:v>350.62589695035945</c:v>
                </c:pt>
                <c:pt idx="18" formatCode="_-* #\ ##0_-;\-* #\ ##0_-;_-* &quot;-&quot;??_-;_-@_-">
                  <c:v>58.579145011077003</c:v>
                </c:pt>
                <c:pt idx="19" formatCode="_-* #\ ##0_-;\-* #\ ##0_-;_-* &quot;-&quot;??_-;_-@_-">
                  <c:v>1010.2780081620527</c:v>
                </c:pt>
                <c:pt idx="20" formatCode="_-* #\ ##0_-;\-* #\ ##0_-;_-* &quot;-&quot;??_-;_-@_-">
                  <c:v>426.1845042834878</c:v>
                </c:pt>
                <c:pt idx="21" formatCode="_-* #\ ##0_-;\-* #\ ##0_-;_-* &quot;-&quot;??_-;_-@_-">
                  <c:v>749.64326151856517</c:v>
                </c:pt>
                <c:pt idx="22" formatCode="_-* #\ ##0_-;\-* #\ ##0_-;_-* &quot;-&quot;??_-;_-@_-">
                  <c:v>743.70044970584729</c:v>
                </c:pt>
                <c:pt idx="23" formatCode="_-* #\ ##0_-;\-* #\ ##0_-;_-* &quot;-&quot;??_-;_-@_-">
                  <c:v>1963.6748175452335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C-AF76-4118-804A-18DE0EA5D25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D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E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F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0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1-AF76-4118-804A-18DE0EA5D257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2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3-AF76-4118-804A-18DE0EA5D257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4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5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6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7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8-AF76-4118-804A-18DE0EA5D257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9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Sheet1!$H$2:$H$37</c:f>
              <c:numCache>
                <c:formatCode>#,##0</c:formatCode>
                <c:ptCount val="24"/>
                <c:pt idx="0">
                  <c:v>1078</c:v>
                </c:pt>
                <c:pt idx="1">
                  <c:v>1030</c:v>
                </c:pt>
                <c:pt idx="2">
                  <c:v>989</c:v>
                </c:pt>
                <c:pt idx="3">
                  <c:v>1119</c:v>
                </c:pt>
                <c:pt idx="4">
                  <c:v>1145</c:v>
                </c:pt>
                <c:pt idx="5">
                  <c:v>746</c:v>
                </c:pt>
                <c:pt idx="6">
                  <c:v>752</c:v>
                </c:pt>
                <c:pt idx="7">
                  <c:v>834</c:v>
                </c:pt>
                <c:pt idx="8">
                  <c:v>1062</c:v>
                </c:pt>
                <c:pt idx="9">
                  <c:v>806</c:v>
                </c:pt>
                <c:pt idx="10">
                  <c:v>613</c:v>
                </c:pt>
                <c:pt idx="11">
                  <c:v>803</c:v>
                </c:pt>
                <c:pt idx="12" formatCode="_-* #\ ##0_-;\-* #\ ##0_-;_-* &quot;-&quot;??_-;_-@_-">
                  <c:v>1958.34301</c:v>
                </c:pt>
                <c:pt idx="13" formatCode="_-* #\ ##0_-;\-* #\ ##0_-;_-* &quot;-&quot;??_-;_-@_-">
                  <c:v>1859.62941</c:v>
                </c:pt>
                <c:pt idx="14" formatCode="_-* #\ ##0_-;\-* #\ ##0_-;_-* &quot;-&quot;??_-;_-@_-">
                  <c:v>2138.5464999999999</c:v>
                </c:pt>
                <c:pt idx="15" formatCode="_-* #\ ##0_-;\-* #\ ##0_-;_-* &quot;-&quot;??_-;_-@_-">
                  <c:v>965.49654554663789</c:v>
                </c:pt>
                <c:pt idx="16" formatCode="_-* #\ ##0_-;\-* #\ ##0_-;_-* &quot;-&quot;??_-;_-@_-">
                  <c:v>227.58048126188535</c:v>
                </c:pt>
                <c:pt idx="17" formatCode="_-* #\ ##0_-;\-* #\ ##0_-;_-* &quot;-&quot;??_-;_-@_-">
                  <c:v>247.71756443432849</c:v>
                </c:pt>
                <c:pt idx="18" formatCode="_-* #\ ##0_-;\-* #\ ##0_-;_-* &quot;-&quot;??_-;_-@_-">
                  <c:v>275.90844399130668</c:v>
                </c:pt>
                <c:pt idx="19" formatCode="_-* #\ ##0_-;\-* #\ ##0_-;_-* &quot;-&quot;??_-;_-@_-">
                  <c:v>616.35065829192206</c:v>
                </c:pt>
                <c:pt idx="20" formatCode="_-* #\ ##0_-;\-* #\ ##0_-;_-* &quot;-&quot;??_-;_-@_-">
                  <c:v>1117.8616294277251</c:v>
                </c:pt>
                <c:pt idx="21" formatCode="_-* #\ ##0_-;\-* #\ ##0_-;_-* &quot;-&quot;??_-;_-@_-">
                  <c:v>580.01446153148152</c:v>
                </c:pt>
                <c:pt idx="22" formatCode="_-* #\ ##0_-;\-* #\ ##0_-;_-* &quot;-&quot;??_-;_-@_-">
                  <c:v>312.31963015982694</c:v>
                </c:pt>
                <c:pt idx="23" formatCode="_-* #\ ##0_-;\-* #\ ##0_-;_-* &quot;-&quot;??_-;_-@_-">
                  <c:v>240.00985573313687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A-AF76-4118-804A-18DE0EA5D257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ЧИЖИК (СУПЕРМАРКЕТ)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B-AF76-4118-804A-18DE0EA5D257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C-AF76-4118-804A-18DE0EA5D257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D-AF76-4118-804A-18DE0EA5D257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E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F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0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1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2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3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4-AF76-4118-804A-18DE0EA5D257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5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Sheet1!$I$2:$I$37</c:f>
              <c:numCache>
                <c:formatCode>#,##0</c:formatCode>
                <c:ptCount val="24"/>
                <c:pt idx="0">
                  <c:v>411</c:v>
                </c:pt>
                <c:pt idx="1">
                  <c:v>412</c:v>
                </c:pt>
                <c:pt idx="2">
                  <c:v>557</c:v>
                </c:pt>
                <c:pt idx="3">
                  <c:v>736</c:v>
                </c:pt>
                <c:pt idx="4">
                  <c:v>690</c:v>
                </c:pt>
                <c:pt idx="5">
                  <c:v>808</c:v>
                </c:pt>
                <c:pt idx="6">
                  <c:v>637</c:v>
                </c:pt>
                <c:pt idx="7">
                  <c:v>550</c:v>
                </c:pt>
                <c:pt idx="8">
                  <c:v>447</c:v>
                </c:pt>
                <c:pt idx="9">
                  <c:v>1061</c:v>
                </c:pt>
                <c:pt idx="10">
                  <c:v>905</c:v>
                </c:pt>
                <c:pt idx="11">
                  <c:v>1437</c:v>
                </c:pt>
                <c:pt idx="12" formatCode="_-* #\ ##0_-;\-* #\ ##0_-;_-* &quot;-&quot;??_-;_-@_-">
                  <c:v>794.83302000000003</c:v>
                </c:pt>
                <c:pt idx="13" formatCode="_-* #\ ##0_-;\-* #\ ##0_-;_-* &quot;-&quot;??_-;_-@_-">
                  <c:v>808.21623999999997</c:v>
                </c:pt>
                <c:pt idx="14" formatCode="_-* #\ ##0_-;\-* #\ ##0_-;_-* &quot;-&quot;??_-;_-@_-">
                  <c:v>649.13323000000003</c:v>
                </c:pt>
                <c:pt idx="15" formatCode="_-* #\ ##0_-;\-* #\ ##0_-;_-* &quot;-&quot;??_-;_-@_-">
                  <c:v>1108.4209631128472</c:v>
                </c:pt>
                <c:pt idx="16" formatCode="_-* #\ ##0_-;\-* #\ ##0_-;_-* &quot;-&quot;??_-;_-@_-">
                  <c:v>1075.0896724904451</c:v>
                </c:pt>
                <c:pt idx="17" formatCode="_-* #\ ##0_-;\-* #\ ##0_-;_-* &quot;-&quot;??_-;_-@_-">
                  <c:v>0</c:v>
                </c:pt>
                <c:pt idx="18" formatCode="_-* #\ ##0_-;\-* #\ ##0_-;_-* &quot;-&quot;??_-;_-@_-">
                  <c:v>0</c:v>
                </c:pt>
                <c:pt idx="19" formatCode="_-* #\ ##0_-;\-* #\ ##0_-;_-* &quot;-&quot;??_-;_-@_-">
                  <c:v>735.41365788106043</c:v>
                </c:pt>
                <c:pt idx="20" formatCode="_-* #\ ##0_-;\-* #\ ##0_-;_-* &quot;-&quot;??_-;_-@_-">
                  <c:v>707.0252559528119</c:v>
                </c:pt>
                <c:pt idx="21" formatCode="_-* #\ ##0_-;\-* #\ ##0_-;_-* &quot;-&quot;??_-;_-@_-">
                  <c:v>528.99263911629657</c:v>
                </c:pt>
                <c:pt idx="22" formatCode="_-* #\ ##0_-;\-* #\ ##0_-;_-* &quot;-&quot;??_-;_-@_-">
                  <c:v>989.27965386558151</c:v>
                </c:pt>
                <c:pt idx="23" formatCode="_-* #\ ##0_-;\-* #\ ##0_-;_-* &quot;-&quot;??_-;_-@_-">
                  <c:v>1296.3936417665691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6-AF76-4118-804A-18DE0EA5D257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7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8-AF76-4118-804A-18DE0EA5D257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9-AF76-4118-804A-18DE0EA5D257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A-AF76-4118-804A-18DE0EA5D257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B-AF76-4118-804A-18DE0EA5D257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C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Sheet1!$J$2:$J$37</c:f>
              <c:numCache>
                <c:formatCode>_-* #\ ##0_-;\-* #\ ##0_-;_-* "-"??_-;_-@_-</c:formatCode>
                <c:ptCount val="24"/>
                <c:pt idx="0">
                  <c:v>537.39347999999995</c:v>
                </c:pt>
                <c:pt idx="1">
                  <c:v>657.92246</c:v>
                </c:pt>
                <c:pt idx="2">
                  <c:v>592.62944000000005</c:v>
                </c:pt>
                <c:pt idx="3">
                  <c:v>634.53862000000004</c:v>
                </c:pt>
                <c:pt idx="4">
                  <c:v>688.42931999999996</c:v>
                </c:pt>
                <c:pt idx="5">
                  <c:v>495.74876</c:v>
                </c:pt>
                <c:pt idx="6">
                  <c:v>553.47808999999995</c:v>
                </c:pt>
                <c:pt idx="7">
                  <c:v>688.76784999999995</c:v>
                </c:pt>
                <c:pt idx="8">
                  <c:v>693.92161999999996</c:v>
                </c:pt>
                <c:pt idx="9">
                  <c:v>645.02751000000001</c:v>
                </c:pt>
                <c:pt idx="10">
                  <c:v>752.23401999999999</c:v>
                </c:pt>
                <c:pt idx="11">
                  <c:v>716.14194999999995</c:v>
                </c:pt>
                <c:pt idx="12">
                  <c:v>606.33964000000003</c:v>
                </c:pt>
                <c:pt idx="13">
                  <c:v>584.25787000000003</c:v>
                </c:pt>
                <c:pt idx="14">
                  <c:v>690.15916000000004</c:v>
                </c:pt>
                <c:pt idx="15">
                  <c:v>661.38059093827383</c:v>
                </c:pt>
                <c:pt idx="16">
                  <c:v>717.55095139967034</c:v>
                </c:pt>
                <c:pt idx="17">
                  <c:v>516.71970390977367</c:v>
                </c:pt>
                <c:pt idx="18">
                  <c:v>576.8910743928983</c:v>
                </c:pt>
                <c:pt idx="19">
                  <c:v>717.90380174540712</c:v>
                </c:pt>
                <c:pt idx="20">
                  <c:v>723.2755842354311</c:v>
                </c:pt>
                <c:pt idx="21">
                  <c:v>672.31317730549347</c:v>
                </c:pt>
                <c:pt idx="22">
                  <c:v>784.05468948678515</c:v>
                </c:pt>
                <c:pt idx="23">
                  <c:v>746.4358687682203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D-AF76-4118-804A-18DE0EA5D257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Другие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E-AF76-4118-804A-18DE0EA5D257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F-AF76-4118-804A-18DE0EA5D257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0-AF76-4118-804A-18DE0EA5D257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1-AF76-4118-804A-18DE0EA5D257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2-AF76-4118-804A-18DE0EA5D257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3-AF76-4118-804A-18DE0EA5D257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4-AF76-4118-804A-18DE0EA5D257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5-AF76-4118-804A-18DE0EA5D257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96-AF76-4118-804A-18DE0EA5D25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Sheet1!$K$2:$K$37</c:f>
              <c:numCache>
                <c:formatCode>_-* #\ ##0_-;\-* #\ ##0_-;_-* "-"??_-;_-@_-</c:formatCode>
                <c:ptCount val="24"/>
                <c:pt idx="0">
                  <c:v>619.55718000000002</c:v>
                </c:pt>
                <c:pt idx="1">
                  <c:v>727.94947000000002</c:v>
                </c:pt>
                <c:pt idx="2">
                  <c:v>845.33965000000001</c:v>
                </c:pt>
                <c:pt idx="3">
                  <c:v>723.80529000000001</c:v>
                </c:pt>
                <c:pt idx="4">
                  <c:v>745.24296000000004</c:v>
                </c:pt>
                <c:pt idx="5">
                  <c:v>450.07603</c:v>
                </c:pt>
                <c:pt idx="6">
                  <c:v>499.21222999999998</c:v>
                </c:pt>
                <c:pt idx="7">
                  <c:v>517.53856000000007</c:v>
                </c:pt>
                <c:pt idx="8">
                  <c:v>650.58813999999995</c:v>
                </c:pt>
                <c:pt idx="9">
                  <c:v>912.60207000000014</c:v>
                </c:pt>
                <c:pt idx="10">
                  <c:v>905.83240000000001</c:v>
                </c:pt>
                <c:pt idx="11">
                  <c:v>1630.03658</c:v>
                </c:pt>
                <c:pt idx="12">
                  <c:v>691.62801999999999</c:v>
                </c:pt>
                <c:pt idx="13">
                  <c:v>1239.20551</c:v>
                </c:pt>
                <c:pt idx="14">
                  <c:v>1012.0349900000001</c:v>
                </c:pt>
                <c:pt idx="15">
                  <c:v>445.60285860481218</c:v>
                </c:pt>
                <c:pt idx="16">
                  <c:v>475.50462626231575</c:v>
                </c:pt>
                <c:pt idx="17">
                  <c:v>337.6149150725908</c:v>
                </c:pt>
                <c:pt idx="18">
                  <c:v>374.78436567381232</c:v>
                </c:pt>
                <c:pt idx="19">
                  <c:v>349.21288489567098</c:v>
                </c:pt>
                <c:pt idx="20">
                  <c:v>407.50385542293634</c:v>
                </c:pt>
                <c:pt idx="21">
                  <c:v>530.89776482083153</c:v>
                </c:pt>
                <c:pt idx="22">
                  <c:v>506.58709765062321</c:v>
                </c:pt>
                <c:pt idx="23">
                  <c:v>781.49698695788334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97-AF76-4118-804A-18DE0EA5D257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Total</c:v>
                </c:pt>
              </c:strCache>
            </c:strRef>
          </c:tx>
          <c:spPr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600" b="1"/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Sheet1!$L$2:$L$37</c:f>
              <c:numCache>
                <c:formatCode>#,##0</c:formatCode>
                <c:ptCount val="24"/>
                <c:pt idx="0">
                  <c:v>16511.950660000002</c:v>
                </c:pt>
                <c:pt idx="1">
                  <c:v>22334.871930000001</c:v>
                </c:pt>
                <c:pt idx="2">
                  <c:v>26906.969090000002</c:v>
                </c:pt>
                <c:pt idx="3">
                  <c:v>22925.34391</c:v>
                </c:pt>
                <c:pt idx="4">
                  <c:v>24212.672279999999</c:v>
                </c:pt>
                <c:pt idx="5">
                  <c:v>16816.824789999999</c:v>
                </c:pt>
                <c:pt idx="6">
                  <c:v>19308.690320000002</c:v>
                </c:pt>
                <c:pt idx="7">
                  <c:v>30420.306410000001</c:v>
                </c:pt>
                <c:pt idx="8">
                  <c:v>29988.509760000001</c:v>
                </c:pt>
                <c:pt idx="9">
                  <c:v>32247.629580000001</c:v>
                </c:pt>
                <c:pt idx="10">
                  <c:v>30779.066419999999</c:v>
                </c:pt>
                <c:pt idx="11">
                  <c:v>34705.178529999997</c:v>
                </c:pt>
                <c:pt idx="12">
                  <c:v>19437.087409999996</c:v>
                </c:pt>
                <c:pt idx="13">
                  <c:v>29704.298730000002</c:v>
                </c:pt>
                <c:pt idx="14">
                  <c:v>25523.149990000002</c:v>
                </c:pt>
                <c:pt idx="15">
                  <c:v>22009.755998618471</c:v>
                </c:pt>
                <c:pt idx="16">
                  <c:v>21793.219698909859</c:v>
                </c:pt>
                <c:pt idx="17">
                  <c:v>14790.149248070325</c:v>
                </c:pt>
                <c:pt idx="18">
                  <c:v>20525.413696629123</c:v>
                </c:pt>
                <c:pt idx="19">
                  <c:v>28830.719715638923</c:v>
                </c:pt>
                <c:pt idx="20">
                  <c:v>28180.703988230474</c:v>
                </c:pt>
                <c:pt idx="21">
                  <c:v>26432.358666712407</c:v>
                </c:pt>
                <c:pt idx="22">
                  <c:v>29151.239841251656</c:v>
                </c:pt>
                <c:pt idx="23">
                  <c:v>30433.789560785823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98-AF76-4118-804A-18DE0EA5D2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44575"/>
        <c:crosses val="autoZero"/>
        <c:auto val="1"/>
        <c:lblOffset val="100"/>
        <c:baseTimeUnit val="months"/>
        <c:majorUnit val="1"/>
      </c:dateAx>
      <c:valAx>
        <c:axId val="2143344575"/>
        <c:scaling>
          <c:orientation val="minMax"/>
          <c:max val="6000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bg1">
                    <a:lumMod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38335"/>
        <c:crosses val="autoZero"/>
        <c:crossBetween val="between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200371" y="4017958"/>
      <a:ext cx="7306740" cy="246562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0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 algn="ctr" rtl="0">
              <a:defRPr lang="ru-RU" sz="1200" b="0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+mn-ea"/>
                <a:cs typeface="+mn-cs"/>
              </a:rPr>
              <a:t>Инвестиции (млн. руб) и SOS (%) по брендам</a:t>
            </a:r>
          </a:p>
        </c:rich>
      </c:tx>
      <c:layout>
        <c:manualLayout>
          <c:xMode val="edge"/>
          <c:yMode val="edge"/>
          <c:x val="0.10081621914464343"/>
          <c:y val="4.6600187735044075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2.6879E-2"/>
          <c:y val="0.18551000000000001"/>
          <c:w val="0.68690215693270873"/>
          <c:h val="0.629530175372818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Sheet1!$B$2:$B$3</c:f>
              <c:numCache>
                <c:formatCode>_-* #\ ##0_-;\-* #\ ##0_-;_-* "-"??_-;_-@_-</c:formatCode>
                <c:ptCount val="2"/>
                <c:pt idx="0">
                  <c:v>724888646.75000036</c:v>
                </c:pt>
                <c:pt idx="1">
                  <c:v>1086686692.6000018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2-D25F-495B-AC32-230884550D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САМОКАТ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Sheet1!$C$2:$C$3</c:f>
              <c:numCache>
                <c:formatCode>_-* #\ ##0_-;\-* #\ ##0_-;_-* "-"??_-;_-@_-</c:formatCode>
                <c:ptCount val="2"/>
                <c:pt idx="0">
                  <c:v>356765998.05000108</c:v>
                </c:pt>
                <c:pt idx="1">
                  <c:v>833472831.05000257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5-D25F-495B-AC32-230884550D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Sheet1!$D$2:$D$3</c:f>
              <c:numCache>
                <c:formatCode>_-* #\ ##0_-;\-* #\ ##0_-;_-* "-"??_-;_-@_-</c:formatCode>
                <c:ptCount val="2"/>
                <c:pt idx="0">
                  <c:v>452911029.79999977</c:v>
                </c:pt>
                <c:pt idx="1">
                  <c:v>713537561.35000312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8-D25F-495B-AC32-230884550D4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Sheet1!$E$2:$E$3</c:f>
              <c:numCache>
                <c:formatCode>_-* #\ ##0_-;\-* #\ ##0_-;_-* "-"??_-;_-@_-</c:formatCode>
                <c:ptCount val="2"/>
                <c:pt idx="0">
                  <c:v>91207723.750000045</c:v>
                </c:pt>
                <c:pt idx="1">
                  <c:v>251110840.6499998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B-D25F-495B-AC32-230884550D4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КУПЕР</c:v>
                </c:pt>
              </c:strCache>
            </c:strRef>
          </c:tx>
          <c:spPr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Sheet1!$F$2:$F$3</c:f>
              <c:numCache>
                <c:formatCode>_-* #\ ##0_-;\-* #\ ##0_-;_-* "-"??_-;_-@_-</c:formatCode>
                <c:ptCount val="2"/>
                <c:pt idx="0">
                  <c:v>299674912.5</c:v>
                </c:pt>
                <c:pt idx="1">
                  <c:v>230254958.69999999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E-D25F-495B-AC32-230884550D4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ЧИЖИК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Sheet1!$G$2:$G$3</c:f>
              <c:numCache>
                <c:formatCode>_-* #\ ##0_-;\-* #\ ##0_-;_-* "-"??_-;_-@_-</c:formatCode>
                <c:ptCount val="2"/>
                <c:pt idx="0">
                  <c:v>61904065.299999878</c:v>
                </c:pt>
                <c:pt idx="1">
                  <c:v>113245315.14999977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1-D25F-495B-AC32-230884550D4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Sheet1!$H$2:$H$3</c:f>
              <c:numCache>
                <c:formatCode>_-* #\ ##0_-;\-* #\ ##0_-;_-* "-"??_-;_-@_-</c:formatCode>
                <c:ptCount val="2"/>
                <c:pt idx="0">
                  <c:v>77516783.850000039</c:v>
                </c:pt>
                <c:pt idx="1">
                  <c:v>86307020.799999923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4-D25F-495B-AC32-230884550D44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OZON FRESH</c:v>
                </c:pt>
              </c:strCache>
            </c:strRef>
          </c:tx>
          <c:spPr>
            <a:prstGeom prst="rect">
              <a:avLst/>
            </a:prstGeom>
            <a:solidFill>
              <a:srgbClr val="DEEBF7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Sheet1!$I$2:$I$3</c:f>
              <c:numCache>
                <c:formatCode>_-* #\ ##0_-;\-* #\ ##0_-;_-* "-"??_-;_-@_-</c:formatCode>
                <c:ptCount val="2"/>
                <c:pt idx="0">
                  <c:v>27955470.400000021</c:v>
                </c:pt>
                <c:pt idx="1">
                  <c:v>57820307.600000016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D25F-495B-AC32-230884550D44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АШАН</c:v>
                </c:pt>
              </c:strCache>
            </c:strRef>
          </c:tx>
          <c:spPr>
            <a:prstGeom prst="rect">
              <a:avLst/>
            </a:prstGeom>
            <a:solidFill>
              <a:srgbClr val="FF5050"/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7.0447663002787255E-3"/>
                  <c:y val="4.6600187735044075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BF0-4DFC-BF0D-2563E693892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Sheet1!$J$2:$J$3</c:f>
              <c:numCache>
                <c:formatCode>_-* #\ ##0_-;\-* #\ ##0_-;_-* "-"??_-;_-@_-</c:formatCode>
                <c:ptCount val="2"/>
                <c:pt idx="0">
                  <c:v>130043552.64999998</c:v>
                </c:pt>
                <c:pt idx="1">
                  <c:v>51886266.84999992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D25F-495B-AC32-230884550D44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other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Sheet1!$K$2:$K$3</c:f>
              <c:numCache>
                <c:formatCode>_-* #\ ##0_-;\-* #\ ##0_-;_-* "-"??_-;_-@_-</c:formatCode>
                <c:ptCount val="2"/>
                <c:pt idx="0">
                  <c:v>422197770.50000018</c:v>
                </c:pt>
                <c:pt idx="1">
                  <c:v>93672608.150000066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9-D25F-495B-AC32-230884550D44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Sheet1!$L$2:$L$3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0-9BF0-4DFC-BF0D-2563E693892A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2143338335"/>
        <c:axId val="2143344575"/>
      </c:barChart>
      <c:catAx>
        <c:axId val="2143338335"/>
        <c:scaling>
          <c:orientation val="minMax"/>
        </c:scaling>
        <c:delete val="0"/>
        <c:axPos val="b"/>
        <c:numFmt formatCode="General" sourceLinked="1"/>
        <c:majorTickMark val="out"/>
        <c:minorTickMark val="cross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2143344575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3344575"/>
        <c:scaling>
          <c:orientation val="minMax"/>
          <c:max val="1200000000"/>
          <c:min val="1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 w="12700" cap="flat" cmpd="sng" algn="ctr">
            <a:solidFill>
              <a:srgbClr val="7F7F7F"/>
            </a:solidFill>
            <a:prstDash val="solid"/>
            <a:miter lim="800000"/>
          </a:ln>
          <a:effectLst/>
        </c:spPr>
        <c:txPr>
          <a:bodyPr rot="-60000000" vert="horz"/>
          <a:lstStyle/>
          <a:p>
            <a:pPr algn="ctr">
              <a:defRPr>
                <a:solidFill>
                  <a:srgbClr val="7F7F7F"/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2143338335"/>
        <c:crosses val="autoZero"/>
        <c:crossBetween val="between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0"/>
        <c:delete val="1"/>
      </c:legendEntry>
      <c:layout>
        <c:manualLayout>
          <c:xMode val="edge"/>
          <c:yMode val="edge"/>
          <c:x val="0.75438560970580204"/>
          <c:y val="0.12848108739553316"/>
          <c:w val="0.15479029547386247"/>
          <c:h val="0.82113400239238754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ru-RU"/>
        </a:p>
      </c:txPr>
    </c:legend>
    <c:plotVisOnly val="1"/>
    <c:dispBlanksAs val="gap"/>
    <c:showDLblsOverMax val="0"/>
  </c:chart>
  <c:spPr>
    <a:xfrm>
      <a:off x="636608" y="972274"/>
      <a:ext cx="7211027" cy="299784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ru-RU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767E-2"/>
          <c:y val="0.17550099999999999"/>
          <c:w val="0.91246700000000003"/>
          <c:h val="0.5052481570096112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1E487B5-AC9D-466D-A791-8AD98B86013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6DB5-483C-9930-0B7CD88ED857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58DF166-2448-44C2-AB27-FFF77AE0DC0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6DB5-483C-9930-0B7CD88ED8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 formatCode="#,##0">
                  <c:v>702251040.85000014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Лист1!$B$5:$B$6</c15:f>
                <c15:dlblRangeCache>
                  <c:ptCount val="2"/>
                  <c:pt idx="0">
                    <c:v>93%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6DB5-483C-9930-0B7CD88ED857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8536D25B-6136-4C7B-AA86-C3E6C65583D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3-6DB5-483C-9930-0B7CD88ED857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22E3ADA-FA3C-4F4F-BD63-48E21E63AFF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4-6DB5-483C-9930-0B7CD88ED8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Лист1!$C$2:$C$3</c:f>
              <c:numCache>
                <c:formatCode>#,##0</c:formatCode>
                <c:ptCount val="2"/>
                <c:pt idx="1">
                  <c:v>588163220.65000224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Лист1!$C$5:$C$6</c15:f>
                <c15:dlblRangeCache>
                  <c:ptCount val="2"/>
                  <c:pt idx="1">
                    <c:v>72%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5-6DB5-483C-9930-0B7CD88ED857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ЧИЖИК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EF09D38-A766-471D-A830-D42C8D66A07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6-6DB5-483C-9930-0B7CD88ED857}"/>
                </c:ext>
              </c:extLst>
            </c:dLbl>
            <c:dLbl>
              <c:idx val="1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200" b="0" i="0" u="none" strike="noStrike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fld id="{0DB93F2A-07AE-48AB-8956-A3E9905DDAD4}" type="CELLRANGE">
                      <a:rPr lang="en-US">
                        <a:solidFill>
                          <a:schemeClr val="tx1"/>
                        </a:solidFill>
                      </a:rPr>
                      <a:pPr>
                        <a:defRPr sz="1200" b="0" i="0" u="none" strike="noStrik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t>[ДИАПАЗОН ЯЧЕЕК]</a:t>
                    </a:fld>
                    <a:endParaRPr lang="ru-RU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6DB5-483C-9930-0B7CD88ED8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Лист1!$D$2:$D$3</c:f>
              <c:numCache>
                <c:formatCode>#,##0</c:formatCode>
                <c:ptCount val="2"/>
                <c:pt idx="1">
                  <c:v>69209203.799999893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Лист1!$D$5:$D$6</c15:f>
                <c15:dlblRangeCache>
                  <c:ptCount val="2"/>
                  <c:pt idx="1">
                    <c:v>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8-6DB5-483C-9930-0B7CD88ED857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D75F7CC-D7A7-4A4C-9CAF-CFA8A5A712E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6DB5-483C-9930-0B7CD88ED857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087B1A1-B4B9-4575-8654-46CFB48B842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A-6DB5-483C-9930-0B7CD88ED8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Лист1!$E$2:$E$3</c:f>
              <c:numCache>
                <c:formatCode>#,##0</c:formatCode>
                <c:ptCount val="2"/>
                <c:pt idx="1">
                  <c:v>160657697.20000017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Лист1!$E$5:$E$6</c15:f>
                <c15:dlblRangeCache>
                  <c:ptCount val="2"/>
                  <c:pt idx="1">
                    <c:v>20%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B-6DB5-483C-9930-0B7CD88ED857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FF07275-872B-49D2-9082-D9A7A724787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6DB5-483C-9930-0B7CD88ED857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155138E7-8527-4CB9-B740-0751C3CC5F8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D-6DB5-483C-9930-0B7CD88ED8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Лист1!$F$2:$F$3</c:f>
              <c:numCache>
                <c:formatCode>General</c:formatCode>
                <c:ptCount val="2"/>
                <c:pt idx="0" formatCode="#,##0">
                  <c:v>53036284.950000003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Лист1!$F$5:$F$6</c15:f>
                <c15:dlblRangeCache>
                  <c:ptCount val="2"/>
                  <c:pt idx="0">
                    <c:v>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E-6DB5-483C-9930-0B7CD88ED857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total'</c:v>
                </c:pt>
              </c:strCache>
            </c:strRef>
          </c:tx>
          <c:spPr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ТАНДЕР</c:v>
                </c:pt>
                <c:pt idx="1">
                  <c:v>X5 GROUP</c:v>
                </c:pt>
              </c:strCache>
            </c:strRef>
          </c:cat>
          <c:val>
            <c:numRef>
              <c:f>Лист1!$G$2:$G$3</c:f>
              <c:numCache>
                <c:formatCode>#,##0</c:formatCode>
                <c:ptCount val="2"/>
                <c:pt idx="0">
                  <c:v>755287325.80000019</c:v>
                </c:pt>
                <c:pt idx="1">
                  <c:v>818030121.65000236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6DB5-483C-9930-0B7CD88ED857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1841987599"/>
        <c:axId val="1841990479"/>
      </c:barChart>
      <c:catAx>
        <c:axId val="18419875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841990479"/>
        <c:crosses val="autoZero"/>
        <c:auto val="1"/>
        <c:lblAlgn val="ctr"/>
        <c:lblOffset val="100"/>
        <c:noMultiLvlLbl val="0"/>
      </c:catAx>
      <c:valAx>
        <c:axId val="1841990479"/>
        <c:scaling>
          <c:orientation val="minMax"/>
          <c:max val="900000000"/>
          <c:min val="0"/>
        </c:scaling>
        <c:delete val="1"/>
        <c:axPos val="l"/>
        <c:numFmt formatCode="#,##0" sourceLinked="1"/>
        <c:majorTickMark val="out"/>
        <c:minorTickMark val="none"/>
        <c:tickLblPos val="nextTo"/>
        <c:crossAx val="1841987599"/>
        <c:crosses val="autoZero"/>
        <c:crossBetween val="between"/>
        <c:dispUnits>
          <c:builtInUnit val="millions"/>
          <c:dispUnitsLbl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egendEntry>
        <c:idx val="5"/>
        <c:delete val="1"/>
      </c:legendEntry>
      <c:layout>
        <c:manualLayout>
          <c:xMode val="edge"/>
          <c:yMode val="edge"/>
          <c:x val="0"/>
          <c:y val="0.83231855180352587"/>
          <c:w val="1"/>
          <c:h val="0.15055616710139111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spPr>
    <a:xfrm>
      <a:off x="838200" y="1909674"/>
      <a:ext cx="3191933" cy="3874030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07514"/>
          <c:y val="0.10216500000000001"/>
          <c:w val="0.87786799999999998"/>
          <c:h val="0.583246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Февраль'25</c:v>
                </c:pt>
              </c:strCache>
            </c:strRef>
          </c:tx>
          <c:spPr>
            <a:prstGeom prst="rect">
              <a:avLst/>
            </a:prstGeom>
            <a:solidFill>
              <a:sysClr val="window" lastClr="FFFFFF">
                <a:lumMod val="65000"/>
              </a:sysClr>
            </a:solidFill>
            <a:ln>
              <a:noFill/>
            </a:ln>
          </c:spPr>
          <c:invertIfNegative val="0"/>
          <c:cat>
            <c:strRef>
              <c:f>Sheet1!$A$2:$A$17</c:f>
              <c:strCache>
                <c:ptCount val="16"/>
                <c:pt idx="0">
                  <c:v>МАГНИТ</c:v>
                </c:pt>
                <c:pt idx="1">
                  <c:v>ПЯТЕРОЧКА</c:v>
                </c:pt>
                <c:pt idx="2">
                  <c:v>САМОКАТ</c:v>
                </c:pt>
                <c:pt idx="3">
                  <c:v>КУПЕР</c:v>
                </c:pt>
                <c:pt idx="4">
                  <c:v>ЯНДЕКС.ЕДА</c:v>
                </c:pt>
                <c:pt idx="5">
                  <c:v>ПЕРЕКРЕСТОК</c:v>
                </c:pt>
                <c:pt idx="6">
                  <c:v>OZON FRESH</c:v>
                </c:pt>
                <c:pt idx="7">
                  <c:v>ЧИЖИК</c:v>
                </c:pt>
                <c:pt idx="8">
                  <c:v>ДИКСИ</c:v>
                </c:pt>
                <c:pt idx="9">
                  <c:v>АШАН</c:v>
                </c:pt>
                <c:pt idx="10">
                  <c:v>OZON</c:v>
                </c:pt>
                <c:pt idx="11">
                  <c:v>SPAR</c:v>
                </c:pt>
                <c:pt idx="12">
                  <c:v>METRO</c:v>
                </c:pt>
                <c:pt idx="13">
                  <c:v>О КЕЙ</c:v>
                </c:pt>
                <c:pt idx="14">
                  <c:v>ЛЕНТА</c:v>
                </c:pt>
                <c:pt idx="15">
                  <c:v>МОНЕТКА</c:v>
                </c:pt>
              </c:strCache>
            </c:strRef>
          </c:cat>
          <c:val>
            <c:numRef>
              <c:f>Sheet1!$B$2:$B$17</c:f>
              <c:numCache>
                <c:formatCode>#,##0</c:formatCode>
                <c:ptCount val="16"/>
                <c:pt idx="0">
                  <c:v>497143624.80000025</c:v>
                </c:pt>
                <c:pt idx="1">
                  <c:v>343496699.85000002</c:v>
                </c:pt>
                <c:pt idx="2">
                  <c:v>202181397.54999983</c:v>
                </c:pt>
                <c:pt idx="3">
                  <c:v>300574631</c:v>
                </c:pt>
                <c:pt idx="4">
                  <c:v>260633808.90000004</c:v>
                </c:pt>
                <c:pt idx="5">
                  <c:v>58241175.650000051</c:v>
                </c:pt>
                <c:pt idx="6">
                  <c:v>43847235.300000004</c:v>
                </c:pt>
                <c:pt idx="7">
                  <c:v>37632263.899999894</c:v>
                </c:pt>
                <c:pt idx="8">
                  <c:v>53655643.800000086</c:v>
                </c:pt>
                <c:pt idx="9">
                  <c:v>130043552.64999998</c:v>
                </c:pt>
                <c:pt idx="10">
                  <c:v>107412842.10000002</c:v>
                </c:pt>
                <c:pt idx="11">
                  <c:v>17638111.700000003</c:v>
                </c:pt>
                <c:pt idx="12">
                  <c:v>22857792.650000002</c:v>
                </c:pt>
                <c:pt idx="13">
                  <c:v>6652575.0499999989</c:v>
                </c:pt>
                <c:pt idx="14">
                  <c:v>116337513.59999999</c:v>
                </c:pt>
                <c:pt idx="15">
                  <c:v>4518878.0999999996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B26-4A84-9352-233C8003220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Февраль'26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B26-4A84-9352-233C80032205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7B26-4A84-9352-233C80032205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B26-4A84-9352-233C80032205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7B26-4A84-9352-233C80032205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7B26-4A84-9352-233C80032205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7B26-4A84-9352-233C80032205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B26-4A84-9352-233C80032205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7B26-4A84-9352-233C80032205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7B26-4A84-9352-233C80032205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7B26-4A84-9352-233C80032205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7B26-4A84-9352-233C80032205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7B26-4A84-9352-233C80032205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7B26-4A84-9352-233C80032205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E-7B26-4A84-9352-233C80032205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7B26-4A84-9352-233C80032205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0-7B26-4A84-9352-233C80032205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1-7B26-4A84-9352-233C80032205}"/>
              </c:ext>
            </c:extLst>
          </c:dPt>
          <c:dPt>
            <c:idx val="1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2-7B26-4A84-9352-233C80032205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7B26-4A84-9352-233C80032205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4-7B26-4A84-9352-233C80032205}"/>
              </c:ext>
            </c:extLst>
          </c:dPt>
          <c:cat>
            <c:strRef>
              <c:f>Sheet1!$A$2:$A$17</c:f>
              <c:strCache>
                <c:ptCount val="16"/>
                <c:pt idx="0">
                  <c:v>МАГНИТ</c:v>
                </c:pt>
                <c:pt idx="1">
                  <c:v>ПЯТЕРОЧКА</c:v>
                </c:pt>
                <c:pt idx="2">
                  <c:v>САМОКАТ</c:v>
                </c:pt>
                <c:pt idx="3">
                  <c:v>КУПЕР</c:v>
                </c:pt>
                <c:pt idx="4">
                  <c:v>ЯНДЕКС.ЕДА</c:v>
                </c:pt>
                <c:pt idx="5">
                  <c:v>ПЕРЕКРЕСТОК</c:v>
                </c:pt>
                <c:pt idx="6">
                  <c:v>OZON FRESH</c:v>
                </c:pt>
                <c:pt idx="7">
                  <c:v>ЧИЖИК</c:v>
                </c:pt>
                <c:pt idx="8">
                  <c:v>ДИКСИ</c:v>
                </c:pt>
                <c:pt idx="9">
                  <c:v>АШАН</c:v>
                </c:pt>
                <c:pt idx="10">
                  <c:v>OZON</c:v>
                </c:pt>
                <c:pt idx="11">
                  <c:v>SPAR</c:v>
                </c:pt>
                <c:pt idx="12">
                  <c:v>METRO</c:v>
                </c:pt>
                <c:pt idx="13">
                  <c:v>О КЕЙ</c:v>
                </c:pt>
                <c:pt idx="14">
                  <c:v>ЛЕНТА</c:v>
                </c:pt>
                <c:pt idx="15">
                  <c:v>МОНЕТКА</c:v>
                </c:pt>
              </c:strCache>
            </c:strRef>
          </c:cat>
          <c:val>
            <c:numRef>
              <c:f>Sheet1!$C$2:$C$17</c:f>
              <c:numCache>
                <c:formatCode>#,##0</c:formatCode>
                <c:ptCount val="16"/>
                <c:pt idx="0">
                  <c:v>702251040.85000014</c:v>
                </c:pt>
                <c:pt idx="1">
                  <c:v>588163220.65000224</c:v>
                </c:pt>
                <c:pt idx="2">
                  <c:v>517491200.54999864</c:v>
                </c:pt>
                <c:pt idx="3">
                  <c:v>233827590</c:v>
                </c:pt>
                <c:pt idx="4">
                  <c:v>225327266.6999999</c:v>
                </c:pt>
                <c:pt idx="5">
                  <c:v>160657697.20000017</c:v>
                </c:pt>
                <c:pt idx="6">
                  <c:v>73815578.099999994</c:v>
                </c:pt>
                <c:pt idx="7">
                  <c:v>69209203.799999893</c:v>
                </c:pt>
                <c:pt idx="8">
                  <c:v>53036284.950000003</c:v>
                </c:pt>
                <c:pt idx="9">
                  <c:v>51886266.84999992</c:v>
                </c:pt>
                <c:pt idx="10">
                  <c:v>50319926.700000025</c:v>
                </c:pt>
                <c:pt idx="11">
                  <c:v>19141436.050000012</c:v>
                </c:pt>
                <c:pt idx="12">
                  <c:v>12516374.750000011</c:v>
                </c:pt>
                <c:pt idx="13">
                  <c:v>10112290.100000003</c:v>
                </c:pt>
                <c:pt idx="14">
                  <c:v>7389683.9499999927</c:v>
                </c:pt>
                <c:pt idx="15">
                  <c:v>4476338.8999999985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7B26-4A84-9352-233C800322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9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800000000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98356624"/>
        <c:crosses val="autoZero"/>
        <c:crossBetween val="between"/>
        <c:dispUnits>
          <c:builtInUnit val="millions"/>
          <c:dispUnitsLbl/>
        </c:dispUnits>
      </c:valAx>
    </c:plotArea>
    <c:legend>
      <c:legendPos val="r"/>
      <c:layout>
        <c:manualLayout>
          <c:xMode val="edge"/>
          <c:yMode val="edge"/>
          <c:x val="3.3952000000000003E-2"/>
          <c:y val="0.856406"/>
          <c:w val="0.35479438689614368"/>
          <c:h val="0.14359388027454614"/>
        </c:manualLayout>
      </c:layout>
      <c:overlay val="0"/>
      <c:txPr>
        <a:bodyPr/>
        <a:lstStyle/>
        <a:p>
          <a:pPr>
            <a:defRPr sz="14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lang="ru-RU" sz="1200" b="0" i="0" u="none" strike="noStrike" kern="1200" spc="0" baseline="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+mn-ea"/>
                <a:cs typeface="+mn-cs"/>
              </a:rPr>
              <a:t>Ср. хроно бренда, Нац. ТВ, все коммуникации, вкл. КООП</a:t>
            </a:r>
          </a:p>
        </c:rich>
      </c:tx>
      <c:overlay val="0"/>
    </c:title>
    <c:autoTitleDeleted val="0"/>
    <c:plotArea>
      <c:layout>
        <c:manualLayout>
          <c:layoutTarget val="inner"/>
          <c:xMode val="edge"/>
          <c:yMode val="edge"/>
          <c:x val="6.9606000000000001E-2"/>
          <c:y val="0.15298900000000001"/>
          <c:w val="0.93800300000000003"/>
          <c:h val="0.728168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5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1D37CD75-1272-424F-BBC8-6AC88F740E7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087800A1-02A9-4CEE-B6E3-F50BC04C0A3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F7B4D86-9857-42EB-8F07-C0CC058F52A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578281C-6E60-4A9A-BA04-2A6156662DB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8E350B9-BC46-4F8C-8694-C31FDC83601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F15E07CC-6CA1-4E1C-AABE-0C87CACEFB5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5608E0E5-630D-4853-9D2A-2B3859CAE95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872841D7-62B8-4971-A46A-85F94E945FD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4B0A62E4-2C36-4C85-BA9A-6C01BCA3BB9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509EAFE4-1372-493D-A86A-911B30A2791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14BCE264-8196-44F8-B579-166A8DB39A1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31186BF5-2ADD-47A0-B150-2C7849C29CF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D7096156-F4BD-4CA3-8802-DB11349645E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613A5668-81F8-442A-A8AE-FEA9D7BA1E4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213BDF66-4A35-4591-873D-8E34E394D5A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Лист1!$B$2:$B$16</c:f>
              <c:numCache>
                <c:formatCode>#,##0</c:formatCode>
                <c:ptCount val="15"/>
                <c:pt idx="0">
                  <c:v>172.05195000000001</c:v>
                </c:pt>
                <c:pt idx="1">
                  <c:v>118.73851000000001</c:v>
                </c:pt>
                <c:pt idx="2">
                  <c:v>181.09924000000001</c:v>
                </c:pt>
                <c:pt idx="3">
                  <c:v>451.61036999999999</c:v>
                </c:pt>
                <c:pt idx="4">
                  <c:v>2607.8618200000001</c:v>
                </c:pt>
                <c:pt idx="5">
                  <c:v>351.41836999999998</c:v>
                </c:pt>
                <c:pt idx="6">
                  <c:v>479.68653</c:v>
                </c:pt>
                <c:pt idx="7">
                  <c:v>142.55217999999999</c:v>
                </c:pt>
                <c:pt idx="8">
                  <c:v>175.70358999999999</c:v>
                </c:pt>
                <c:pt idx="9">
                  <c:v>218.74897999999999</c:v>
                </c:pt>
                <c:pt idx="10">
                  <c:v>159.74096</c:v>
                </c:pt>
                <c:pt idx="11">
                  <c:v>235.43440000000001</c:v>
                </c:pt>
                <c:pt idx="12">
                  <c:v>195.92722000000001</c:v>
                </c:pt>
                <c:pt idx="13">
                  <c:v>190.52698000000001</c:v>
                </c:pt>
                <c:pt idx="14">
                  <c:v>319.31031000000002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Лист1!$B$19:$B$34</c15:f>
                <c15:dlblRangeCache>
                  <c:ptCount val="16"/>
                  <c:pt idx="0">
                    <c:v>3%</c:v>
                  </c:pt>
                  <c:pt idx="1">
                    <c:v>2%</c:v>
                  </c:pt>
                  <c:pt idx="2">
                    <c:v>2%</c:v>
                  </c:pt>
                  <c:pt idx="3">
                    <c:v>4%</c:v>
                  </c:pt>
                  <c:pt idx="4">
                    <c:v>21%</c:v>
                  </c:pt>
                  <c:pt idx="5">
                    <c:v>4%</c:v>
                  </c:pt>
                  <c:pt idx="6">
                    <c:v>6%</c:v>
                  </c:pt>
                  <c:pt idx="7">
                    <c:v>2%</c:v>
                  </c:pt>
                  <c:pt idx="8">
                    <c:v>2%</c:v>
                  </c:pt>
                  <c:pt idx="9">
                    <c:v>15%</c:v>
                  </c:pt>
                  <c:pt idx="10">
                    <c:v>22%</c:v>
                  </c:pt>
                  <c:pt idx="11">
                    <c:v>21%</c:v>
                  </c:pt>
                  <c:pt idx="12">
                    <c:v>31%</c:v>
                  </c:pt>
                  <c:pt idx="13">
                    <c:v>3%</c:v>
                  </c:pt>
                  <c:pt idx="14">
                    <c:v>7%</c:v>
                  </c:pt>
                  <c:pt idx="15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6-84E4-4077-9DA3-245B07F531E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10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4EDFE37-8E25-4284-8933-BCFCE23DF63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E825D81-A8A0-43EF-BE89-1690DA094B0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CB965AA-6A93-4AFD-BF72-E39DC1D9A4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E316EE1E-6E51-49B4-9C9E-7BF54D4BACA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83FFF07-EF66-49E2-B791-E0DAA2E7066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EDE85D54-DFA3-47CE-93CF-C926FE61B2D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2220C8AB-4577-4CB5-8A40-B7929C06635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1E03AC9E-7AEF-428E-8698-0B0C0C2ACCA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564DEA41-9E11-43A0-89D3-705A0AB9F18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6A198B09-C915-4A2B-95CA-4C254330CE4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41E7EECE-D2F1-4EBD-86CE-008100F5AE8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940E7B66-0C3F-489C-A324-A698FABE7F6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208EE29A-10A5-4926-8F58-CC4D12C30FB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1461068B-998C-4295-9695-134B876D53C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643FCDEF-982E-411E-B97F-C502B929091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Лист1!$C$2:$C$16</c:f>
              <c:numCache>
                <c:formatCode>#,##0</c:formatCode>
                <c:ptCount val="15"/>
                <c:pt idx="0">
                  <c:v>2770.80852</c:v>
                </c:pt>
                <c:pt idx="1">
                  <c:v>1776.0742</c:v>
                </c:pt>
                <c:pt idx="2">
                  <c:v>1875.4188300000001</c:v>
                </c:pt>
                <c:pt idx="3">
                  <c:v>1691.19778</c:v>
                </c:pt>
                <c:pt idx="4">
                  <c:v>1729.1062300000001</c:v>
                </c:pt>
                <c:pt idx="5">
                  <c:v>2001.44084</c:v>
                </c:pt>
                <c:pt idx="6">
                  <c:v>2030.3712599999999</c:v>
                </c:pt>
                <c:pt idx="7">
                  <c:v>1382.7086400000001</c:v>
                </c:pt>
                <c:pt idx="8">
                  <c:v>2009.6714400000001</c:v>
                </c:pt>
                <c:pt idx="9">
                  <c:v>2755.1091299999998</c:v>
                </c:pt>
                <c:pt idx="10">
                  <c:v>1598.9261899999999</c:v>
                </c:pt>
                <c:pt idx="11">
                  <c:v>1636.0162</c:v>
                </c:pt>
                <c:pt idx="12">
                  <c:v>1853.2590700000001</c:v>
                </c:pt>
                <c:pt idx="13">
                  <c:v>3537.1370700000002</c:v>
                </c:pt>
                <c:pt idx="14">
                  <c:v>2866.3400700000002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Лист1!$C$19:$C$34</c15:f>
                <c15:dlblRangeCache>
                  <c:ptCount val="16"/>
                  <c:pt idx="0">
                    <c:v>97%</c:v>
                  </c:pt>
                  <c:pt idx="1">
                    <c:v>48%</c:v>
                  </c:pt>
                  <c:pt idx="2">
                    <c:v>33%</c:v>
                  </c:pt>
                  <c:pt idx="3">
                    <c:v>27%</c:v>
                  </c:pt>
                  <c:pt idx="4">
                    <c:v>28%</c:v>
                  </c:pt>
                  <c:pt idx="5">
                    <c:v>46%</c:v>
                  </c:pt>
                  <c:pt idx="6">
                    <c:v>54%</c:v>
                  </c:pt>
                  <c:pt idx="7">
                    <c:v>31%</c:v>
                  </c:pt>
                  <c:pt idx="8">
                    <c:v>38%</c:v>
                  </c:pt>
                  <c:pt idx="9">
                    <c:v>47%</c:v>
                  </c:pt>
                  <c:pt idx="10">
                    <c:v>40%</c:v>
                  </c:pt>
                  <c:pt idx="11">
                    <c:v>38%</c:v>
                  </c:pt>
                  <c:pt idx="12">
                    <c:v>69%</c:v>
                  </c:pt>
                  <c:pt idx="13">
                    <c:v>61%</c:v>
                  </c:pt>
                  <c:pt idx="14">
                    <c:v>67%</c:v>
                  </c:pt>
                  <c:pt idx="15">
                    <c:v>38%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D-84E4-4077-9DA3-245B07F531E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15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8AFA7209-1E8C-491C-9254-A022EC15708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E46990C7-C96D-418A-B386-9F5039EF727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F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EC06DE0-CC12-43FA-A163-67CD57B09BB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0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E21725D-0ABE-4ED6-B0B0-44EB8983EA8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1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3ADE6B40-6CE8-42AA-8B5E-5C09A763847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2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59DD33C9-4F24-4655-8257-96A72D38AB5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CD932A83-9FDE-435B-9329-4533DB45CD5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1AF0AA96-A7B5-4FB5-BB49-B15C934CC66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0DD1F11-765D-48B1-A9D5-7D59ECF65C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C96193CE-C992-4201-8669-E237A847DE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7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099D428-973D-4DCD-BB85-BA5B58D7581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8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53DAE5F7-0978-41BC-B22C-8CD9C5F16CD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9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A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E7B90849-01F7-43B7-868E-5822BC5E6AE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B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248412B6-EB62-4442-AB73-2E29624E7AE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C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Лист1!$D$2:$D$16</c:f>
              <c:numCache>
                <c:formatCode>#,##0</c:formatCode>
                <c:ptCount val="15"/>
                <c:pt idx="1">
                  <c:v>338.75445000000002</c:v>
                </c:pt>
                <c:pt idx="2">
                  <c:v>894.95920000000001</c:v>
                </c:pt>
                <c:pt idx="3">
                  <c:v>635.14885000000004</c:v>
                </c:pt>
                <c:pt idx="4">
                  <c:v>530.69224999999994</c:v>
                </c:pt>
                <c:pt idx="5">
                  <c:v>380.60914000000002</c:v>
                </c:pt>
                <c:pt idx="6">
                  <c:v>249.96205</c:v>
                </c:pt>
                <c:pt idx="7">
                  <c:v>1109.91176</c:v>
                </c:pt>
                <c:pt idx="8">
                  <c:v>1078.2786699999999</c:v>
                </c:pt>
                <c:pt idx="9">
                  <c:v>1372.1981800000001</c:v>
                </c:pt>
                <c:pt idx="10">
                  <c:v>1391.0608099999999</c:v>
                </c:pt>
                <c:pt idx="11">
                  <c:v>1077.4456600000001</c:v>
                </c:pt>
                <c:pt idx="13">
                  <c:v>1466.4265</c:v>
                </c:pt>
                <c:pt idx="14">
                  <c:v>701.26500999999996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Лист1!$D$19:$D$34</c15:f>
                <c15:dlblRangeCache>
                  <c:ptCount val="16"/>
                  <c:pt idx="1">
                    <c:v>14%</c:v>
                  </c:pt>
                  <c:pt idx="2">
                    <c:v>23%</c:v>
                  </c:pt>
                  <c:pt idx="3">
                    <c:v>15%</c:v>
                  </c:pt>
                  <c:pt idx="4">
                    <c:v>18%</c:v>
                  </c:pt>
                  <c:pt idx="5">
                    <c:v>17%</c:v>
                  </c:pt>
                  <c:pt idx="6">
                    <c:v>10%</c:v>
                  </c:pt>
                  <c:pt idx="7">
                    <c:v>38%</c:v>
                  </c:pt>
                  <c:pt idx="8">
                    <c:v>30%</c:v>
                  </c:pt>
                  <c:pt idx="9">
                    <c:v>25%</c:v>
                  </c:pt>
                  <c:pt idx="10">
                    <c:v>25%</c:v>
                  </c:pt>
                  <c:pt idx="11">
                    <c:v>18%</c:v>
                  </c:pt>
                  <c:pt idx="13">
                    <c:v>25%</c:v>
                  </c:pt>
                  <c:pt idx="14">
                    <c:v>16%</c:v>
                  </c:pt>
                  <c:pt idx="15">
                    <c:v>20%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4-84E4-4077-9DA3-245B07F531E1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20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5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2FE44907-195D-4676-AB3F-8698BF90367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6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6CB87A8-F53E-4A30-9DC0-AB828C3D632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7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FDAD94D-D4DF-4269-9AB5-D2F2BE898A7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8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D8943487-03C2-4AF4-BF78-2312D0282D9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9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6F6F2E2-F1C4-431D-BE64-4CCCA5FCDA2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A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557851BC-8CD7-4DDD-BD57-C2A2A5016CF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B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A968B8A4-39BD-4D31-9569-5B6C57E721B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C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F88B975-A597-47C6-BFA9-D0F683CA3A7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D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BC14AECA-9F62-4084-BBF5-C65FE46B5C9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E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E694979-2DF8-4FAA-9DCE-F92BCA05BC6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F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6DBE7933-6D43-4878-9BE3-748B1DB8EB1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0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1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2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A57072DA-8D4E-4339-978A-CA7BA36E852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3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Лист1!$E$2:$E$16</c:f>
              <c:numCache>
                <c:formatCode>#,##0</c:formatCode>
                <c:ptCount val="15"/>
                <c:pt idx="1">
                  <c:v>260.54575999999997</c:v>
                </c:pt>
                <c:pt idx="2">
                  <c:v>763.91385000000002</c:v>
                </c:pt>
                <c:pt idx="3">
                  <c:v>826.44624999999996</c:v>
                </c:pt>
                <c:pt idx="4">
                  <c:v>516.08591999999999</c:v>
                </c:pt>
                <c:pt idx="5">
                  <c:v>150.91820999999999</c:v>
                </c:pt>
                <c:pt idx="6">
                  <c:v>265.59460999999999</c:v>
                </c:pt>
                <c:pt idx="7">
                  <c:v>316.14809000000002</c:v>
                </c:pt>
                <c:pt idx="8">
                  <c:v>368.24023999999997</c:v>
                </c:pt>
                <c:pt idx="9">
                  <c:v>887.66411000000005</c:v>
                </c:pt>
                <c:pt idx="10">
                  <c:v>577.51035999999999</c:v>
                </c:pt>
                <c:pt idx="11">
                  <c:v>1006.67416</c:v>
                </c:pt>
                <c:pt idx="14">
                  <c:v>33.993119999999998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Лист1!$E$19:$E$34</c15:f>
                <c15:dlblRangeCache>
                  <c:ptCount val="16"/>
                  <c:pt idx="1">
                    <c:v>14%</c:v>
                  </c:pt>
                  <c:pt idx="2">
                    <c:v>27%</c:v>
                  </c:pt>
                  <c:pt idx="3">
                    <c:v>26%</c:v>
                  </c:pt>
                  <c:pt idx="4">
                    <c:v>16%</c:v>
                  </c:pt>
                  <c:pt idx="5">
                    <c:v>7%</c:v>
                  </c:pt>
                  <c:pt idx="6">
                    <c:v>14%</c:v>
                  </c:pt>
                  <c:pt idx="7">
                    <c:v>14%</c:v>
                  </c:pt>
                  <c:pt idx="8">
                    <c:v>14%</c:v>
                  </c:pt>
                  <c:pt idx="9">
                    <c:v>13%</c:v>
                  </c:pt>
                  <c:pt idx="10">
                    <c:v>10%</c:v>
                  </c:pt>
                  <c:pt idx="11">
                    <c:v>17%</c:v>
                  </c:pt>
                  <c:pt idx="13">
                    <c:v>0%</c:v>
                  </c:pt>
                  <c:pt idx="14">
                    <c:v>1%</c:v>
                  </c:pt>
                  <c:pt idx="15">
                    <c:v>22%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5B-84E4-4077-9DA3-245B07F531E1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25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787214C-5FFD-473A-9787-83AE84A8D92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C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759EA8E-3246-43AA-8BF4-3888E3D82AF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D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35F3856-32AC-4E2C-8EEF-D0782982741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E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08B9EA1-1959-459B-BD6E-F33B6698F71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F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DC4DD675-1B56-4D47-A5B8-073DB3F2167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0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18E402A-6EA2-4CFE-9981-F84C839069F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1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413D7FA-4CA9-4472-8BB2-A6CA96AF807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2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F8A4A083-E618-492C-9607-26F551D480A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3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2EF2ADAF-C532-4591-88D1-6CE9923245B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4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5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DC6FC59-0487-496D-91C7-FEA1C0E4236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6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FC03C22D-FA01-41D7-9270-BE519EBA08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7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8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45671FE2-7DCB-41B1-BC0E-3915354E0C3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9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3E9EC0A3-23A7-47E8-86A9-3E60F8AC97F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A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Лист1!$F$2:$F$16</c:f>
              <c:numCache>
                <c:formatCode>#,##0</c:formatCode>
                <c:ptCount val="15"/>
                <c:pt idx="1">
                  <c:v>324.94227999999998</c:v>
                </c:pt>
                <c:pt idx="2">
                  <c:v>355.22077000000002</c:v>
                </c:pt>
                <c:pt idx="3">
                  <c:v>711.17943000000002</c:v>
                </c:pt>
                <c:pt idx="4">
                  <c:v>194.71859000000001</c:v>
                </c:pt>
                <c:pt idx="5">
                  <c:v>353.24385999999998</c:v>
                </c:pt>
                <c:pt idx="6">
                  <c:v>238.14169000000001</c:v>
                </c:pt>
                <c:pt idx="7">
                  <c:v>268.75418000000002</c:v>
                </c:pt>
                <c:pt idx="8">
                  <c:v>335.89852000000002</c:v>
                </c:pt>
                <c:pt idx="10">
                  <c:v>148.97271000000001</c:v>
                </c:pt>
                <c:pt idx="11">
                  <c:v>327.04345000000001</c:v>
                </c:pt>
                <c:pt idx="13">
                  <c:v>581.69899999999996</c:v>
                </c:pt>
                <c:pt idx="14">
                  <c:v>366.14197000000001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Лист1!$F$19:$F$34</c15:f>
                <c15:dlblRangeCache>
                  <c:ptCount val="16"/>
                  <c:pt idx="1">
                    <c:v>22%</c:v>
                  </c:pt>
                  <c:pt idx="2">
                    <c:v>15%</c:v>
                  </c:pt>
                  <c:pt idx="3">
                    <c:v>28%</c:v>
                  </c:pt>
                  <c:pt idx="4">
                    <c:v>17%</c:v>
                  </c:pt>
                  <c:pt idx="5">
                    <c:v>26%</c:v>
                  </c:pt>
                  <c:pt idx="6">
                    <c:v>16%</c:v>
                  </c:pt>
                  <c:pt idx="7">
                    <c:v>15%</c:v>
                  </c:pt>
                  <c:pt idx="8">
                    <c:v>16%</c:v>
                  </c:pt>
                  <c:pt idx="9">
                    <c:v>0%</c:v>
                  </c:pt>
                  <c:pt idx="10">
                    <c:v>3%</c:v>
                  </c:pt>
                  <c:pt idx="11">
                    <c:v>6%</c:v>
                  </c:pt>
                  <c:pt idx="13">
                    <c:v>10%</c:v>
                  </c:pt>
                  <c:pt idx="14">
                    <c:v>9%</c:v>
                  </c:pt>
                  <c:pt idx="15">
                    <c:v>20%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72-84E4-4077-9DA3-245B07F531E1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</c:strCache>
            </c:strRef>
          </c:tx>
          <c:spPr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013E274-8EA1-4864-B32B-7CC78B76F3A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3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4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5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6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7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8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9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A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B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C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D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E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F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0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1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Лист1!$G$2:$G$16</c:f>
              <c:numCache>
                <c:formatCode>General</c:formatCode>
                <c:ptCount val="15"/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Лист1!$H$19:$H$30</c15:f>
                <c15:dlblRangeCache>
                  <c:ptCount val="12"/>
                </c15:dlblRangeCache>
              </c15:datalabelsRange>
            </c:ext>
            <c:ext xmlns:c16="http://schemas.microsoft.com/office/drawing/2014/chart" uri="{C3380CC4-5D6E-409C-BE32-E72D297353CC}">
              <c16:uniqueId val="{00000089-84E4-4077-9DA3-245B07F531E1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50</c:v>
                </c:pt>
              </c:strCache>
            </c:strRef>
          </c:tx>
          <c:spPr>
            <a:prstGeom prst="rect">
              <a:avLst/>
            </a:prstGeom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Лист1!$H$2:$H$16</c:f>
              <c:numCache>
                <c:formatCode>General</c:formatCode>
                <c:ptCount val="15"/>
                <c:pt idx="12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A-84E4-4077-9DA3-245B07F531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barChart>
        <c:barDir val="col"/>
        <c:grouping val="percentStacked"/>
        <c:varyColors val="0"/>
        <c:ser>
          <c:idx val="7"/>
          <c:order val="7"/>
          <c:tx>
            <c:strRef>
              <c:f>Лист1!$I$1</c:f>
              <c:strCache>
                <c:ptCount val="1"/>
                <c:pt idx="0">
                  <c:v>Ср.Хроно</c:v>
                </c:pt>
              </c:strCache>
            </c:strRef>
          </c:tx>
          <c:spPr>
            <a:prstGeom prst="rect">
              <a:avLst/>
            </a:prstGeom>
            <a:ln w="28575" cap="rnd">
              <a:solidFill>
                <a:srgbClr val="FF0000"/>
              </a:solidFill>
              <a:round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solidFill>
                      <a:srgbClr val="FF0000"/>
                    </a:solidFill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Лист1!$I$2:$I$16</c:f>
              <c:numCache>
                <c:formatCode>0.0</c:formatCode>
                <c:ptCount val="15"/>
                <c:pt idx="0">
                  <c:v>9.8482657842242887</c:v>
                </c:pt>
                <c:pt idx="1">
                  <c:v>15.330625449744579</c:v>
                </c:pt>
                <c:pt idx="2">
                  <c:v>16.07837036636224</c:v>
                </c:pt>
                <c:pt idx="3">
                  <c:v>17.428943165110066</c:v>
                </c:pt>
                <c:pt idx="4">
                  <c:v>14.062334208125078</c:v>
                </c:pt>
                <c:pt idx="5">
                  <c:v>15.290416612924037</c:v>
                </c:pt>
                <c:pt idx="6">
                  <c:v>13.953808959525599</c:v>
                </c:pt>
                <c:pt idx="7">
                  <c:v>15.501476665607033</c:v>
                </c:pt>
                <c:pt idx="8">
                  <c:v>15.196379388264983</c:v>
                </c:pt>
                <c:pt idx="9">
                  <c:v>14.107200783830843</c:v>
                </c:pt>
                <c:pt idx="10">
                  <c:v>11.596242856114262</c:v>
                </c:pt>
                <c:pt idx="11">
                  <c:v>12.419148935455752</c:v>
                </c:pt>
                <c:pt idx="12">
                  <c:v>9.5219389741281155</c:v>
                </c:pt>
                <c:pt idx="13">
                  <c:v>12.615223852815067</c:v>
                </c:pt>
                <c:pt idx="14">
                  <c:v>11.805864961496789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B-84E4-4077-9DA3-245B07F531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1776944880"/>
        <c:axId val="1776940080"/>
      </c:barChart>
      <c:dateAx>
        <c:axId val="322483696"/>
        <c:scaling>
          <c:orientation val="minMax"/>
        </c:scaling>
        <c:delete val="0"/>
        <c:axPos val="b"/>
        <c:numFmt formatCode="mmm\-yy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Offset val="100"/>
        <c:baseTimeUnit val="months"/>
      </c:dateAx>
      <c:valAx>
        <c:axId val="322483216"/>
        <c:scaling>
          <c:orientation val="minMax"/>
          <c:max val="1.5"/>
        </c:scaling>
        <c:delete val="0"/>
        <c:axPos val="l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tx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</c:valAx>
      <c:valAx>
        <c:axId val="1776940080"/>
        <c:scaling>
          <c:orientation val="minMax"/>
          <c:max val="20"/>
          <c:min val="-10"/>
        </c:scaling>
        <c:delete val="0"/>
        <c:axPos val="r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baseline="0">
                <a:solidFill>
                  <a:schemeClr val="bg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776944880"/>
        <c:crosses val="max"/>
        <c:crossBetween val="between"/>
      </c:valAx>
      <c:dateAx>
        <c:axId val="1776944880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1776940080"/>
        <c:crosses val="autoZero"/>
        <c:auto val="1"/>
        <c:lblOffset val="100"/>
        <c:baseTimeUnit val="months"/>
        <c:majorUnit val="1"/>
        <c:minorUnit val="1"/>
      </c:date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364767" y="1341678"/>
      <a:ext cx="6494108" cy="234301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>
                <a:solidFill>
                  <a:schemeClr val="bg2">
                    <a:lumMod val="25000"/>
                  </a:schemeClr>
                </a:solidFill>
              </a:rPr>
              <a:t>Ср. </a:t>
            </a:r>
            <a:r>
              <a:rPr lang="ru-RU" sz="1200" b="1" dirty="0" err="1">
                <a:solidFill>
                  <a:schemeClr val="bg2">
                    <a:lumMod val="25000"/>
                  </a:schemeClr>
                </a:solidFill>
              </a:rPr>
              <a:t>хроно</a:t>
            </a:r>
            <a:r>
              <a:rPr lang="ru-RU" sz="1200" b="1" dirty="0">
                <a:solidFill>
                  <a:schemeClr val="bg2">
                    <a:lumMod val="25000"/>
                  </a:schemeClr>
                </a:solidFill>
              </a:rPr>
              <a:t> бренда, Нац. ТВ, все коммуникации, вкл. КООП</a:t>
            </a:r>
          </a:p>
        </c:rich>
      </c:tx>
      <c:layout>
        <c:manualLayout>
          <c:xMode val="edge"/>
          <c:yMode val="edge"/>
          <c:x val="0.12347757836431594"/>
          <c:y val="0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8.6463712801791104E-2"/>
          <c:y val="0.12377593664831203"/>
          <c:w val="0.84465400000000002"/>
          <c:h val="0.48898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5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0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EFB5D200-7F22-4395-B453-BC24C7FED22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365815F-F8DB-414C-8016-A79CB9BB5DB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BE0DE41A-31E1-4E31-8AC3-55046C568DB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0422027-87FD-41E3-9A94-7622E73E64A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974347D-DD2A-401D-955D-978EECC22CF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61449C03-6430-4EF5-A0D8-1D6E0EA40CA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048D012F-5AB4-4F5F-A7CE-61D24B3E3AD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E962047F-1867-4D99-B657-678AD9A9CEC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557FCE1-FA68-4B8C-84A5-F34DABE579C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586BA96F-31BA-4D38-954D-F222088FA9D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50D8685-FE16-4953-8662-D0EDD4727E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C15D2358-DE7D-4DA6-86DA-9B37CD07A7D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C3D7-4A2C-BDD1-30C344D01C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Лист1!$B$2:$B$16</c:f>
              <c:numCache>
                <c:formatCode>#,##0</c:formatCode>
                <c:ptCount val="15"/>
                <c:pt idx="1">
                  <c:v>447.43367999999998</c:v>
                </c:pt>
                <c:pt idx="2">
                  <c:v>956.10649999999998</c:v>
                </c:pt>
                <c:pt idx="3">
                  <c:v>291.08951000000002</c:v>
                </c:pt>
                <c:pt idx="4">
                  <c:v>826.33510000000001</c:v>
                </c:pt>
                <c:pt idx="5">
                  <c:v>409.26321000000002</c:v>
                </c:pt>
                <c:pt idx="7">
                  <c:v>696.22496999999998</c:v>
                </c:pt>
                <c:pt idx="8">
                  <c:v>281.41467</c:v>
                </c:pt>
                <c:pt idx="9">
                  <c:v>427.52409</c:v>
                </c:pt>
                <c:pt idx="10">
                  <c:v>263.64818000000002</c:v>
                </c:pt>
                <c:pt idx="11">
                  <c:v>763.74923999999999</c:v>
                </c:pt>
                <c:pt idx="12">
                  <c:v>224.53898000000001</c:v>
                </c:pt>
                <c:pt idx="13">
                  <c:v>65.777860000000004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Лист1!$B$21:$B$36</c15:f>
                <c15:dlblRangeCache>
                  <c:ptCount val="16"/>
                  <c:pt idx="0">
                    <c:v>0%</c:v>
                  </c:pt>
                  <c:pt idx="1">
                    <c:v>6%</c:v>
                  </c:pt>
                  <c:pt idx="2">
                    <c:v>11%</c:v>
                  </c:pt>
                  <c:pt idx="3">
                    <c:v>4%</c:v>
                  </c:pt>
                  <c:pt idx="4">
                    <c:v>9%</c:v>
                  </c:pt>
                  <c:pt idx="5">
                    <c:v>7%</c:v>
                  </c:pt>
                  <c:pt idx="6">
                    <c:v>0%</c:v>
                  </c:pt>
                  <c:pt idx="7">
                    <c:v>10%</c:v>
                  </c:pt>
                  <c:pt idx="8">
                    <c:v>4%</c:v>
                  </c:pt>
                  <c:pt idx="9">
                    <c:v>5%</c:v>
                  </c:pt>
                  <c:pt idx="10">
                    <c:v>2%</c:v>
                  </c:pt>
                  <c:pt idx="11">
                    <c:v>9%</c:v>
                  </c:pt>
                  <c:pt idx="12">
                    <c:v>4%</c:v>
                  </c:pt>
                  <c:pt idx="13">
                    <c:v>1%</c:v>
                  </c:pt>
                  <c:pt idx="14">
                    <c:v>0%</c:v>
                  </c:pt>
                  <c:pt idx="15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6-C3D7-4A2C-BDD1-30C344D01C66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10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853C610-4C51-4435-9425-80900FF56D9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28F921F7-3F32-470C-B0DB-667EFF03BF2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8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6C0D203-9993-4CFB-B937-A85F0676CDF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26D7C2C-BFC5-4FAC-9FBA-39BCDB239BB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D8FD374-DF4E-40EA-9462-9C35287CA1D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EAB66F5F-B693-4C33-8C25-8864A7D1626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C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84448923-C253-4AFB-9555-33F64628169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C3211388-A38B-45D0-8FF7-1847A0DE69D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E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907C24A-B865-4BB9-BB16-EDE62A6E026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F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2270D826-FE0E-4111-9C9D-24682F97EB5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0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00DC9F8-B79C-4C31-89D5-E0BC2F8DDF1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70784EDD-A83B-4540-B80E-2E4135A37E4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654815B6-3855-4157-ACD2-76128D10E70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3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A4CE673C-7992-4598-B751-8F04E38D2FB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4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FB19355D-3B1E-4C06-98B5-33398100207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6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7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8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9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A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B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C-C3D7-4A2C-BDD1-30C344D01C66}"/>
                </c:ext>
              </c:extLst>
            </c:dLbl>
            <c:dLbl>
              <c:idx val="22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1-9DFF-41A3-A0EC-2F16F7C70363}"/>
                </c:ext>
              </c:extLst>
            </c:dLbl>
            <c:dLbl>
              <c:idx val="23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0-9DFF-41A3-A0EC-2F16F7C70363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2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Лист1!$C$2:$C$16</c:f>
              <c:numCache>
                <c:formatCode>#,##0</c:formatCode>
                <c:ptCount val="15"/>
                <c:pt idx="0">
                  <c:v>4308.5430200000001</c:v>
                </c:pt>
                <c:pt idx="1">
                  <c:v>5801.0250599999999</c:v>
                </c:pt>
                <c:pt idx="2">
                  <c:v>7076.7311099999997</c:v>
                </c:pt>
                <c:pt idx="3">
                  <c:v>5966.5533100000002</c:v>
                </c:pt>
                <c:pt idx="4">
                  <c:v>7793.8803099999996</c:v>
                </c:pt>
                <c:pt idx="5">
                  <c:v>4803.29954</c:v>
                </c:pt>
                <c:pt idx="6">
                  <c:v>5413.2099200000002</c:v>
                </c:pt>
                <c:pt idx="7">
                  <c:v>5584.2222099999999</c:v>
                </c:pt>
                <c:pt idx="8">
                  <c:v>5306.5233900000003</c:v>
                </c:pt>
                <c:pt idx="9">
                  <c:v>8237.1650300000001</c:v>
                </c:pt>
                <c:pt idx="10">
                  <c:v>8418.31</c:v>
                </c:pt>
                <c:pt idx="11">
                  <c:v>7491.8319899999997</c:v>
                </c:pt>
                <c:pt idx="12">
                  <c:v>3496.33304</c:v>
                </c:pt>
                <c:pt idx="13">
                  <c:v>5739.0031499999996</c:v>
                </c:pt>
                <c:pt idx="14">
                  <c:v>6080.5808999999999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Лист1!$C$21:$C$36</c15:f>
                <c15:dlblRangeCache>
                  <c:ptCount val="16"/>
                  <c:pt idx="0">
                    <c:v>89%</c:v>
                  </c:pt>
                  <c:pt idx="1">
                    <c:v>80%</c:v>
                  </c:pt>
                  <c:pt idx="2">
                    <c:v>83%</c:v>
                  </c:pt>
                  <c:pt idx="3">
                    <c:v>83%</c:v>
                  </c:pt>
                  <c:pt idx="4">
                    <c:v>86%</c:v>
                  </c:pt>
                  <c:pt idx="5">
                    <c:v>83%</c:v>
                  </c:pt>
                  <c:pt idx="6">
                    <c:v>87%</c:v>
                  </c:pt>
                  <c:pt idx="7">
                    <c:v>82%</c:v>
                  </c:pt>
                  <c:pt idx="8">
                    <c:v>69%</c:v>
                  </c:pt>
                  <c:pt idx="9">
                    <c:v>88%</c:v>
                  </c:pt>
                  <c:pt idx="10">
                    <c:v>75%</c:v>
                  </c:pt>
                  <c:pt idx="11">
                    <c:v>85%</c:v>
                  </c:pt>
                  <c:pt idx="12">
                    <c:v>56%</c:v>
                  </c:pt>
                  <c:pt idx="13">
                    <c:v>66%</c:v>
                  </c:pt>
                  <c:pt idx="14">
                    <c:v>89%</c:v>
                  </c:pt>
                  <c:pt idx="15">
                    <c:v>90%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D-C3D7-4A2C-BDD1-30C344D01C66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15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7FBBEA0-3BEF-4858-8F7C-2A80A36557D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60FD227-60C3-4B2C-8D57-40E3E6F3BB4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0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4DC9CF8-2480-4BE1-A2F7-45A01FC0AA2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1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2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FE9CF48-040C-4CC4-A53A-56DCCE8A74A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3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07EEE9B2-DD02-4125-97FB-ED06BD6BC6D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4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5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563CF120-BA10-4425-9B1F-AB3F220F58D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6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F590F93F-921F-4DB7-8DC8-D9A5B10DCF9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AAA130A0-85F9-4B51-ABA7-8D8726B351C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8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37B22B13-350B-445E-8360-A2FC4572898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9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CEB0E68-34C2-4968-A46A-B82FC7F098C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A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E0492702-1DF4-4951-AAC1-9262739406C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B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51150DBE-24ED-4FCC-96AC-8277F4C608B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C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D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E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F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0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1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2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3-C3D7-4A2C-BDD1-30C344D01C66}"/>
                </c:ext>
              </c:extLst>
            </c:dLbl>
            <c:dLbl>
              <c:idx val="22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5-9DFF-41A3-A0EC-2F16F7C70363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3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Лист1!$D$2:$D$16</c:f>
              <c:numCache>
                <c:formatCode>#,##0</c:formatCode>
                <c:ptCount val="15"/>
                <c:pt idx="0">
                  <c:v>542.48239000000001</c:v>
                </c:pt>
                <c:pt idx="1">
                  <c:v>512.39723000000004</c:v>
                </c:pt>
                <c:pt idx="3">
                  <c:v>699.05538000000001</c:v>
                </c:pt>
                <c:pt idx="5">
                  <c:v>184.34969000000001</c:v>
                </c:pt>
                <c:pt idx="6">
                  <c:v>692.18182999999999</c:v>
                </c:pt>
                <c:pt idx="8">
                  <c:v>555.95582000000002</c:v>
                </c:pt>
                <c:pt idx="9">
                  <c:v>291.29102</c:v>
                </c:pt>
                <c:pt idx="10">
                  <c:v>1876.65003</c:v>
                </c:pt>
                <c:pt idx="11">
                  <c:v>53.669130000000003</c:v>
                </c:pt>
                <c:pt idx="12">
                  <c:v>1301.5518199999999</c:v>
                </c:pt>
                <c:pt idx="13">
                  <c:v>2805.0614700000001</c:v>
                </c:pt>
                <c:pt idx="14">
                  <c:v>371.67453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Лист1!$D$21:$D$36</c15:f>
                <c15:dlblRangeCache>
                  <c:ptCount val="16"/>
                  <c:pt idx="0">
                    <c:v>11%</c:v>
                  </c:pt>
                  <c:pt idx="1">
                    <c:v>7%</c:v>
                  </c:pt>
                  <c:pt idx="2">
                    <c:v>0%</c:v>
                  </c:pt>
                  <c:pt idx="3">
                    <c:v>10%</c:v>
                  </c:pt>
                  <c:pt idx="4">
                    <c:v>0%</c:v>
                  </c:pt>
                  <c:pt idx="5">
                    <c:v>3%</c:v>
                  </c:pt>
                  <c:pt idx="6">
                    <c:v>11%</c:v>
                  </c:pt>
                  <c:pt idx="7">
                    <c:v>0%</c:v>
                  </c:pt>
                  <c:pt idx="8">
                    <c:v>7%</c:v>
                  </c:pt>
                  <c:pt idx="9">
                    <c:v>3%</c:v>
                  </c:pt>
                  <c:pt idx="10">
                    <c:v>17%</c:v>
                  </c:pt>
                  <c:pt idx="11">
                    <c:v>1%</c:v>
                  </c:pt>
                  <c:pt idx="12">
                    <c:v>21%</c:v>
                  </c:pt>
                  <c:pt idx="13">
                    <c:v>32%</c:v>
                  </c:pt>
                  <c:pt idx="14">
                    <c:v>5%</c:v>
                  </c:pt>
                  <c:pt idx="15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4-C3D7-4A2C-BDD1-30C344D01C66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20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5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C543EAB9-FC81-4F5C-A736-87648397838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6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8F59512-37F8-4986-9DC2-C0494D72B25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7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FD94171F-156F-4CF0-AD6A-95E1C35487D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8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F6308E6-155D-4F53-966F-F9561CB2FB8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9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A3EA1FB-D533-4DD4-95EC-E60FC83446D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A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6F711986-A3C7-490B-8FEF-C9D844DDC03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B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2AD3E0C-B619-47D3-B3C3-A919C84305D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C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CCB84ADC-51CF-48DE-892D-F4C913141AC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D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F6867A59-9F61-40FC-B493-8A8A4079F39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E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7D6AD11-DB37-4C01-8B6C-EB370EEC493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F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E680351C-7FAA-4108-884E-2BCF9D65461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0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03A812CD-F125-4BD6-9A88-858FF04D9F4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1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0AD335CF-564B-4B4A-BABC-54B79E0CE49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2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7CA568A9-A12E-486A-B7E8-E2CEE7699CA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3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4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5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6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7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8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9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A-C3D7-4A2C-BDD1-30C344D01C66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4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Лист1!$E$2:$E$16</c:f>
              <c:numCache>
                <c:formatCode>#,##0</c:formatCode>
                <c:ptCount val="15"/>
                <c:pt idx="1">
                  <c:v>483.72375</c:v>
                </c:pt>
                <c:pt idx="2">
                  <c:v>489.65213999999997</c:v>
                </c:pt>
                <c:pt idx="3">
                  <c:v>190.38079999999999</c:v>
                </c:pt>
                <c:pt idx="4">
                  <c:v>404.92734999999999</c:v>
                </c:pt>
                <c:pt idx="5">
                  <c:v>374.88418999999999</c:v>
                </c:pt>
                <c:pt idx="6">
                  <c:v>101.97269</c:v>
                </c:pt>
                <c:pt idx="7">
                  <c:v>497.03841999999997</c:v>
                </c:pt>
                <c:pt idx="8">
                  <c:v>1537.1559999999999</c:v>
                </c:pt>
                <c:pt idx="9">
                  <c:v>396.80108999999999</c:v>
                </c:pt>
                <c:pt idx="10">
                  <c:v>603.67062999999996</c:v>
                </c:pt>
                <c:pt idx="11">
                  <c:v>513.14927</c:v>
                </c:pt>
                <c:pt idx="12">
                  <c:v>1194.3774100000001</c:v>
                </c:pt>
                <c:pt idx="13">
                  <c:v>36.418849999999999</c:v>
                </c:pt>
                <c:pt idx="14">
                  <c:v>396.00582000000003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Лист1!$E$21:$E$36</c15:f>
                <c15:dlblRangeCache>
                  <c:ptCount val="16"/>
                  <c:pt idx="0">
                    <c:v>0%</c:v>
                  </c:pt>
                  <c:pt idx="1">
                    <c:v>7%</c:v>
                  </c:pt>
                  <c:pt idx="2">
                    <c:v>6%</c:v>
                  </c:pt>
                  <c:pt idx="3">
                    <c:v>3%</c:v>
                  </c:pt>
                  <c:pt idx="4">
                    <c:v>4%</c:v>
                  </c:pt>
                  <c:pt idx="5">
                    <c:v>6%</c:v>
                  </c:pt>
                  <c:pt idx="6">
                    <c:v>2%</c:v>
                  </c:pt>
                  <c:pt idx="7">
                    <c:v>7%</c:v>
                  </c:pt>
                  <c:pt idx="8">
                    <c:v>20%</c:v>
                  </c:pt>
                  <c:pt idx="9">
                    <c:v>4%</c:v>
                  </c:pt>
                  <c:pt idx="10">
                    <c:v>5%</c:v>
                  </c:pt>
                  <c:pt idx="11">
                    <c:v>6%</c:v>
                  </c:pt>
                  <c:pt idx="12">
                    <c:v>19%</c:v>
                  </c:pt>
                  <c:pt idx="13">
                    <c:v>0%</c:v>
                  </c:pt>
                  <c:pt idx="14">
                    <c:v>6%</c:v>
                  </c:pt>
                  <c:pt idx="15">
                    <c:v>10%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5B-C3D7-4A2C-BDD1-30C344D01C66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25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Лист1!$F$2:$F$16</c:f>
              <c:numCache>
                <c:formatCode>General</c:formatCode>
                <c:ptCount val="15"/>
              </c:numCache>
            </c:numRef>
          </c:val>
          <c:extLst>
            <c:ext xmlns:c16="http://schemas.microsoft.com/office/drawing/2014/chart" uri="{C3380CC4-5D6E-409C-BE32-E72D297353CC}">
              <c16:uniqueId val="{0000005C-C3D7-4A2C-BDD1-30C344D01C66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</c:strCache>
            </c:strRef>
          </c:tx>
          <c:spPr>
            <a:prstGeom prst="rect">
              <a:avLst/>
            </a:prstGeom>
            <a:solidFill>
              <a:schemeClr val="tx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D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E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F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0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1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2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3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4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5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6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7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8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9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A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B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C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D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E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F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0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1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2-C3D7-4A2C-BDD1-30C344D01C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Лист1!$G$2:$G$16</c:f>
              <c:numCache>
                <c:formatCode>General</c:formatCode>
                <c:ptCount val="15"/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Лист1!$H$19:$H$30</c15:f>
                <c15:dlblRangeCache>
                  <c:ptCount val="12"/>
                </c15:dlblRangeCache>
              </c15:datalabelsRange>
            </c:ext>
            <c:ext xmlns:c16="http://schemas.microsoft.com/office/drawing/2014/chart" uri="{C3380CC4-5D6E-409C-BE32-E72D297353CC}">
              <c16:uniqueId val="{00000073-C3D7-4A2C-BDD1-30C344D01C66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50</c:v>
                </c:pt>
              </c:strCache>
            </c:strRef>
          </c:tx>
          <c:spPr>
            <a:prstGeom prst="rect">
              <a:avLst/>
            </a:prstGeom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Лист1!$H$2:$H$16</c:f>
              <c:numCache>
                <c:formatCode>General</c:formatCode>
                <c:ptCount val="15"/>
              </c:numCache>
            </c:numRef>
          </c:val>
          <c:extLst>
            <c:ext xmlns:c16="http://schemas.microsoft.com/office/drawing/2014/chart" uri="{C3380CC4-5D6E-409C-BE32-E72D297353CC}">
              <c16:uniqueId val="{00000074-C3D7-4A2C-BDD1-30C344D01C6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barChart>
        <c:barDir val="col"/>
        <c:grouping val="percentStacked"/>
        <c:varyColors val="0"/>
        <c:ser>
          <c:idx val="7"/>
          <c:order val="7"/>
          <c:tx>
            <c:strRef>
              <c:f>Лист1!$I$1</c:f>
              <c:strCache>
                <c:ptCount val="1"/>
                <c:pt idx="0">
                  <c:v>Ср.Хроно</c:v>
                </c:pt>
              </c:strCache>
            </c:strRef>
          </c:tx>
          <c:spPr>
            <a:prstGeom prst="rect">
              <a:avLst/>
            </a:prstGeom>
            <a:ln w="28575" cap="rnd">
              <a:solidFill>
                <a:srgbClr val="FF0000"/>
              </a:solidFill>
              <a:round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baseline="0">
                    <a:solidFill>
                      <a:srgbClr val="FF000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Лист1!$I$2:$I$16</c:f>
              <c:numCache>
                <c:formatCode>0.0</c:formatCode>
                <c:ptCount val="15"/>
                <c:pt idx="0">
                  <c:v>10.559141979427396</c:v>
                </c:pt>
                <c:pt idx="1">
                  <c:v>10.712540333533662</c:v>
                </c:pt>
                <c:pt idx="2">
                  <c:v>10.013609743561146</c:v>
                </c:pt>
                <c:pt idx="3">
                  <c:v>10.551783092085593</c:v>
                </c:pt>
                <c:pt idx="4">
                  <c:v>9.9908697289127435</c:v>
                </c:pt>
                <c:pt idx="5">
                  <c:v>10.454671996993074</c:v>
                </c:pt>
                <c:pt idx="6">
                  <c:v>10.721825839824543</c:v>
                </c:pt>
                <c:pt idx="7">
                  <c:v>10.219736261778261</c:v>
                </c:pt>
                <c:pt idx="8">
                  <c:v>12.179944930913534</c:v>
                </c:pt>
                <c:pt idx="9">
                  <c:v>10.351429747918951</c:v>
                </c:pt>
                <c:pt idx="10">
                  <c:v>11.263336613619302</c:v>
                </c:pt>
                <c:pt idx="11">
                  <c:v>10.179213390495665</c:v>
                </c:pt>
                <c:pt idx="12">
                  <c:v>12.787420347401328</c:v>
                </c:pt>
                <c:pt idx="13">
                  <c:v>11.62620652017697</c:v>
                </c:pt>
                <c:pt idx="14">
                  <c:v>10.849621624759129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5-C3D7-4A2C-BDD1-30C344D01C6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1776944880"/>
        <c:axId val="1776940080"/>
      </c:barChart>
      <c:dateAx>
        <c:axId val="322483696"/>
        <c:scaling>
          <c:orientation val="minMax"/>
        </c:scaling>
        <c:delete val="0"/>
        <c:axPos val="b"/>
        <c:numFmt formatCode="mmm\-yy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Offset val="100"/>
        <c:baseTimeUnit val="months"/>
      </c:dateAx>
      <c:valAx>
        <c:axId val="322483216"/>
        <c:scaling>
          <c:orientation val="minMax"/>
          <c:max val="1.5"/>
        </c:scaling>
        <c:delete val="0"/>
        <c:axPos val="l"/>
        <c:numFmt formatCode="0%" sourceLinked="1"/>
        <c:majorTickMark val="cross"/>
        <c:minorTickMark val="none"/>
        <c:tickLblPos val="nextTo"/>
        <c:spPr>
          <a:prstGeom prst="rect">
            <a:avLst/>
          </a:prstGeom>
          <a:noFill/>
          <a:ln>
            <a:solidFill>
              <a:schemeClr val="bg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1000" b="0" i="0" u="none" strike="noStrike" kern="1200" baseline="0">
                <a:solidFill>
                  <a:schemeClr val="tx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majorUnit val="0.5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valAx>
        <c:axId val="1776940080"/>
        <c:scaling>
          <c:orientation val="minMax"/>
          <c:max val="15"/>
          <c:min val="-5"/>
        </c:scaling>
        <c:delete val="0"/>
        <c:axPos val="r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baseline="0">
                <a:solidFill>
                  <a:schemeClr val="bg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776944880"/>
        <c:crosses val="max"/>
        <c:crossBetween val="between"/>
      </c:valAx>
      <c:dateAx>
        <c:axId val="1776944880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1776940080"/>
        <c:crosses val="autoZero"/>
        <c:auto val="1"/>
        <c:lblOffset val="100"/>
        <c:baseTimeUnit val="months"/>
        <c:majorUnit val="1"/>
        <c:minorUnit val="1"/>
      </c:dateAx>
      <c:spPr>
        <a:prstGeom prst="rect">
          <a:avLst/>
        </a:prstGeom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0.212113"/>
          <c:y val="0.76288400000000001"/>
          <c:w val="0.68141200000000002"/>
          <c:h val="8.6957000000000007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67528" y="3515555"/>
      <a:ext cx="6494108" cy="299448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/>
              <a:t>Ср. </a:t>
            </a:r>
            <a:r>
              <a:rPr lang="ru-RU" sz="1200" b="1" dirty="0" err="1"/>
              <a:t>хроно</a:t>
            </a:r>
            <a:r>
              <a:rPr lang="ru-RU" sz="1200" b="1" dirty="0"/>
              <a:t> бренда, Рег. ТВ, все коммуникации, вкл. КООП</a:t>
            </a:r>
          </a:p>
        </c:rich>
      </c:tx>
      <c:layout>
        <c:manualLayout>
          <c:xMode val="edge"/>
          <c:yMode val="edge"/>
          <c:x val="0.12985097297145387"/>
          <c:y val="4.2411065996581079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8.6463712801791104E-2"/>
          <c:y val="0.12377593664831203"/>
          <c:w val="0.84465400000000002"/>
          <c:h val="0.48898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5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F9C6C8B-6F13-4774-A2AA-89321B62D5A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2042CA87-C814-40B3-BBED-2B01B6ED96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94018FF-94DF-4BFF-B882-6D33B5AE1EE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30215FD-5E7B-4D8D-8C65-C359D2C9DC7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846DA7B-95B9-478C-907F-96D674E2540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88A27BC-065D-4D85-B7D8-7CC2E9DF3C2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5D624983-72E9-4171-833C-F4B184F0073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56594E6-C47C-4A6F-9C2E-F3CF8340EFE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E8549E5B-4855-4CEE-81A2-A8470230A6D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FCA366F9-EB1E-46F4-A14C-E7528B41DEC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4AAC5C5E-D05D-44B9-8C14-C64C0EAF8B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83A01345-8963-4B74-8EAB-2A6FCE8DC94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4AFA6DE4-0C61-48E2-9C65-5E0B1F01F34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6CB99227-F300-4345-B9FF-4A80C876129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C3D7-4A2C-BDD1-30C344D01C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Лист1!$B$2:$B$16</c:f>
              <c:numCache>
                <c:formatCode>#,##0</c:formatCode>
                <c:ptCount val="15"/>
                <c:pt idx="0" formatCode="General">
                  <c:v>494.29557</c:v>
                </c:pt>
                <c:pt idx="1">
                  <c:v>446.46030999999999</c:v>
                </c:pt>
                <c:pt idx="2">
                  <c:v>422.06313</c:v>
                </c:pt>
                <c:pt idx="3">
                  <c:v>439.82184999999998</c:v>
                </c:pt>
                <c:pt idx="4">
                  <c:v>359.90929</c:v>
                </c:pt>
                <c:pt idx="5">
                  <c:v>331.7081</c:v>
                </c:pt>
                <c:pt idx="6" formatCode="General">
                  <c:v>312.16171000000003</c:v>
                </c:pt>
                <c:pt idx="7">
                  <c:v>355.22192999999999</c:v>
                </c:pt>
                <c:pt idx="8">
                  <c:v>343.69306999999998</c:v>
                </c:pt>
                <c:pt idx="9">
                  <c:v>402.82098999999999</c:v>
                </c:pt>
                <c:pt idx="10">
                  <c:v>419.61653999999999</c:v>
                </c:pt>
                <c:pt idx="11">
                  <c:v>377.32693</c:v>
                </c:pt>
                <c:pt idx="12">
                  <c:v>224.53898000000001</c:v>
                </c:pt>
                <c:pt idx="13">
                  <c:v>65.777860000000004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Лист1!$B$21:$B$36</c15:f>
                <c15:dlblRangeCache>
                  <c:ptCount val="16"/>
                  <c:pt idx="0">
                    <c:v>0%</c:v>
                  </c:pt>
                  <c:pt idx="1">
                    <c:v>6%</c:v>
                  </c:pt>
                  <c:pt idx="2">
                    <c:v>11%</c:v>
                  </c:pt>
                  <c:pt idx="3">
                    <c:v>4%</c:v>
                  </c:pt>
                  <c:pt idx="4">
                    <c:v>9%</c:v>
                  </c:pt>
                  <c:pt idx="5">
                    <c:v>7%</c:v>
                  </c:pt>
                  <c:pt idx="6">
                    <c:v>0%</c:v>
                  </c:pt>
                  <c:pt idx="7">
                    <c:v>10%</c:v>
                  </c:pt>
                  <c:pt idx="8">
                    <c:v>4%</c:v>
                  </c:pt>
                  <c:pt idx="9">
                    <c:v>5%</c:v>
                  </c:pt>
                  <c:pt idx="10">
                    <c:v>2%</c:v>
                  </c:pt>
                  <c:pt idx="11">
                    <c:v>9%</c:v>
                  </c:pt>
                  <c:pt idx="12">
                    <c:v>4%</c:v>
                  </c:pt>
                  <c:pt idx="13">
                    <c:v>1%</c:v>
                  </c:pt>
                  <c:pt idx="14">
                    <c:v>0%</c:v>
                  </c:pt>
                  <c:pt idx="15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6-C3D7-4A2C-BDD1-30C344D01C66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10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98703C3-C844-481E-88DF-B94500FE699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E96AC2F-7EF8-42CA-AE9F-0F15137769C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8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4D0F0FEE-6399-412E-9D41-F20ED564F7E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133E539-E3A2-4635-A3C1-B47E1780786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3A022A1-5BDC-4167-8DFC-636F22EB7B9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FD2DC1A-A495-47D4-AA3E-01B149941D8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C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4307ECDF-E002-407D-BDB2-5455D983C34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C1292A2-D015-4025-B96D-20779A1C198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E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262628AB-948A-4A13-8FBD-EC7C6236A77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F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3205806E-1E7B-4EF1-95A7-95834F15448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0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3CBF15A-8712-4A18-9367-EEC98FB48C8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8438FADE-C8AD-438E-B449-3FD25227DD4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04C88199-0635-48BE-B8F3-7C537A3EDCF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3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01DCD5CE-07BB-4150-821E-F645A6398AC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4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C3F6DEDF-099A-4286-BFB4-FF9CC2CDE43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6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7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8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9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A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B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C-C3D7-4A2C-BDD1-30C344D01C66}"/>
                </c:ext>
              </c:extLst>
            </c:dLbl>
            <c:dLbl>
              <c:idx val="22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1-9DFF-41A3-A0EC-2F16F7C70363}"/>
                </c:ext>
              </c:extLst>
            </c:dLbl>
            <c:dLbl>
              <c:idx val="23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0-9DFF-41A3-A0EC-2F16F7C70363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2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Лист1!$C$2:$C$16</c:f>
              <c:numCache>
                <c:formatCode>#,##0</c:formatCode>
                <c:ptCount val="15"/>
                <c:pt idx="0">
                  <c:v>539.26565000000005</c:v>
                </c:pt>
                <c:pt idx="1">
                  <c:v>753.86532999999997</c:v>
                </c:pt>
                <c:pt idx="2">
                  <c:v>905.92179999999996</c:v>
                </c:pt>
                <c:pt idx="3">
                  <c:v>857.83432000000005</c:v>
                </c:pt>
                <c:pt idx="4">
                  <c:v>860.33843000000002</c:v>
                </c:pt>
                <c:pt idx="5">
                  <c:v>708.41701999999998</c:v>
                </c:pt>
                <c:pt idx="6">
                  <c:v>819.87158999999997</c:v>
                </c:pt>
                <c:pt idx="7">
                  <c:v>890.61647000000005</c:v>
                </c:pt>
                <c:pt idx="8">
                  <c:v>794.42340000000002</c:v>
                </c:pt>
                <c:pt idx="9">
                  <c:v>950.23247000000003</c:v>
                </c:pt>
                <c:pt idx="10">
                  <c:v>911.81840999999997</c:v>
                </c:pt>
                <c:pt idx="11">
                  <c:v>958.47938999999997</c:v>
                </c:pt>
                <c:pt idx="12">
                  <c:v>1200.7911300000001</c:v>
                </c:pt>
                <c:pt idx="13">
                  <c:v>1116.77847</c:v>
                </c:pt>
                <c:pt idx="14">
                  <c:v>1186.2760599999999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Лист1!$C$21:$C$36</c15:f>
                <c15:dlblRangeCache>
                  <c:ptCount val="16"/>
                  <c:pt idx="0">
                    <c:v>89%</c:v>
                  </c:pt>
                  <c:pt idx="1">
                    <c:v>80%</c:v>
                  </c:pt>
                  <c:pt idx="2">
                    <c:v>83%</c:v>
                  </c:pt>
                  <c:pt idx="3">
                    <c:v>83%</c:v>
                  </c:pt>
                  <c:pt idx="4">
                    <c:v>86%</c:v>
                  </c:pt>
                  <c:pt idx="5">
                    <c:v>83%</c:v>
                  </c:pt>
                  <c:pt idx="6">
                    <c:v>87%</c:v>
                  </c:pt>
                  <c:pt idx="7">
                    <c:v>82%</c:v>
                  </c:pt>
                  <c:pt idx="8">
                    <c:v>69%</c:v>
                  </c:pt>
                  <c:pt idx="9">
                    <c:v>88%</c:v>
                  </c:pt>
                  <c:pt idx="10">
                    <c:v>75%</c:v>
                  </c:pt>
                  <c:pt idx="11">
                    <c:v>85%</c:v>
                  </c:pt>
                  <c:pt idx="12">
                    <c:v>56%</c:v>
                  </c:pt>
                  <c:pt idx="13">
                    <c:v>66%</c:v>
                  </c:pt>
                  <c:pt idx="14">
                    <c:v>89%</c:v>
                  </c:pt>
                  <c:pt idx="15">
                    <c:v>90%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D-C3D7-4A2C-BDD1-30C344D01C66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15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12B6CB62-E42B-42B4-8A6E-CAA0AC783DC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AFD9237-C84F-4F01-9E8A-6E5E63DEEA8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0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1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2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3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4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5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6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7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8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9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A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B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C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D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E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F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0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1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2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3-C3D7-4A2C-BDD1-30C344D01C66}"/>
                </c:ext>
              </c:extLst>
            </c:dLbl>
            <c:dLbl>
              <c:idx val="22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5-9DFF-41A3-A0EC-2F16F7C70363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3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Лист1!$D$2:$D$16</c:f>
              <c:numCache>
                <c:formatCode>#,##0</c:formatCode>
                <c:ptCount val="15"/>
                <c:pt idx="0">
                  <c:v>140.31755999999999</c:v>
                </c:pt>
                <c:pt idx="1">
                  <c:v>68.289240000000007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Лист1!$D$21:$D$36</c15:f>
                <c15:dlblRangeCache>
                  <c:ptCount val="16"/>
                  <c:pt idx="0">
                    <c:v>11%</c:v>
                  </c:pt>
                  <c:pt idx="1">
                    <c:v>7%</c:v>
                  </c:pt>
                  <c:pt idx="2">
                    <c:v>0%</c:v>
                  </c:pt>
                  <c:pt idx="3">
                    <c:v>10%</c:v>
                  </c:pt>
                  <c:pt idx="4">
                    <c:v>0%</c:v>
                  </c:pt>
                  <c:pt idx="5">
                    <c:v>3%</c:v>
                  </c:pt>
                  <c:pt idx="6">
                    <c:v>11%</c:v>
                  </c:pt>
                  <c:pt idx="7">
                    <c:v>0%</c:v>
                  </c:pt>
                  <c:pt idx="8">
                    <c:v>7%</c:v>
                  </c:pt>
                  <c:pt idx="9">
                    <c:v>3%</c:v>
                  </c:pt>
                  <c:pt idx="10">
                    <c:v>17%</c:v>
                  </c:pt>
                  <c:pt idx="11">
                    <c:v>1%</c:v>
                  </c:pt>
                  <c:pt idx="12">
                    <c:v>21%</c:v>
                  </c:pt>
                  <c:pt idx="13">
                    <c:v>32%</c:v>
                  </c:pt>
                  <c:pt idx="14">
                    <c:v>5%</c:v>
                  </c:pt>
                  <c:pt idx="15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4-C3D7-4A2C-BDD1-30C344D01C66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20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5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6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7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8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9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A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B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C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6F586F9C-8A6F-4A3F-ACC7-B5EFB6FB364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D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0D12D5A3-5D8B-494C-BAF5-F90425E0E66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E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F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0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1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2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3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4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5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6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7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8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9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A-C3D7-4A2C-BDD1-30C344D01C66}"/>
                </c:ext>
              </c:extLst>
            </c:dLbl>
            <c:dLbl>
              <c:idx val="24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4-9DFF-41A3-A0EC-2F16F7C703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Лист1!$E$2:$E$16</c:f>
              <c:numCache>
                <c:formatCode>General</c:formatCode>
                <c:ptCount val="15"/>
                <c:pt idx="8" formatCode="#,##0">
                  <c:v>72.170310000000001</c:v>
                </c:pt>
                <c:pt idx="9" formatCode="#,##0">
                  <c:v>34.244050000000001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Лист1!$E$21:$E$36</c15:f>
                <c15:dlblRangeCache>
                  <c:ptCount val="16"/>
                  <c:pt idx="0">
                    <c:v>0%</c:v>
                  </c:pt>
                  <c:pt idx="1">
                    <c:v>7%</c:v>
                  </c:pt>
                  <c:pt idx="2">
                    <c:v>6%</c:v>
                  </c:pt>
                  <c:pt idx="3">
                    <c:v>3%</c:v>
                  </c:pt>
                  <c:pt idx="4">
                    <c:v>4%</c:v>
                  </c:pt>
                  <c:pt idx="5">
                    <c:v>6%</c:v>
                  </c:pt>
                  <c:pt idx="6">
                    <c:v>2%</c:v>
                  </c:pt>
                  <c:pt idx="7">
                    <c:v>7%</c:v>
                  </c:pt>
                  <c:pt idx="8">
                    <c:v>20%</c:v>
                  </c:pt>
                  <c:pt idx="9">
                    <c:v>4%</c:v>
                  </c:pt>
                  <c:pt idx="10">
                    <c:v>5%</c:v>
                  </c:pt>
                  <c:pt idx="11">
                    <c:v>6%</c:v>
                  </c:pt>
                  <c:pt idx="12">
                    <c:v>19%</c:v>
                  </c:pt>
                  <c:pt idx="13">
                    <c:v>0%</c:v>
                  </c:pt>
                  <c:pt idx="14">
                    <c:v>6%</c:v>
                  </c:pt>
                  <c:pt idx="15">
                    <c:v>10%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5B-C3D7-4A2C-BDD1-30C344D01C66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25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Лист1!$F$2:$F$16</c:f>
              <c:numCache>
                <c:formatCode>General</c:formatCode>
                <c:ptCount val="15"/>
              </c:numCache>
            </c:numRef>
          </c:val>
          <c:extLst>
            <c:ext xmlns:c16="http://schemas.microsoft.com/office/drawing/2014/chart" uri="{C3380CC4-5D6E-409C-BE32-E72D297353CC}">
              <c16:uniqueId val="{0000005C-C3D7-4A2C-BDD1-30C344D01C66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</c:strCache>
            </c:strRef>
          </c:tx>
          <c:spPr>
            <a:prstGeom prst="rect">
              <a:avLst/>
            </a:prstGeom>
            <a:solidFill>
              <a:schemeClr val="tx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D-C3D7-4A2C-BDD1-30C344D01C6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E-C3D7-4A2C-BDD1-30C344D01C6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F-C3D7-4A2C-BDD1-30C344D01C6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en-US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0-C3D7-4A2C-BDD1-30C344D01C6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1-C3D7-4A2C-BDD1-30C344D01C6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2-C3D7-4A2C-BDD1-30C344D01C6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3-C3D7-4A2C-BDD1-30C344D01C6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4-C3D7-4A2C-BDD1-30C344D01C6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5-C3D7-4A2C-BDD1-30C344D01C6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6-C3D7-4A2C-BDD1-30C344D01C6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7-C3D7-4A2C-BDD1-30C344D01C66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8-C3D7-4A2C-BDD1-30C344D01C66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9-C3D7-4A2C-BDD1-30C344D01C66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A-C3D7-4A2C-BDD1-30C344D01C66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B-C3D7-4A2C-BDD1-30C344D01C66}"/>
                </c:ext>
              </c:extLst>
            </c:dLbl>
            <c:dLbl>
              <c:idx val="15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C-C3D7-4A2C-BDD1-30C344D01C66}"/>
                </c:ext>
              </c:extLst>
            </c:dLbl>
            <c:dLbl>
              <c:idx val="16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D-C3D7-4A2C-BDD1-30C344D01C66}"/>
                </c:ext>
              </c:extLst>
            </c:dLbl>
            <c:dLbl>
              <c:idx val="17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E-C3D7-4A2C-BDD1-30C344D01C66}"/>
                </c:ext>
              </c:extLst>
            </c:dLbl>
            <c:dLbl>
              <c:idx val="18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F-C3D7-4A2C-BDD1-30C344D01C66}"/>
                </c:ext>
              </c:extLst>
            </c:dLbl>
            <c:dLbl>
              <c:idx val="19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0-C3D7-4A2C-BDD1-30C344D01C66}"/>
                </c:ext>
              </c:extLst>
            </c:dLbl>
            <c:dLbl>
              <c:idx val="20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1-C3D7-4A2C-BDD1-30C344D01C66}"/>
                </c:ext>
              </c:extLst>
            </c:dLbl>
            <c:dLbl>
              <c:idx val="21"/>
              <c:showLegendKey val="0"/>
              <c:showVal val="0"/>
              <c:showCatName val="0"/>
              <c:showSerName val="0"/>
              <c:showPercent val="0"/>
              <c:showBubbleSize val="0"/>
              <c:extLst xmlns:mc="http://schemas.openxmlformats.org/markup-compatibility/2006" xmlns:c15="http://schemas.microsoft.com/office/drawing/2012/chart" xmlns:c14="http://schemas.microsoft.com/office/drawing/2007/8/2/chart"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2-C3D7-4A2C-BDD1-30C344D01C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Лист1!$G$2:$G$16</c:f>
              <c:numCache>
                <c:formatCode>General</c:formatCode>
                <c:ptCount val="15"/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Лист1!$H$19:$H$30</c15:f>
                <c15:dlblRangeCache>
                  <c:ptCount val="12"/>
                </c15:dlblRangeCache>
              </c15:datalabelsRange>
            </c:ext>
            <c:ext xmlns:c16="http://schemas.microsoft.com/office/drawing/2014/chart" uri="{C3380CC4-5D6E-409C-BE32-E72D297353CC}">
              <c16:uniqueId val="{00000073-C3D7-4A2C-BDD1-30C344D01C66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50</c:v>
                </c:pt>
              </c:strCache>
            </c:strRef>
          </c:tx>
          <c:spPr>
            <a:prstGeom prst="rect">
              <a:avLst/>
            </a:prstGeom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Лист1!$H$2:$H$16</c:f>
              <c:numCache>
                <c:formatCode>General</c:formatCode>
                <c:ptCount val="15"/>
              </c:numCache>
            </c:numRef>
          </c:val>
          <c:extLst>
            <c:ext xmlns:c16="http://schemas.microsoft.com/office/drawing/2014/chart" uri="{C3380CC4-5D6E-409C-BE32-E72D297353CC}">
              <c16:uniqueId val="{00000074-C3D7-4A2C-BDD1-30C344D01C6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barChart>
        <c:barDir val="col"/>
        <c:grouping val="percentStacked"/>
        <c:varyColors val="0"/>
        <c:ser>
          <c:idx val="7"/>
          <c:order val="7"/>
          <c:tx>
            <c:strRef>
              <c:f>Лист1!$I$1</c:f>
              <c:strCache>
                <c:ptCount val="1"/>
                <c:pt idx="0">
                  <c:v>Ср.Хроно</c:v>
                </c:pt>
              </c:strCache>
            </c:strRef>
          </c:tx>
          <c:spPr>
            <a:prstGeom prst="rect">
              <a:avLst/>
            </a:prstGeom>
            <a:ln w="28575" cap="rnd">
              <a:solidFill>
                <a:srgbClr val="FF0000"/>
              </a:solidFill>
              <a:round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baseline="0">
                    <a:solidFill>
                      <a:srgbClr val="FF000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Лист1!$I$2:$I$16</c:f>
              <c:numCache>
                <c:formatCode>0.0</c:formatCode>
                <c:ptCount val="15"/>
                <c:pt idx="0">
                  <c:v>8.4922718766583376</c:v>
                </c:pt>
                <c:pt idx="1">
                  <c:v>8.5095119253212612</c:v>
                </c:pt>
                <c:pt idx="2">
                  <c:v>8.4108888569993017</c:v>
                </c:pt>
                <c:pt idx="3">
                  <c:v>8.3053220869747033</c:v>
                </c:pt>
                <c:pt idx="4">
                  <c:v>8.5252613706993845</c:v>
                </c:pt>
                <c:pt idx="5">
                  <c:v>8.4054413569013704</c:v>
                </c:pt>
                <c:pt idx="6">
                  <c:v>8.621234419517517</c:v>
                </c:pt>
                <c:pt idx="7">
                  <c:v>8.5743659450535485</c:v>
                </c:pt>
                <c:pt idx="8">
                  <c:v>9.1764247395976692</c:v>
                </c:pt>
                <c:pt idx="9">
                  <c:v>8.7950209396685217</c:v>
                </c:pt>
                <c:pt idx="10">
                  <c:v>8.424194362631086</c:v>
                </c:pt>
                <c:pt idx="11">
                  <c:v>8.5876435664715238</c:v>
                </c:pt>
                <c:pt idx="12">
                  <c:v>9.2123263992507667</c:v>
                </c:pt>
                <c:pt idx="13">
                  <c:v>9.7218827622359445</c:v>
                </c:pt>
                <c:pt idx="14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5-C3D7-4A2C-BDD1-30C344D01C6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1776944880"/>
        <c:axId val="1776940080"/>
      </c:barChart>
      <c:dateAx>
        <c:axId val="322483696"/>
        <c:scaling>
          <c:orientation val="minMax"/>
        </c:scaling>
        <c:delete val="0"/>
        <c:axPos val="b"/>
        <c:numFmt formatCode="mmm\-yy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Offset val="100"/>
        <c:baseTimeUnit val="months"/>
      </c:dateAx>
      <c:valAx>
        <c:axId val="322483216"/>
        <c:scaling>
          <c:orientation val="minMax"/>
          <c:max val="1.5"/>
        </c:scaling>
        <c:delete val="0"/>
        <c:axPos val="l"/>
        <c:numFmt formatCode="0%" sourceLinked="1"/>
        <c:majorTickMark val="cross"/>
        <c:minorTickMark val="none"/>
        <c:tickLblPos val="nextTo"/>
        <c:spPr>
          <a:prstGeom prst="rect">
            <a:avLst/>
          </a:prstGeom>
          <a:noFill/>
          <a:ln>
            <a:solidFill>
              <a:schemeClr val="bg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1000" b="0" i="0" u="none" strike="noStrike" kern="1200" baseline="0">
                <a:solidFill>
                  <a:schemeClr val="tx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majorUnit val="0.5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valAx>
        <c:axId val="1776940080"/>
        <c:scaling>
          <c:orientation val="minMax"/>
          <c:max val="15"/>
          <c:min val="-10"/>
        </c:scaling>
        <c:delete val="0"/>
        <c:axPos val="r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baseline="0">
                <a:solidFill>
                  <a:schemeClr val="bg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776944880"/>
        <c:crosses val="max"/>
        <c:crossBetween val="between"/>
      </c:valAx>
      <c:dateAx>
        <c:axId val="1776944880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1776940080"/>
        <c:crosses val="autoZero"/>
        <c:auto val="1"/>
        <c:lblOffset val="100"/>
        <c:baseTimeUnit val="months"/>
        <c:majorUnit val="1"/>
        <c:minorUnit val="1"/>
      </c:dateAx>
      <c:spPr>
        <a:prstGeom prst="rect">
          <a:avLst/>
        </a:prstGeom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0.212113"/>
          <c:y val="0.76288400000000001"/>
          <c:w val="0.68141200000000002"/>
          <c:h val="8.6957000000000007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67528" y="3515555"/>
      <a:ext cx="6494108" cy="299448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lang="ru-RU" sz="1200" b="0" i="0" u="none" strike="noStrike" kern="1200" spc="0" baseline="0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Ср. хроно бренда, Рег. ТВ, все коммуникации, вкл. КООП</a:t>
            </a:r>
          </a:p>
        </c:rich>
      </c:tx>
      <c:overlay val="0"/>
    </c:title>
    <c:autoTitleDeleted val="0"/>
    <c:plotArea>
      <c:layout>
        <c:manualLayout>
          <c:layoutTarget val="inner"/>
          <c:xMode val="edge"/>
          <c:yMode val="edge"/>
          <c:x val="6.9606000000000001E-2"/>
          <c:y val="0.15298900000000001"/>
          <c:w val="0.93800300000000003"/>
          <c:h val="0.728168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5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77A5259-C125-45D4-82CD-7C22A15D1A6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38EB9676-8C66-4B91-AF5F-38F207BC6F9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9DBED09-1489-413F-A300-A0F25BF0829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49549BE3-A704-47A5-9D52-22B849DB98C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602AADA-1AFF-4D36-BC78-A91FA1B4F38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5E10599-011F-40C2-B2E8-4370A768A07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6F8041EB-0F6D-4C56-AFAA-EF6D9FB2A69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AF095D1-C300-4D79-8AA6-E7EF04D08ED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EC6F79C-C9D7-4ED4-A452-18138EDAB89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3F0B5620-6A66-4AC7-A7FC-04FE716959A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1E912E8E-B524-45AD-89E0-803AA3757B1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425F482B-D3F5-4498-BEE4-469BC30F9A6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44B89FE2-F6F6-479F-AD3D-CB7C692E8ED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C9E08B6B-5F1A-47E8-85C6-7DBAC3E691C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0D1422C8-FEC2-477C-B521-084877D7901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Лист1!$B$2:$B$16</c:f>
              <c:numCache>
                <c:formatCode>#,##0</c:formatCode>
                <c:ptCount val="15"/>
                <c:pt idx="0">
                  <c:v>1088.3128099999999</c:v>
                </c:pt>
                <c:pt idx="1">
                  <c:v>967.41598999999997</c:v>
                </c:pt>
                <c:pt idx="2">
                  <c:v>938.50102000000004</c:v>
                </c:pt>
                <c:pt idx="3">
                  <c:v>1002.28261</c:v>
                </c:pt>
                <c:pt idx="4">
                  <c:v>1009.34297</c:v>
                </c:pt>
                <c:pt idx="5">
                  <c:v>972.86766999999998</c:v>
                </c:pt>
                <c:pt idx="6">
                  <c:v>1148.6466700000001</c:v>
                </c:pt>
                <c:pt idx="7">
                  <c:v>868.08424000000002</c:v>
                </c:pt>
                <c:pt idx="8">
                  <c:v>1170.5951299999999</c:v>
                </c:pt>
                <c:pt idx="9">
                  <c:v>768.04210999999998</c:v>
                </c:pt>
                <c:pt idx="10">
                  <c:v>1056.19292</c:v>
                </c:pt>
                <c:pt idx="11">
                  <c:v>998.02855</c:v>
                </c:pt>
                <c:pt idx="12">
                  <c:v>794.46175000000005</c:v>
                </c:pt>
                <c:pt idx="13">
                  <c:v>1425.3867399999999</c:v>
                </c:pt>
                <c:pt idx="14">
                  <c:v>1484.2537299999999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Лист1!$B$19:$B$34</c15:f>
                <c15:dlblRangeCache>
                  <c:ptCount val="16"/>
                  <c:pt idx="0">
                    <c:v>57%</c:v>
                  </c:pt>
                  <c:pt idx="1">
                    <c:v>60%</c:v>
                  </c:pt>
                  <c:pt idx="2">
                    <c:v>59%</c:v>
                  </c:pt>
                  <c:pt idx="3">
                    <c:v>61%</c:v>
                  </c:pt>
                  <c:pt idx="4">
                    <c:v>59%</c:v>
                  </c:pt>
                  <c:pt idx="5">
                    <c:v>63%</c:v>
                  </c:pt>
                  <c:pt idx="6">
                    <c:v>65%</c:v>
                  </c:pt>
                  <c:pt idx="7">
                    <c:v>62%</c:v>
                  </c:pt>
                  <c:pt idx="8">
                    <c:v>74%</c:v>
                  </c:pt>
                  <c:pt idx="9">
                    <c:v>64%</c:v>
                  </c:pt>
                  <c:pt idx="10">
                    <c:v>62%</c:v>
                  </c:pt>
                  <c:pt idx="11">
                    <c:v>63%</c:v>
                  </c:pt>
                  <c:pt idx="12">
                    <c:v>68%</c:v>
                  </c:pt>
                  <c:pt idx="13">
                    <c:v>62%</c:v>
                  </c:pt>
                  <c:pt idx="14">
                    <c:v>57%</c:v>
                  </c:pt>
                  <c:pt idx="15">
                    <c:v>57%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6-84E4-4077-9DA3-245B07F531E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10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0431118-E0BD-4996-8852-B37AEE99414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4A0FDAF-A0F3-4D1E-99C2-0A91CFE1957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85EFEEFF-F5B0-497D-B3D3-FCCF8F132F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75BE8AD-1AC2-46A8-BACE-1522FBBBC34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0F4C7DB-BD0A-44ED-9A1D-C0DEAEF1BF9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EFD77878-3C68-40E6-AD9D-345F48DBEE3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802E5263-8E3B-4E78-AE6A-CCB30015EF6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E9EA1AA-2FDB-474B-8921-15DECB786E1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090B4D3-09A1-4D34-9F56-32C74696666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E54C37A-B95B-4074-A64F-62B482B773E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94B27B75-F517-4ABD-B8B6-8B973F5BF50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DC056D3F-D901-413C-9335-41A93784412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E369BECF-0032-43C7-B39F-EFA307119FA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CE20686F-34A0-4F2C-AA14-4981B4E438B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230D22BD-617D-4949-B017-6FFCDABACF3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Лист1!$C$2:$C$16</c:f>
              <c:numCache>
                <c:formatCode>#,##0</c:formatCode>
                <c:ptCount val="15"/>
                <c:pt idx="0">
                  <c:v>833.66975000000002</c:v>
                </c:pt>
                <c:pt idx="1">
                  <c:v>646.53371000000004</c:v>
                </c:pt>
                <c:pt idx="2">
                  <c:v>653.26070000000004</c:v>
                </c:pt>
                <c:pt idx="3">
                  <c:v>630.58906999999999</c:v>
                </c:pt>
                <c:pt idx="4">
                  <c:v>702.68822999999998</c:v>
                </c:pt>
                <c:pt idx="5">
                  <c:v>575.72384999999997</c:v>
                </c:pt>
                <c:pt idx="6">
                  <c:v>613.77455999999995</c:v>
                </c:pt>
                <c:pt idx="7">
                  <c:v>524.65995999999996</c:v>
                </c:pt>
                <c:pt idx="8">
                  <c:v>411.18060000000003</c:v>
                </c:pt>
                <c:pt idx="9">
                  <c:v>440.4624</c:v>
                </c:pt>
                <c:pt idx="10">
                  <c:v>633.99771999999996</c:v>
                </c:pt>
                <c:pt idx="11">
                  <c:v>586.01039000000003</c:v>
                </c:pt>
                <c:pt idx="12">
                  <c:v>369.18781000000001</c:v>
                </c:pt>
                <c:pt idx="13">
                  <c:v>879.25464999999997</c:v>
                </c:pt>
                <c:pt idx="14">
                  <c:v>1127.0045399999999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Лист1!$C$19:$C$34</c15:f>
                <c15:dlblRangeCache>
                  <c:ptCount val="16"/>
                  <c:pt idx="0">
                    <c:v>43%</c:v>
                  </c:pt>
                  <c:pt idx="1">
                    <c:v>40%</c:v>
                  </c:pt>
                  <c:pt idx="2">
                    <c:v>41%</c:v>
                  </c:pt>
                  <c:pt idx="3">
                    <c:v>39%</c:v>
                  </c:pt>
                  <c:pt idx="4">
                    <c:v>41%</c:v>
                  </c:pt>
                  <c:pt idx="5">
                    <c:v>37%</c:v>
                  </c:pt>
                  <c:pt idx="6">
                    <c:v>35%</c:v>
                  </c:pt>
                  <c:pt idx="7">
                    <c:v>38%</c:v>
                  </c:pt>
                  <c:pt idx="8">
                    <c:v>26%</c:v>
                  </c:pt>
                  <c:pt idx="9">
                    <c:v>36%</c:v>
                  </c:pt>
                  <c:pt idx="10">
                    <c:v>38%</c:v>
                  </c:pt>
                  <c:pt idx="11">
                    <c:v>37%</c:v>
                  </c:pt>
                  <c:pt idx="12">
                    <c:v>32%</c:v>
                  </c:pt>
                  <c:pt idx="13">
                    <c:v>38%</c:v>
                  </c:pt>
                  <c:pt idx="14">
                    <c:v>43%</c:v>
                  </c:pt>
                  <c:pt idx="15">
                    <c:v>43%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D-84E4-4077-9DA3-245B07F531E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15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8AFA7209-1E8C-491C-9254-A022EC15708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F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0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1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2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7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8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9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A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B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C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Лист1!$D$2:$D$16</c:f>
              <c:numCache>
                <c:formatCode>General</c:formatCode>
                <c:ptCount val="15"/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Лист1!$D$19:$D$34</c15:f>
                <c15:dlblRangeCache>
                  <c:ptCount val="16"/>
                </c15:dlblRangeCache>
              </c15:datalabelsRange>
            </c:ext>
            <c:ext xmlns:c16="http://schemas.microsoft.com/office/drawing/2014/chart" uri="{C3380CC4-5D6E-409C-BE32-E72D297353CC}">
              <c16:uniqueId val="{00000044-84E4-4077-9DA3-245B07F531E1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20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5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6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7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8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9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A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B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C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D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E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F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0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1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2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3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Лист1!$E$2:$E$16</c:f>
              <c:numCache>
                <c:formatCode>General</c:formatCode>
                <c:ptCount val="15"/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Лист1!$E$19:$E$34</c15:f>
                <c15:dlblRangeCache>
                  <c:ptCount val="16"/>
                </c15:dlblRangeCache>
              </c15:datalabelsRange>
            </c:ext>
            <c:ext xmlns:c16="http://schemas.microsoft.com/office/drawing/2014/chart" uri="{C3380CC4-5D6E-409C-BE32-E72D297353CC}">
              <c16:uniqueId val="{0000005B-84E4-4077-9DA3-245B07F531E1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25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787214C-5FFD-473A-9787-83AE84A8D92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C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D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E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F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0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1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2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3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4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5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6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7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8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9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A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Лист1!$F$2:$F$16</c:f>
              <c:numCache>
                <c:formatCode>General</c:formatCode>
                <c:ptCount val="15"/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Лист1!$F$19:$F$34</c15:f>
                <c15:dlblRangeCache>
                  <c:ptCount val="16"/>
                </c15:dlblRangeCache>
              </c15:datalabelsRange>
            </c:ext>
            <c:ext xmlns:c16="http://schemas.microsoft.com/office/drawing/2014/chart" uri="{C3380CC4-5D6E-409C-BE32-E72D297353CC}">
              <c16:uniqueId val="{00000072-84E4-4077-9DA3-245B07F531E1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</c:strCache>
            </c:strRef>
          </c:tx>
          <c:spPr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013E274-8EA1-4864-B32B-7CC78B76F3A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3-84E4-4077-9DA3-245B07F531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4-84E4-4077-9DA3-245B07F531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5-84E4-4077-9DA3-245B07F531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6-84E4-4077-9DA3-245B07F531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7-84E4-4077-9DA3-245B07F531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8-84E4-4077-9DA3-245B07F531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9-84E4-4077-9DA3-245B07F531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A-84E4-4077-9DA3-245B07F531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B-84E4-4077-9DA3-245B07F531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C-84E4-4077-9DA3-245B07F531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D-84E4-4077-9DA3-245B07F531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E-84E4-4077-9DA3-245B07F531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F-84E4-4077-9DA3-245B07F531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0-84E4-4077-9DA3-245B07F531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1-84E4-4077-9DA3-245B07F531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Лист1!$G$2:$G$16</c:f>
              <c:numCache>
                <c:formatCode>General</c:formatCode>
                <c:ptCount val="15"/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Лист1!$H$19:$H$30</c15:f>
                <c15:dlblRangeCache>
                  <c:ptCount val="12"/>
                </c15:dlblRangeCache>
              </c15:datalabelsRange>
            </c:ext>
            <c:ext xmlns:c16="http://schemas.microsoft.com/office/drawing/2014/chart" uri="{C3380CC4-5D6E-409C-BE32-E72D297353CC}">
              <c16:uniqueId val="{00000089-84E4-4077-9DA3-245B07F531E1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50</c:v>
                </c:pt>
              </c:strCache>
            </c:strRef>
          </c:tx>
          <c:spPr>
            <a:prstGeom prst="rect">
              <a:avLst/>
            </a:prstGeom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Лист1!$H$2:$H$16</c:f>
              <c:numCache>
                <c:formatCode>General</c:formatCode>
                <c:ptCount val="15"/>
              </c:numCache>
            </c:numRef>
          </c:val>
          <c:extLst>
            <c:ext xmlns:c16="http://schemas.microsoft.com/office/drawing/2014/chart" uri="{C3380CC4-5D6E-409C-BE32-E72D297353CC}">
              <c16:uniqueId val="{0000008A-84E4-4077-9DA3-245B07F531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barChart>
        <c:barDir val="col"/>
        <c:grouping val="percentStacked"/>
        <c:varyColors val="0"/>
        <c:ser>
          <c:idx val="7"/>
          <c:order val="7"/>
          <c:tx>
            <c:strRef>
              <c:f>Лист1!$I$1</c:f>
              <c:strCache>
                <c:ptCount val="1"/>
                <c:pt idx="0">
                  <c:v>Ср.Хроно</c:v>
                </c:pt>
              </c:strCache>
            </c:strRef>
          </c:tx>
          <c:spPr>
            <a:prstGeom prst="rect">
              <a:avLst/>
            </a:prstGeom>
            <a:ln w="28575" cap="rnd">
              <a:solidFill>
                <a:srgbClr val="FF0000"/>
              </a:solidFill>
              <a:round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solidFill>
                      <a:srgbClr val="FF0000"/>
                    </a:solidFill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Лист1!$I$2:$I$16</c:f>
              <c:numCache>
                <c:formatCode>0.0</c:formatCode>
                <c:ptCount val="15"/>
                <c:pt idx="0">
                  <c:v>7.1687755324897431</c:v>
                </c:pt>
                <c:pt idx="1">
                  <c:v>7.0029549557833182</c:v>
                </c:pt>
                <c:pt idx="2">
                  <c:v>7.0520053089353096</c:v>
                </c:pt>
                <c:pt idx="3">
                  <c:v>6.9309204689005321</c:v>
                </c:pt>
                <c:pt idx="4">
                  <c:v>7.0522062623625086</c:v>
                </c:pt>
                <c:pt idx="5">
                  <c:v>6.8588628523550224</c:v>
                </c:pt>
                <c:pt idx="6">
                  <c:v>6.7412822472638965</c:v>
                </c:pt>
                <c:pt idx="7">
                  <c:v>6.8835474597560689</c:v>
                </c:pt>
                <c:pt idx="8">
                  <c:v>6.2997436747875764</c:v>
                </c:pt>
                <c:pt idx="9">
                  <c:v>6.8223448748238429</c:v>
                </c:pt>
                <c:pt idx="10">
                  <c:v>6.8755213317238582</c:v>
                </c:pt>
                <c:pt idx="11">
                  <c:v>6.8497347988175097</c:v>
                </c:pt>
                <c:pt idx="12">
                  <c:v>6.5863358810533983</c:v>
                </c:pt>
                <c:pt idx="13">
                  <c:v>6.9075736767879539</c:v>
                </c:pt>
                <c:pt idx="14">
                  <c:v>7.1579721794428259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B-84E4-4077-9DA3-245B07F531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1776944880"/>
        <c:axId val="1776940080"/>
      </c:barChart>
      <c:dateAx>
        <c:axId val="322483696"/>
        <c:scaling>
          <c:orientation val="minMax"/>
        </c:scaling>
        <c:delete val="0"/>
        <c:axPos val="b"/>
        <c:numFmt formatCode="mmm\-yy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Offset val="100"/>
        <c:baseTimeUnit val="months"/>
      </c:dateAx>
      <c:valAx>
        <c:axId val="322483216"/>
        <c:scaling>
          <c:orientation val="minMax"/>
          <c:max val="1.5"/>
        </c:scaling>
        <c:delete val="0"/>
        <c:axPos val="l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tx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</c:valAx>
      <c:valAx>
        <c:axId val="1776940080"/>
        <c:scaling>
          <c:orientation val="minMax"/>
          <c:max val="15"/>
          <c:min val="-15"/>
        </c:scaling>
        <c:delete val="0"/>
        <c:axPos val="r"/>
        <c:numFmt formatCode="0%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baseline="0">
                <a:solidFill>
                  <a:schemeClr val="bg1"/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776944880"/>
        <c:crosses val="max"/>
        <c:crossBetween val="between"/>
      </c:valAx>
      <c:dateAx>
        <c:axId val="1776944880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1776940080"/>
        <c:crosses val="autoZero"/>
        <c:auto val="1"/>
        <c:lblOffset val="100"/>
        <c:baseTimeUnit val="months"/>
        <c:majorUnit val="1"/>
        <c:minorUnit val="1"/>
      </c:date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364767" y="1341678"/>
      <a:ext cx="6494108" cy="234301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 sz="1200" b="1"/>
            </a:pPr>
            <a:r>
              <a:rPr lang="ru-RU" sz="1200" b="1" dirty="0">
                <a:solidFill>
                  <a:schemeClr val="bg2">
                    <a:lumMod val="25000"/>
                  </a:schemeClr>
                </a:solidFill>
                <a:latin typeface="+mn-lt"/>
              </a:rPr>
              <a:t>Динамика</a:t>
            </a:r>
            <a:r>
              <a:rPr lang="ru-RU" sz="1200" b="1" baseline="0" dirty="0">
                <a:solidFill>
                  <a:schemeClr val="bg2">
                    <a:lumMod val="25000"/>
                  </a:schemeClr>
                </a:solidFill>
                <a:latin typeface="+mn-lt"/>
              </a:rPr>
              <a:t> инвестиций, </a:t>
            </a:r>
            <a:r>
              <a:rPr lang="en-GB" sz="1200" b="1" baseline="0" dirty="0">
                <a:solidFill>
                  <a:schemeClr val="bg2">
                    <a:lumMod val="25000"/>
                  </a:schemeClr>
                </a:solidFill>
                <a:latin typeface="+mn-lt"/>
              </a:rPr>
              <a:t>{jan_current_month_1}</a:t>
            </a:r>
            <a:r>
              <a:rPr lang="en-US" sz="1200" b="1" baseline="0" dirty="0">
                <a:solidFill>
                  <a:schemeClr val="bg2">
                    <a:lumMod val="25000"/>
                  </a:schemeClr>
                </a:solidFill>
                <a:latin typeface="+mn-lt"/>
              </a:rPr>
              <a:t> vs </a:t>
            </a:r>
            <a:r>
              <a:rPr lang="en-GB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{</a:t>
            </a:r>
            <a:r>
              <a:rPr lang="en-GB" sz="1200" b="1" i="0" u="none" strike="noStrike" kern="1200" baseline="0" dirty="0" err="1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jan_ly_month</a:t>
            </a:r>
            <a:r>
              <a:rPr lang="ru-RU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_1</a:t>
            </a:r>
            <a:r>
              <a:rPr lang="en-GB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}</a:t>
            </a:r>
            <a:r>
              <a:rPr lang="ru-RU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 </a:t>
            </a:r>
            <a:r>
              <a:rPr lang="ru-RU" sz="1200" b="1" baseline="0" dirty="0">
                <a:solidFill>
                  <a:schemeClr val="bg2">
                    <a:lumMod val="25000"/>
                  </a:schemeClr>
                </a:solidFill>
                <a:latin typeface="+mn-lt"/>
              </a:rPr>
              <a:t> </a:t>
            </a:r>
            <a:endParaRPr lang="ru-RU" sz="1200" b="1" dirty="0">
              <a:solidFill>
                <a:schemeClr val="bg2">
                  <a:lumMod val="25000"/>
                </a:schemeClr>
              </a:solidFill>
              <a:latin typeface="+mn-lt"/>
            </a:endParaRPr>
          </a:p>
        </c:rich>
      </c:tx>
      <c:layout>
        <c:manualLayout>
          <c:xMode val="edge"/>
          <c:yMode val="edge"/>
          <c:x val="0.24194859823763337"/>
          <c:y val="2.6041524269880413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5.6885999999999999E-2"/>
          <c:y val="0.18896987658641412"/>
          <c:w val="0.92763799999999996"/>
          <c:h val="0.4648439422356614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1-2'25</c:v>
                </c:pt>
              </c:strCache>
            </c:strRef>
          </c:tx>
          <c:spPr>
            <a:prstGeom prst="rect">
              <a:avLst/>
            </a:prstGeom>
            <a:solidFill>
              <a:srgbClr val="AFAFAF"/>
            </a:solidFill>
            <a:ln>
              <a:noFill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МАГНИТ</c:v>
                </c:pt>
                <c:pt idx="1">
                  <c:v>САМОКАТ</c:v>
                </c:pt>
                <c:pt idx="2">
                  <c:v>OZON FRESH</c:v>
                </c:pt>
                <c:pt idx="3">
                  <c:v>ПЯТЕРОЧКА</c:v>
                </c:pt>
                <c:pt idx="4">
                  <c:v>ЯНДЕКС.ЛАВКА</c:v>
                </c:pt>
                <c:pt idx="5">
                  <c:v>КУПЕР</c:v>
                </c:pt>
                <c:pt idx="6">
                  <c:v>METRO</c:v>
                </c:pt>
                <c:pt idx="7">
                  <c:v>ПЕРЕКРЕСТОК</c:v>
                </c:pt>
                <c:pt idx="8">
                  <c:v>АШАН</c:v>
                </c:pt>
                <c:pt idx="9">
                  <c:v>ВКУСВИЛЛ</c:v>
                </c:pt>
                <c:pt idx="10">
                  <c:v>ЧИЖИК</c:v>
                </c:pt>
                <c:pt idx="11">
                  <c:v>ЛЕНТА</c:v>
                </c:pt>
                <c:pt idx="12">
                  <c:v>GLOBUS</c:v>
                </c:pt>
                <c:pt idx="13">
                  <c:v>ДИКСИ</c:v>
                </c:pt>
                <c:pt idx="14">
                  <c:v>Другие</c:v>
                </c:pt>
              </c:strCache>
            </c:strRef>
          </c:cat>
          <c:val>
            <c:numRef>
              <c:f>Sheet1!$B$2:$B$16</c:f>
              <c:numCache>
                <c:formatCode>#,##0</c:formatCode>
                <c:ptCount val="15"/>
                <c:pt idx="0">
                  <c:v>994032869.6230092</c:v>
                </c:pt>
                <c:pt idx="1">
                  <c:v>826747889.59395242</c:v>
                </c:pt>
                <c:pt idx="2">
                  <c:v>530634867.36567175</c:v>
                </c:pt>
                <c:pt idx="3">
                  <c:v>886963612.62294447</c:v>
                </c:pt>
                <c:pt idx="4">
                  <c:v>558086490.22529817</c:v>
                </c:pt>
                <c:pt idx="5">
                  <c:v>353368378.31537676</c:v>
                </c:pt>
                <c:pt idx="6">
                  <c:v>416582204.64101279</c:v>
                </c:pt>
                <c:pt idx="7">
                  <c:v>217327674.6648075</c:v>
                </c:pt>
                <c:pt idx="8">
                  <c:v>167657592.08964574</c:v>
                </c:pt>
                <c:pt idx="9">
                  <c:v>271761786.59036684</c:v>
                </c:pt>
                <c:pt idx="10">
                  <c:v>302316993.17643577</c:v>
                </c:pt>
                <c:pt idx="11">
                  <c:v>213053359.64924464</c:v>
                </c:pt>
                <c:pt idx="12">
                  <c:v>57982907.013457</c:v>
                </c:pt>
                <c:pt idx="13">
                  <c:v>81167296.544668496</c:v>
                </c:pt>
                <c:pt idx="14">
                  <c:v>122506419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941-44B3-80C5-D46A11DBB23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1-2'26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41-44B3-80C5-D46A11DBB23B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941-44B3-80C5-D46A11DBB23B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941-44B3-80C5-D46A11DBB23B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9941-44B3-80C5-D46A11DBB23B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941-44B3-80C5-D46A11DBB23B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9941-44B3-80C5-D46A11DBB23B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9941-44B3-80C5-D46A11DBB23B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9941-44B3-80C5-D46A11DBB23B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9941-44B3-80C5-D46A11DBB23B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9941-44B3-80C5-D46A11DBB23B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9941-44B3-80C5-D46A11DBB23B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9941-44B3-80C5-D46A11DBB23B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9941-44B3-80C5-D46A11DBB23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МАГНИТ</c:v>
                </c:pt>
                <c:pt idx="1">
                  <c:v>САМОКАТ</c:v>
                </c:pt>
                <c:pt idx="2">
                  <c:v>OZON FRESH</c:v>
                </c:pt>
                <c:pt idx="3">
                  <c:v>ПЯТЕРОЧКА</c:v>
                </c:pt>
                <c:pt idx="4">
                  <c:v>ЯНДЕКС.ЛАВКА</c:v>
                </c:pt>
                <c:pt idx="5">
                  <c:v>КУПЕР</c:v>
                </c:pt>
                <c:pt idx="6">
                  <c:v>METRO</c:v>
                </c:pt>
                <c:pt idx="7">
                  <c:v>ПЕРЕКРЕСТОК</c:v>
                </c:pt>
                <c:pt idx="8">
                  <c:v>АШАН</c:v>
                </c:pt>
                <c:pt idx="9">
                  <c:v>ВКУСВИЛЛ</c:v>
                </c:pt>
                <c:pt idx="10">
                  <c:v>ЧИЖИК</c:v>
                </c:pt>
                <c:pt idx="11">
                  <c:v>ЛЕНТА</c:v>
                </c:pt>
                <c:pt idx="12">
                  <c:v>GLOBUS</c:v>
                </c:pt>
                <c:pt idx="13">
                  <c:v>ДИКСИ</c:v>
                </c:pt>
                <c:pt idx="14">
                  <c:v>Другие</c:v>
                </c:pt>
              </c:strCache>
            </c:strRef>
          </c:cat>
          <c:val>
            <c:numRef>
              <c:f>Sheet1!$C$2:$C$16</c:f>
              <c:numCache>
                <c:formatCode>#,##0</c:formatCode>
                <c:ptCount val="15"/>
                <c:pt idx="0">
                  <c:v>1676965657.830965</c:v>
                </c:pt>
                <c:pt idx="1">
                  <c:v>1445205340.2921984</c:v>
                </c:pt>
                <c:pt idx="2">
                  <c:v>1368273084.8443105</c:v>
                </c:pt>
                <c:pt idx="3">
                  <c:v>1224398225.4259496</c:v>
                </c:pt>
                <c:pt idx="4">
                  <c:v>579141446.56450069</c:v>
                </c:pt>
                <c:pt idx="5">
                  <c:v>442047013.79559028</c:v>
                </c:pt>
                <c:pt idx="6">
                  <c:v>330645455.1580373</c:v>
                </c:pt>
                <c:pt idx="7">
                  <c:v>314433511.12168479</c:v>
                </c:pt>
                <c:pt idx="8">
                  <c:v>252726726.94622755</c:v>
                </c:pt>
                <c:pt idx="9">
                  <c:v>283280844.47924989</c:v>
                </c:pt>
                <c:pt idx="10">
                  <c:v>235497139.70553863</c:v>
                </c:pt>
                <c:pt idx="11">
                  <c:v>192478915.34640205</c:v>
                </c:pt>
                <c:pt idx="12">
                  <c:v>108571165.73355556</c:v>
                </c:pt>
                <c:pt idx="13">
                  <c:v>87099425.059402138</c:v>
                </c:pt>
                <c:pt idx="14">
                  <c:v>126667930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9941-44B3-80C5-D46A11DBB2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 anchor="ctr" anchorCtr="0"/>
          <a:lstStyle/>
          <a:p>
            <a:pPr>
              <a:defRPr sz="700">
                <a:solidFill>
                  <a:schemeClr val="tx1">
                    <a:lumMod val="65000"/>
                    <a:lumOff val="35000"/>
                  </a:schemeClr>
                </a:solidFill>
              </a:defRPr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  <c:max val="2000000000"/>
          <c:min val="0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  <a:latin typeface="Styrene A LC MDFD"/>
              </a:defRPr>
            </a:pPr>
            <a:endParaRPr lang="ru-RU"/>
          </a:p>
        </c:txPr>
        <c:crossAx val="398356624"/>
        <c:crosses val="autoZero"/>
        <c:crossBetween val="between"/>
        <c:dispUnits>
          <c:builtInUnit val="millions"/>
        </c:dispUnits>
      </c:valAx>
    </c:plotArea>
    <c:legend>
      <c:legendPos val="r"/>
      <c:layout>
        <c:manualLayout>
          <c:xMode val="edge"/>
          <c:yMode val="edge"/>
          <c:x val="0.66063360501522517"/>
          <c:y val="0.1595504727117634"/>
          <c:w val="0.29185221408213674"/>
          <c:h val="0.19894800000000001"/>
        </c:manualLayout>
      </c:layout>
      <c:overlay val="0"/>
      <c:txPr>
        <a:bodyPr/>
        <a:lstStyle/>
        <a:p>
          <a:pPr>
            <a:defRPr sz="12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lang="ru-RU" sz="14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r>
              <a:rPr lang="ru-RU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Медиа Микс, </a:t>
            </a:r>
            <a:r>
              <a:rPr lang="en-GB" sz="1200" b="1" i="0" u="none" strike="noStrike" kern="1200" baseline="0" dirty="0">
                <a:solidFill>
                  <a:schemeClr val="bg2">
                    <a:lumMod val="25000"/>
                  </a:schemeClr>
                </a:solidFill>
                <a:latin typeface="+mn-lt"/>
                <a:ea typeface="5ka Sans Design"/>
                <a:cs typeface="5ka Sans Design"/>
              </a:rPr>
              <a:t>{jan_current_month_1}</a:t>
            </a:r>
            <a:endParaRPr lang="ru-RU" sz="1200" b="1" i="0" u="none" strike="noStrike" kern="1200" baseline="0" dirty="0">
              <a:solidFill>
                <a:schemeClr val="bg2">
                  <a:lumMod val="25000"/>
                </a:schemeClr>
              </a:solidFill>
              <a:latin typeface="+mn-lt"/>
              <a:ea typeface="5ka Sans Design"/>
              <a:cs typeface="5ka Sans Design"/>
            </a:endParaRPr>
          </a:p>
        </c:rich>
      </c:tx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6.9606000000000001E-2"/>
          <c:y val="0.15298900000000001"/>
          <c:w val="0.93800300000000003"/>
          <c:h val="0.48898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Рег.ТВ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  <a:round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1763A4A-4711-4C51-BE69-5386A64BE81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FEDF-4769-8BCF-8DE8D59E715B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503B280-6441-47A5-ABAF-6623D787B82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FEDF-4769-8BCF-8DE8D59E715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FBC0E4B-65FC-4E31-BF3C-6D7B3449B4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F9A72907-320A-4DF8-9E16-C6374C3E86E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FEDF-4769-8BCF-8DE8D59E715B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0EF4085A-ADE7-45FD-859D-3381C55F9B1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B-FEDF-4769-8BCF-8DE8D59E715B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DC06615-6851-4C19-BC90-DD2029F8753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27EFD0E0-F584-4FFD-A079-11F31ACBF81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E4FFFA91-9D69-425A-8ABB-ED5874B59FD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FEDF-4769-8BCF-8DE8D59E715B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1E9A616E-15B7-4E8B-89F7-9541A1080E0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FEDF-4769-8BCF-8DE8D59E715B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628A0A15-FD6B-4FC1-8D97-24B912B30C1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18539221-8DA2-418D-9A23-15245598FAD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BCF3-42D7-A6AB-14850984CEE4}"/>
                </c:ext>
              </c:extLst>
            </c:dLbl>
            <c:dLbl>
              <c:idx val="11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7830F4CF-FFF8-480E-9A79-7B81D6D0335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1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F25DB53B-2FC5-4B5A-B0E6-1FDE4DC7CE5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Sheet1!$B$2:$B$15</c:f>
              <c:numCache>
                <c:formatCode>#,##0</c:formatCode>
                <c:ptCount val="14"/>
                <c:pt idx="0">
                  <c:v>215651702.19999972</c:v>
                </c:pt>
                <c:pt idx="1">
                  <c:v>90000691.55000037</c:v>
                </c:pt>
                <c:pt idx="2">
                  <c:v>237444283.4499996</c:v>
                </c:pt>
                <c:pt idx="3">
                  <c:v>57820307.600000016</c:v>
                </c:pt>
                <c:pt idx="4">
                  <c:v>0</c:v>
                </c:pt>
                <c:pt idx="5">
                  <c:v>0</c:v>
                </c:pt>
                <c:pt idx="6">
                  <c:v>70518143.850000069</c:v>
                </c:pt>
                <c:pt idx="7">
                  <c:v>113245315.14999977</c:v>
                </c:pt>
                <c:pt idx="8">
                  <c:v>51886266.84999992</c:v>
                </c:pt>
                <c:pt idx="9">
                  <c:v>13312253.35000002</c:v>
                </c:pt>
                <c:pt idx="10">
                  <c:v>0</c:v>
                </c:pt>
                <c:pt idx="11">
                  <c:v>86307020.799999923</c:v>
                </c:pt>
                <c:pt idx="12">
                  <c:v>0</c:v>
                </c:pt>
                <c:pt idx="13">
                  <c:v>80360355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Sheet1!$B$19:$B$32</c15:f>
                <c15:dlblRangeCache>
                  <c:ptCount val="14"/>
                  <c:pt idx="0">
                    <c:v>13%</c:v>
                  </c:pt>
                  <c:pt idx="1">
                    <c:v>6%</c:v>
                  </c:pt>
                  <c:pt idx="2">
                    <c:v>19%</c:v>
                  </c:pt>
                  <c:pt idx="3">
                    <c:v>5%</c:v>
                  </c:pt>
                  <c:pt idx="6">
                    <c:v>15%</c:v>
                  </c:pt>
                  <c:pt idx="7">
                    <c:v>41%</c:v>
                  </c:pt>
                  <c:pt idx="8">
                    <c:v>22%</c:v>
                  </c:pt>
                  <c:pt idx="9">
                    <c:v>6%</c:v>
                  </c:pt>
                  <c:pt idx="11">
                    <c:v>49%</c:v>
                  </c:pt>
                  <c:pt idx="13">
                    <c:v>18%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FEDF-4769-8BCF-8DE8D59E715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Интернет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6611182-A5E8-4A56-BEB5-BAE4C2E2FA3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FEDF-4769-8BCF-8DE8D59E715B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FE22DCE-3590-4F2B-8325-2FE49F45079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FEDF-4769-8BCF-8DE8D59E715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88A5500F-9A00-4E05-8394-CC89CFDFF7D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29D26EDC-2B80-4DBA-8DA8-F0C9F78A2D0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FEDF-4769-8BCF-8DE8D59E715B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D8B93C0D-DE26-4E96-8C8D-B106A5ABF5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FEDF-4769-8BCF-8DE8D59E715B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229132B-1FB5-40D0-863E-8A75494D5D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05791922-9184-4592-849C-C8CB78B02BE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2CEF9BF-16EA-4313-90EE-9B2C1482FC8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FEDF-4769-8BCF-8DE8D59E715B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6BEC2E9-1071-41B7-BE0A-EDFCC6D214E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FEDF-4769-8BCF-8DE8D59E715B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F08D9226-741F-4F39-87D6-9DA81D723D9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8C82CA3-D6B3-46C5-9866-96908AAD94D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BCF3-42D7-A6AB-14850984CEE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B8FE8FE8-6665-41F4-80AD-76D75857956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F7D8941C-6596-4543-A573-8901BDB5B63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FCE2A8A1-D4AC-4DD8-8D3B-B0B45523B23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Sheet1!$C$2:$C$15</c:f>
              <c:numCache>
                <c:formatCode>#,##0</c:formatCode>
                <c:ptCount val="14"/>
                <c:pt idx="0">
                  <c:v>427689115.2309711</c:v>
                </c:pt>
                <c:pt idx="1">
                  <c:v>351251827.74219632</c:v>
                </c:pt>
                <c:pt idx="2">
                  <c:v>335502066.17594779</c:v>
                </c:pt>
                <c:pt idx="3">
                  <c:v>952787220.54431069</c:v>
                </c:pt>
                <c:pt idx="4">
                  <c:v>95688684.845590696</c:v>
                </c:pt>
                <c:pt idx="5">
                  <c:v>340032508.21450043</c:v>
                </c:pt>
                <c:pt idx="6">
                  <c:v>122338691.22168501</c:v>
                </c:pt>
                <c:pt idx="7">
                  <c:v>81545655.605538785</c:v>
                </c:pt>
                <c:pt idx="8">
                  <c:v>108651002.14622773</c:v>
                </c:pt>
                <c:pt idx="9">
                  <c:v>70293224.496402055</c:v>
                </c:pt>
                <c:pt idx="10">
                  <c:v>173795287.52924994</c:v>
                </c:pt>
                <c:pt idx="11">
                  <c:v>31567466.259402119</c:v>
                </c:pt>
                <c:pt idx="12">
                  <c:v>58161200.083555549</c:v>
                </c:pt>
                <c:pt idx="13">
                  <c:v>221402084.5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Sheet1!$C$19:$C$32</c15:f>
                <c15:dlblRangeCache>
                  <c:ptCount val="14"/>
                  <c:pt idx="0">
                    <c:v>26%</c:v>
                  </c:pt>
                  <c:pt idx="1">
                    <c:v>24%</c:v>
                  </c:pt>
                  <c:pt idx="2">
                    <c:v>27%</c:v>
                  </c:pt>
                  <c:pt idx="3">
                    <c:v>80%</c:v>
                  </c:pt>
                  <c:pt idx="4">
                    <c:v>19%</c:v>
                  </c:pt>
                  <c:pt idx="5">
                    <c:v>70%</c:v>
                  </c:pt>
                  <c:pt idx="6">
                    <c:v>26%</c:v>
                  </c:pt>
                  <c:pt idx="7">
                    <c:v>30%</c:v>
                  </c:pt>
                  <c:pt idx="8">
                    <c:v>47%</c:v>
                  </c:pt>
                  <c:pt idx="9">
                    <c:v>31%</c:v>
                  </c:pt>
                  <c:pt idx="10">
                    <c:v>78%</c:v>
                  </c:pt>
                  <c:pt idx="11">
                    <c:v>18%</c:v>
                  </c:pt>
                  <c:pt idx="12">
                    <c:v>70%</c:v>
                  </c:pt>
                  <c:pt idx="13">
                    <c:v>49%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FEDF-4769-8BCF-8DE8D59E715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ООН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676537C3-B617-448D-A1E6-C9176D65741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FEDF-4769-8BCF-8DE8D59E715B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C7FF6300-4257-40B7-8200-912157F8A51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FEDF-4769-8BCF-8DE8D59E715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6143C7C-3D77-42DC-97F9-8098ADAF0F2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370CCDE-5068-4224-B418-A213172D767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FEDF-4769-8BCF-8DE8D59E715B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2FBBA1DC-0435-4177-9D9B-0E268F31AD9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FEDF-4769-8BCF-8DE8D59E715B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E48DF38A-7B07-4BD6-A3A7-5ADB16F60FC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D3A9A659-13A6-4CC5-8E1A-0B2BE15E9F6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2FEF3D8B-0839-42DD-BF4C-CF8E6E9F253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FEDF-4769-8BCF-8DE8D59E715B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EC878639-BD6A-491A-B1F5-E3C4FF36014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FEDF-4769-8BCF-8DE8D59E715B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7F54ED9F-0828-41E2-90E7-57DB19F2184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DC9B625-80B1-4125-84C3-91FA445EE94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BCF3-42D7-A6AB-14850984CEE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B38A548C-A997-4BE0-8041-ED830A61696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913FEA0F-215F-4E4A-A56F-C27E366EFBC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0207709C-3740-41C6-BEE0-5F83CAAD3CA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Sheet1!$D$2:$D$15</c:f>
              <c:numCache>
                <c:formatCode>#,##0</c:formatCode>
                <c:ptCount val="14"/>
                <c:pt idx="0">
                  <c:v>119197500</c:v>
                </c:pt>
                <c:pt idx="1">
                  <c:v>218891919</c:v>
                </c:pt>
                <c:pt idx="2">
                  <c:v>162151524</c:v>
                </c:pt>
                <c:pt idx="3">
                  <c:v>112605986</c:v>
                </c:pt>
                <c:pt idx="4">
                  <c:v>128073026</c:v>
                </c:pt>
                <c:pt idx="5">
                  <c:v>149116192</c:v>
                </c:pt>
                <c:pt idx="6">
                  <c:v>58844155</c:v>
                </c:pt>
                <c:pt idx="7">
                  <c:v>46546411</c:v>
                </c:pt>
                <c:pt idx="8">
                  <c:v>42434187</c:v>
                </c:pt>
                <c:pt idx="9">
                  <c:v>54062975</c:v>
                </c:pt>
                <c:pt idx="10">
                  <c:v>33711656</c:v>
                </c:pt>
                <c:pt idx="11">
                  <c:v>57675104</c:v>
                </c:pt>
                <c:pt idx="12">
                  <c:v>22347254</c:v>
                </c:pt>
                <c:pt idx="13">
                  <c:v>94933875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Sheet1!$D$19:$D$32</c15:f>
                <c15:dlblRangeCache>
                  <c:ptCount val="14"/>
                  <c:pt idx="0">
                    <c:v>7%</c:v>
                  </c:pt>
                  <c:pt idx="1">
                    <c:v>15%</c:v>
                  </c:pt>
                  <c:pt idx="2">
                    <c:v>13%</c:v>
                  </c:pt>
                  <c:pt idx="3">
                    <c:v>9%</c:v>
                  </c:pt>
                  <c:pt idx="4">
                    <c:v>25%</c:v>
                  </c:pt>
                  <c:pt idx="5">
                    <c:v>30%</c:v>
                  </c:pt>
                  <c:pt idx="6">
                    <c:v>13%</c:v>
                  </c:pt>
                  <c:pt idx="7">
                    <c:v>17%</c:v>
                  </c:pt>
                  <c:pt idx="8">
                    <c:v>18%</c:v>
                  </c:pt>
                  <c:pt idx="9">
                    <c:v>24%</c:v>
                  </c:pt>
                  <c:pt idx="10">
                    <c:v>15%</c:v>
                  </c:pt>
                  <c:pt idx="11">
                    <c:v>33%</c:v>
                  </c:pt>
                  <c:pt idx="12">
                    <c:v>27%</c:v>
                  </c:pt>
                  <c:pt idx="13">
                    <c:v>21%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FEDF-4769-8BCF-8DE8D59E715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Радио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703A0E93-8262-4055-AB95-C0E9C496906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FEDF-4769-8BCF-8DE8D59E715B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79D509E-F14A-436F-9488-3A72C7E3839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FEDF-4769-8BCF-8DE8D59E715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421BFE9D-541C-4ABF-ACD9-0FAFFB5DB5B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8F9A146-6E43-4112-AC3A-AC691932ED8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FEDF-4769-8BCF-8DE8D59E715B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C16BE44-4B37-4640-A489-6A69F0590C5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FEDF-4769-8BCF-8DE8D59E715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AEC77A5-430B-4890-8875-BAEF00933CB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8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68C63999-5EFB-4E22-A44F-A4D99466EED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FEDF-4769-8BCF-8DE8D59E715B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ADF5FCC-65A0-4AE3-8EDA-AA64EEDCE68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A-FEDF-4769-8BCF-8DE8D59E715B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87114FFE-1D04-4BEA-86DB-07167DBA3E4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7192320-2B5B-4551-BED1-4FC49A3ABCA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BCF3-42D7-A6AB-14850984CEE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1D47A334-7503-40CC-A2D1-F0BF2AD22E1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6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3CB8DA3D-8A5B-4D0E-8538-03AFE49689B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7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937BA8A7-A7F9-4BC5-B35A-1172D8AD440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Sheet1!$E$2:$E$15</c:f>
              <c:numCache>
                <c:formatCode>#,##0</c:formatCode>
                <c:ptCount val="14"/>
                <c:pt idx="0">
                  <c:v>43392350</c:v>
                </c:pt>
                <c:pt idx="1">
                  <c:v>41588762.5</c:v>
                </c:pt>
                <c:pt idx="2">
                  <c:v>11665302.5</c:v>
                </c:pt>
                <c:pt idx="3">
                  <c:v>15957381.5</c:v>
                </c:pt>
                <c:pt idx="4">
                  <c:v>51768612</c:v>
                </c:pt>
                <c:pt idx="5">
                  <c:v>0</c:v>
                </c:pt>
                <c:pt idx="6">
                  <c:v>34285592.5</c:v>
                </c:pt>
                <c:pt idx="7">
                  <c:v>32303093.75</c:v>
                </c:pt>
                <c:pt idx="8">
                  <c:v>27865237</c:v>
                </c:pt>
                <c:pt idx="9">
                  <c:v>86165279.75</c:v>
                </c:pt>
                <c:pt idx="10">
                  <c:v>0</c:v>
                </c:pt>
                <c:pt idx="11">
                  <c:v>93600</c:v>
                </c:pt>
                <c:pt idx="12">
                  <c:v>0</c:v>
                </c:pt>
                <c:pt idx="13">
                  <c:v>51224548.850000001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Sheet1!$E$19:$E$32</c15:f>
                <c15:dlblRangeCache>
                  <c:ptCount val="14"/>
                  <c:pt idx="0">
                    <c:v>3%</c:v>
                  </c:pt>
                  <c:pt idx="1">
                    <c:v>3%</c:v>
                  </c:pt>
                  <c:pt idx="2">
                    <c:v>1%</c:v>
                  </c:pt>
                  <c:pt idx="3">
                    <c:v>1%</c:v>
                  </c:pt>
                  <c:pt idx="4">
                    <c:v>10%</c:v>
                  </c:pt>
                  <c:pt idx="6">
                    <c:v>7%</c:v>
                  </c:pt>
                  <c:pt idx="7">
                    <c:v>12%</c:v>
                  </c:pt>
                  <c:pt idx="8">
                    <c:v>12%</c:v>
                  </c:pt>
                  <c:pt idx="9">
                    <c:v>38%</c:v>
                  </c:pt>
                  <c:pt idx="13">
                    <c:v>11%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3-FEDF-4769-8BCF-8DE8D59E715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Пресса</c:v>
                </c:pt>
              </c:strCache>
            </c:strRef>
          </c:tx>
          <c:spPr>
            <a:prstGeom prst="rect">
              <a:avLst/>
            </a:prstGeom>
            <a:solidFill>
              <a:srgbClr val="806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Sheet1!$F$2:$F$15</c:f>
              <c:numCache>
                <c:formatCode>#,##0</c:formatCode>
                <c:ptCount val="14"/>
                <c:pt idx="0">
                  <c:v>0</c:v>
                </c:pt>
                <c:pt idx="1">
                  <c:v>0</c:v>
                </c:pt>
                <c:pt idx="2">
                  <c:v>1425000</c:v>
                </c:pt>
                <c:pt idx="3">
                  <c:v>0</c:v>
                </c:pt>
                <c:pt idx="4">
                  <c:v>1466439.75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410976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04-FEDF-4769-8BCF-8DE8D59E715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Нац.ТВ</c:v>
                </c:pt>
              </c:strCache>
            </c:strRef>
          </c:tx>
          <c:spPr>
            <a:solidFill>
              <a:srgbClr val="B5E6A2"/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D5F6A8F-8CBC-4639-AF85-284E33F04DA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FEDF-4769-8BCF-8DE8D59E715B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0E3CF0A-E348-447F-9A77-A9E6534D8C7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FEDF-4769-8BCF-8DE8D59E715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BC8DA38-5F4A-4A79-8942-5ED6A4321AE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6D07746-F6D8-4F43-8B49-1B17ADAD9F8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FEDF-4769-8BCF-8DE8D59E715B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8B700A3-C935-4E8D-8F95-CB0738A8652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8-FEDF-4769-8BCF-8DE8D59E715B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0FE2781-999D-40F8-9FC5-B2EC9756A6A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9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1AD86B78-21C4-4E80-84DD-171DF6D5572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A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935535E7-9578-459A-BB41-86E8A40479A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B-FEDF-4769-8BCF-8DE8D59E715B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FEDF-4769-8BCF-8DE8D59E715B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E7D174C9-6B6E-45FF-AB47-436046FD7FF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8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407F6F5-1DFF-4BCF-ABA5-5933619F995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BCF3-42D7-A6AB-14850984CEE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A038DE47-38E7-4156-B594-E9CF03251DE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8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0859145-A1E7-4527-AFFD-58C4EAFE66F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Sheet1!$G$2:$G$15</c:f>
              <c:numCache>
                <c:formatCode>#,##0</c:formatCode>
                <c:ptCount val="14"/>
                <c:pt idx="0">
                  <c:v>871034990.40000069</c:v>
                </c:pt>
                <c:pt idx="1">
                  <c:v>743472139.50000083</c:v>
                </c:pt>
                <c:pt idx="2">
                  <c:v>476093277.90000021</c:v>
                </c:pt>
                <c:pt idx="3">
                  <c:v>0</c:v>
                </c:pt>
                <c:pt idx="4">
                  <c:v>230254958.69999999</c:v>
                </c:pt>
                <c:pt idx="5">
                  <c:v>0</c:v>
                </c:pt>
                <c:pt idx="6">
                  <c:v>180592696.79999998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Sheet1!$G$19:$G$32</c15:f>
                <c15:dlblRangeCache>
                  <c:ptCount val="14"/>
                  <c:pt idx="0">
                    <c:v>52%</c:v>
                  </c:pt>
                  <c:pt idx="1">
                    <c:v>51%</c:v>
                  </c:pt>
                  <c:pt idx="2">
                    <c:v>39%</c:v>
                  </c:pt>
                  <c:pt idx="4">
                    <c:v>45%</c:v>
                  </c:pt>
                  <c:pt idx="6">
                    <c:v>39%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5-FEDF-4769-8BCF-8DE8D59E715B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ТВ Спонс.</c:v>
                </c:pt>
              </c:strCache>
            </c:strRef>
          </c:tx>
          <c:spPr>
            <a:solidFill>
              <a:srgbClr val="99CC00"/>
            </a:solidFill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FEDF-4769-8BCF-8DE8D59E715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FEDF-4769-8BCF-8DE8D59E715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FEDF-4769-8BCF-8DE8D59E715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EB45AF78-14E5-44AC-98D1-06E88E894A7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0-FEDF-4769-8BCF-8DE8D59E715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FEDF-4769-8BCF-8DE8D59E715B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9CE26F7-CA41-4129-B2BF-DE3558E6E3B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2-FEDF-4769-8BCF-8DE8D59E715B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7C38B016-D1BC-45AF-83BD-68A39A7318E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3-FEDF-4769-8BCF-8DE8D59E715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B4CAF4D0-5691-4291-BCC4-D422FDECB33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4-FEDF-4769-8BCF-8DE8D59E715B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FEDF-4769-8BCF-8DE8D59E715B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F3-42D7-A6AB-14850984CEE4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7882ED2-BC5C-48DF-AC7D-FCD3DFE3CEF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BCF3-42D7-A6AB-14850984CEE4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BCF3-42D7-A6AB-14850984CEE4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BCF3-42D7-A6AB-14850984CEE4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BCF3-42D7-A6AB-14850984CEE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Sheet1!$A$2:$A$15</c:f>
              <c:strCache>
                <c:ptCount val="14"/>
                <c:pt idx="0">
                  <c:v>МАГНИТ</c:v>
                </c:pt>
                <c:pt idx="1">
                  <c:v>САМОКАТ</c:v>
                </c:pt>
                <c:pt idx="2">
                  <c:v>ПЯТЕРОЧКА</c:v>
                </c:pt>
                <c:pt idx="3">
                  <c:v>OZON FRESH</c:v>
                </c:pt>
                <c:pt idx="4">
                  <c:v>КУПЕР</c:v>
                </c:pt>
                <c:pt idx="5">
                  <c:v>ЯНДЕКС.ЛАВКА</c:v>
                </c:pt>
                <c:pt idx="6">
                  <c:v>ПЕРЕКРЕСТОК</c:v>
                </c:pt>
                <c:pt idx="7">
                  <c:v>ЧИЖИК</c:v>
                </c:pt>
                <c:pt idx="8">
                  <c:v>АШАН</c:v>
                </c:pt>
                <c:pt idx="9">
                  <c:v>ЛЕНТА</c:v>
                </c:pt>
                <c:pt idx="10">
                  <c:v>ВКУСВИЛЛ</c:v>
                </c:pt>
                <c:pt idx="11">
                  <c:v>ДИКСИ</c:v>
                </c:pt>
                <c:pt idx="12">
                  <c:v>GLOBUS</c:v>
                </c:pt>
                <c:pt idx="13">
                  <c:v>Другие</c:v>
                </c:pt>
              </c:strCache>
            </c:strRef>
          </c:cat>
          <c:val>
            <c:numRef>
              <c:f>Sheet1!$H$2:$H$15</c:f>
              <c:numCache>
                <c:formatCode>#,##0</c:formatCode>
                <c:ptCount val="14"/>
                <c:pt idx="0">
                  <c:v>0</c:v>
                </c:pt>
                <c:pt idx="1">
                  <c:v>0</c:v>
                </c:pt>
                <c:pt idx="2">
                  <c:v>116771.4</c:v>
                </c:pt>
                <c:pt idx="3">
                  <c:v>52725263.25</c:v>
                </c:pt>
                <c:pt idx="4">
                  <c:v>3922827.85</c:v>
                </c:pt>
                <c:pt idx="5">
                  <c:v>0</c:v>
                </c:pt>
                <c:pt idx="6">
                  <c:v>2117740.8000000003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16698309.65</c:v>
                </c:pt>
                <c:pt idx="11">
                  <c:v>0</c:v>
                </c:pt>
                <c:pt idx="12">
                  <c:v>2946591.45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Sheet1!$H$19:$H$29</c15:f>
                <c15:dlblRangeCache>
                  <c:ptCount val="11"/>
                  <c:pt idx="3">
                    <c:v>4%</c:v>
                  </c:pt>
                  <c:pt idx="4">
                    <c:v>1%</c:v>
                  </c:pt>
                  <c:pt idx="10">
                    <c:v>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6-FEDF-4769-8BCF-8DE8D59E715B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catAx>
        <c:axId val="322483696"/>
        <c:scaling>
          <c:orientation val="minMax"/>
        </c:scaling>
        <c:delete val="0"/>
        <c:axPos val="b"/>
        <c:numFmt formatCode="General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322483216"/>
        <c:crosses val="autoZero"/>
        <c:auto val="1"/>
        <c:lblAlgn val="ctr"/>
        <c:lblOffset val="100"/>
        <c:noMultiLvlLbl val="0"/>
      </c:catAx>
      <c:valAx>
        <c:axId val="322483216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cross"/>
        <c:minorTickMark val="none"/>
        <c:tickLblPos val="nextTo"/>
        <c:spPr>
          <a:prstGeom prst="rect">
            <a:avLst/>
          </a:prstGeom>
          <a:noFill/>
          <a:ln>
            <a:solidFill>
              <a:schemeClr val="accent1"/>
            </a:solidFill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322483696"/>
        <c:crosses val="autoZero"/>
        <c:crossBetween val="between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</c:dispUnitsLbl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1.7461181983171835E-2"/>
          <c:y val="0.84451984928148893"/>
          <c:w val="0.94106368919385019"/>
          <c:h val="8.6957407424104752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vert="horz"/>
        <a:lstStyle/>
        <a:p>
          <a:pPr>
            <a:defRPr sz="1200"/>
          </a:pPr>
          <a:endParaRPr lang="ru-RU"/>
        </a:p>
      </c:txPr>
    </c:legend>
    <c:plotVisOnly val="1"/>
    <c:dispBlanksAs val="gap"/>
    <c:showDLblsOverMax val="0"/>
  </c:chart>
  <c:spPr>
    <a:xfrm>
      <a:off x="418756" y="3603078"/>
      <a:ext cx="7129357" cy="299448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800"/>
      </a:pPr>
      <a:endParaRPr lang="ru-RU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0132000000000004E-2"/>
          <c:y val="0.182006"/>
          <c:w val="0.17882183049159181"/>
          <c:h val="0.47517799999999999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Реклама офлайн магазинов</c:v>
                </c:pt>
              </c:strCache>
            </c:strRef>
          </c:tx>
          <c:spPr>
            <a:prstGeom prst="rect">
              <a:avLst/>
            </a:prstGeom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4CCE8E0-B898-43B7-B38F-634B76576C0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C0B4-4D90-8077-CC531155159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B7A9ABD-E19A-43C6-B75A-3E96D535BCD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C0B4-4D90-8077-CC5311551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2189674475</c:v>
                </c:pt>
                <c:pt idx="1">
                  <c:v>3610959688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Лист1!$B$5:$B$6</c15:f>
                <c15:dlblRangeCache>
                  <c:ptCount val="2"/>
                  <c:pt idx="0">
                    <c:v>36%</c:v>
                  </c:pt>
                  <c:pt idx="1">
                    <c:v>42%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C0B4-4D90-8077-CC531155159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Смешанная реклама</c:v>
                </c:pt>
              </c:strCache>
            </c:strRef>
          </c:tx>
          <c:spPr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8E474BF-A335-4F34-9D32-E8636B6F10F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3-C0B4-4D90-8077-CC531155159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9BD9BA8-768B-4A5D-824E-DC8656890F2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C0B4-4D90-8077-CC531155159D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Лист1!$C$2:$C$3</c:f>
              <c:numCache>
                <c:formatCode>#,##0</c:formatCode>
                <c:ptCount val="2"/>
                <c:pt idx="0">
                  <c:v>675067619</c:v>
                </c:pt>
                <c:pt idx="1">
                  <c:v>560716193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Лист1!$C$5:$C$6</c15:f>
                <c15:dlblRangeCache>
                  <c:ptCount val="2"/>
                  <c:pt idx="0">
                    <c:v>11%</c:v>
                  </c:pt>
                  <c:pt idx="1">
                    <c:v>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5-C0B4-4D90-8077-CC531155159D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Доставка</c:v>
                </c:pt>
              </c:strCache>
            </c:strRef>
          </c:tx>
          <c:spPr>
            <a:prstGeom prst="rect">
              <a:avLst/>
            </a:prstGeom>
            <a:solidFill>
              <a:srgbClr val="FFC000"/>
            </a:solidFill>
            <a:ln>
              <a:noFill/>
              <a:round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6C2011B-FA93-43FF-8F5C-E85DBC93465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6-C0B4-4D90-8077-CC531155159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EF992FD-23DA-4ADC-8912-82033813F5F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C0B4-4D90-8077-CC531155159D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Лист1!$D$2:$D$3</c:f>
              <c:numCache>
                <c:formatCode>#,##0</c:formatCode>
                <c:ptCount val="2"/>
                <c:pt idx="0">
                  <c:v>3135448248</c:v>
                </c:pt>
                <c:pt idx="1">
                  <c:v>4495756001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Лист1!$D$5:$D$6</c15:f>
                <c15:dlblRangeCache>
                  <c:ptCount val="2"/>
                  <c:pt idx="0">
                    <c:v>52%</c:v>
                  </c:pt>
                  <c:pt idx="1">
                    <c:v>52%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8-C0B4-4D90-8077-CC531155159D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 TOTAL </c:v>
                </c:pt>
              </c:strCache>
            </c:strRef>
          </c:tx>
          <c:spPr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Лист1!$A$2:$A$3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Лист1!$E$2:$E$3</c:f>
              <c:numCache>
                <c:formatCode>_-* #\ ##0_-;\-* #\ ##0_-;_-* "-"??_-;_-@_-</c:formatCode>
                <c:ptCount val="2"/>
                <c:pt idx="0">
                  <c:v>6000190342</c:v>
                </c:pt>
                <c:pt idx="1">
                  <c:v>8667431882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C0B4-4D90-8077-CC531155159D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30"/>
        <c:overlap val="100"/>
        <c:axId val="713293183"/>
        <c:axId val="713290303"/>
      </c:barChart>
      <c:catAx>
        <c:axId val="7132931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713290303"/>
        <c:crosses val="autoZero"/>
        <c:auto val="1"/>
        <c:lblAlgn val="ctr"/>
        <c:lblOffset val="100"/>
        <c:noMultiLvlLbl val="0"/>
      </c:catAx>
      <c:valAx>
        <c:axId val="713290303"/>
        <c:scaling>
          <c:orientation val="minMax"/>
          <c:max val="9000000000"/>
        </c:scaling>
        <c:delete val="0"/>
        <c:axPos val="l"/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tx1">
                    <a:lumMod val="50000"/>
                    <a:lumOff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713293183"/>
        <c:crosses val="autoZero"/>
        <c:crossBetween val="between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</c:legendEntry>
      <c:legendEntry>
        <c:idx val="3"/>
        <c:delete val="1"/>
      </c:legendEntry>
      <c:layout>
        <c:manualLayout>
          <c:xMode val="edge"/>
          <c:yMode val="edge"/>
          <c:x val="0"/>
          <c:y val="0.88421216042847839"/>
          <c:w val="1"/>
          <c:h val="9.0987874053881465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216430" y="1842457"/>
      <a:ext cx="10876663" cy="2891550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  <c:userShapes r:id="rId2"/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Реклама оффлайн магазинов</c:v>
                </c:pt>
              </c:strCache>
            </c:strRef>
          </c:tx>
          <c:spPr>
            <a:prstGeom prst="rect">
              <a:avLst/>
            </a:prstGeom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1533CB0-442B-4956-BAB4-6CBC7269AA6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0C09-497D-9DA0-770C2255B8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C755D184-93B6-45D3-AE05-D29B29D39DF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0C09-497D-9DA0-770C2255B8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0C09-497D-9DA0-770C2255B8E1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C09-497D-9DA0-770C2255B8E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C09-497D-9DA0-770C2255B8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44D2F62-A20A-4FFE-8089-234A94532E8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0C09-497D-9DA0-770C2255B8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A4F7B421-50CE-4BFC-9E4E-E884C36A74F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0C09-497D-9DA0-770C2255B8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E61C50A-6809-4952-8197-671BD10FCDE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0C09-497D-9DA0-770C2255B8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D76B606C-1309-4BCD-8E68-158E6F23BF2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8-0C09-497D-9DA0-770C2255B8E1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C09-497D-9DA0-770C2255B8E1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C09-497D-9DA0-770C2255B8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FE8E414A-718E-4D71-BAA1-65EE944D0F1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9-0C09-497D-9DA0-770C2255B8E1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C09-497D-9DA0-770C2255B8E1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C09-497D-9DA0-770C2255B8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F7AD6AC2-8B15-4DA1-ACB1-432C4F88718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A-0C09-497D-9DA0-770C2255B8E1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94FCD3D2-B58F-44D9-936B-B97586A0A38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B-0C09-497D-9DA0-770C2255B8E1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84D946E6-4AFF-4F79-AFEB-356CF58166D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C-0C09-497D-9DA0-770C2255B8E1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69A39D71-CFE2-4741-8487-610B2AE4509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D-0C09-497D-9DA0-770C2255B8E1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CA814020-83B2-4177-ACED-8099BC7E7F6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E-0C09-497D-9DA0-770C2255B8E1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EEAA8E88-DE48-4F92-BEED-E9296F802D6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F-0C09-497D-9DA0-770C2255B8E1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fld id="{A312D937-442C-4F4E-8424-13E4D2222AA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0-0C09-497D-9DA0-770C2255B8E1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C09-497D-9DA0-770C2255B8E1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C09-497D-9DA0-770C2255B8E1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fld id="{627DD0E7-8D74-4253-BAAE-4B9BA204639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1-0C09-497D-9DA0-770C2255B8E1}"/>
                </c:ext>
              </c:extLst>
            </c:dLbl>
            <c:dLbl>
              <c:idx val="24"/>
              <c:tx>
                <c:rich>
                  <a:bodyPr/>
                  <a:lstStyle/>
                  <a:p>
                    <a:fld id="{678132BA-FF0F-431C-9ED0-2E86A2E65C4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2-0C09-497D-9DA0-770C2255B8E1}"/>
                </c:ext>
              </c:extLst>
            </c:dLbl>
            <c:dLbl>
              <c:idx val="25"/>
              <c:tx>
                <c:rich>
                  <a:bodyPr/>
                  <a:lstStyle/>
                  <a:p>
                    <a:fld id="{24F9DD14-8D4B-40DE-A0B7-4BA375CD5E4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0C09-497D-9DA0-770C2255B8E1}"/>
                </c:ext>
              </c:extLst>
            </c:dLbl>
            <c:dLbl>
              <c:idx val="26"/>
              <c:tx>
                <c:rich>
                  <a:bodyPr/>
                  <a:lstStyle/>
                  <a:p>
                    <a:fld id="{75593959-78DB-4AAD-9322-9BB28F400FE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4-0C09-497D-9DA0-770C2255B8E1}"/>
                </c:ext>
              </c:extLst>
            </c:dLbl>
            <c:dLbl>
              <c:idx val="27"/>
              <c:tx>
                <c:rich>
                  <a:bodyPr/>
                  <a:lstStyle/>
                  <a:p>
                    <a:fld id="{20B1E88E-8960-403B-863D-722B784E95D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0C09-497D-9DA0-770C2255B8E1}"/>
                </c:ext>
              </c:extLst>
            </c:dLbl>
            <c:dLbl>
              <c:idx val="28"/>
              <c:tx>
                <c:rich>
                  <a:bodyPr/>
                  <a:lstStyle/>
                  <a:p>
                    <a:fld id="{2FCECBE3-912D-42FC-9377-15A6A6D195B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0C09-497D-9DA0-770C2255B8E1}"/>
                </c:ext>
              </c:extLst>
            </c:dLbl>
            <c:dLbl>
              <c:idx val="29"/>
              <c:tx>
                <c:rich>
                  <a:bodyPr/>
                  <a:lstStyle/>
                  <a:p>
                    <a:fld id="{40155BF3-7EF8-4D93-B4C9-3E993633511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0C09-497D-9DA0-770C2255B8E1}"/>
                </c:ext>
              </c:extLst>
            </c:dLbl>
            <c:dLbl>
              <c:idx val="30"/>
              <c:tx>
                <c:rich>
                  <a:bodyPr/>
                  <a:lstStyle/>
                  <a:p>
                    <a:fld id="{0554EAE6-F069-41C1-B46E-42A3F1FE9E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8-0C09-497D-9DA0-770C2255B8E1}"/>
                </c:ext>
              </c:extLst>
            </c:dLbl>
            <c:dLbl>
              <c:idx val="31"/>
              <c:tx>
                <c:rich>
                  <a:bodyPr/>
                  <a:lstStyle/>
                  <a:p>
                    <a:fld id="{D067E27C-B468-40BD-AA13-5916E5E0629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9-0C09-497D-9DA0-770C2255B8E1}"/>
                </c:ext>
              </c:extLst>
            </c:dLbl>
            <c:dLbl>
              <c:idx val="32"/>
              <c:tx>
                <c:rich>
                  <a:bodyPr/>
                  <a:lstStyle/>
                  <a:p>
                    <a:fld id="{61079F3B-A8C4-475D-A226-B8B940B1A92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A-0C09-497D-9DA0-770C2255B8E1}"/>
                </c:ext>
              </c:extLst>
            </c:dLbl>
            <c:dLbl>
              <c:idx val="33"/>
              <c:tx>
                <c:rich>
                  <a:bodyPr/>
                  <a:lstStyle/>
                  <a:p>
                    <a:fld id="{175B187D-7692-437A-9D1E-62F8E9AC1A2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B-0C09-497D-9DA0-770C2255B8E1}"/>
                </c:ext>
              </c:extLst>
            </c:dLbl>
            <c:dLbl>
              <c:idx val="34"/>
              <c:tx>
                <c:rich>
                  <a:bodyPr/>
                  <a:lstStyle/>
                  <a:p>
                    <a:fld id="{E8311BE9-37F7-4BE2-B2D1-28190988C83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C-0C09-497D-9DA0-770C2255B8E1}"/>
                </c:ext>
              </c:extLst>
            </c:dLbl>
            <c:dLbl>
              <c:idx val="35"/>
              <c:tx>
                <c:rich>
                  <a:bodyPr/>
                  <a:lstStyle/>
                  <a:p>
                    <a:fld id="{020B7AD6-1624-43FB-9EF0-599886D6A05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D-0C09-497D-9DA0-770C2255B8E1}"/>
                </c:ext>
              </c:extLst>
            </c:dLbl>
            <c:dLbl>
              <c:idx val="36"/>
              <c:tx>
                <c:rich>
                  <a:bodyPr/>
                  <a:lstStyle/>
                  <a:p>
                    <a:fld id="{E639A8E9-C37A-4E5B-9194-4012BD93E50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E-0C09-497D-9DA0-770C2255B8E1}"/>
                </c:ext>
              </c:extLst>
            </c:dLbl>
            <c:dLbl>
              <c:idx val="37"/>
              <c:tx>
                <c:rich>
                  <a:bodyPr/>
                  <a:lstStyle/>
                  <a:p>
                    <a:fld id="{F3629628-6C3A-4094-83BA-4C5F5D3B22B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F-0C09-497D-9DA0-770C2255B8E1}"/>
                </c:ext>
              </c:extLst>
            </c:dLbl>
            <c:dLbl>
              <c:idx val="3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0-0C09-497D-9DA0-770C2255B8E1}"/>
                </c:ext>
              </c:extLst>
            </c:dLbl>
            <c:dLbl>
              <c:idx val="39"/>
              <c:tx>
                <c:rich>
                  <a:bodyPr/>
                  <a:lstStyle/>
                  <a:p>
                    <a:fld id="{E39B378C-AFFC-44AF-92AE-DFCAD5FAC80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1-0C09-497D-9DA0-770C2255B8E1}"/>
                </c:ext>
              </c:extLst>
            </c:dLbl>
            <c:dLbl>
              <c:idx val="40"/>
              <c:tx>
                <c:rich>
                  <a:bodyPr/>
                  <a:lstStyle/>
                  <a:p>
                    <a:fld id="{0DA565EB-9B6A-47D2-B9A1-C78F07DEEC9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2-0C09-497D-9DA0-770C2255B8E1}"/>
                </c:ext>
              </c:extLst>
            </c:dLbl>
            <c:dLbl>
              <c:idx val="4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3-0C09-497D-9DA0-770C2255B8E1}"/>
                </c:ext>
              </c:extLst>
            </c:dLbl>
            <c:dLbl>
              <c:idx val="42"/>
              <c:tx>
                <c:rich>
                  <a:bodyPr/>
                  <a:lstStyle/>
                  <a:p>
                    <a:fld id="{EA893B4E-EA69-406B-A1EF-DF052A7BD5A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4-0C09-497D-9DA0-770C2255B8E1}"/>
                </c:ext>
              </c:extLst>
            </c:dLbl>
            <c:dLbl>
              <c:idx val="43"/>
              <c:tx>
                <c:rich>
                  <a:bodyPr/>
                  <a:lstStyle/>
                  <a:p>
                    <a:fld id="{370250B3-3FF7-4B0A-92FF-353678948A4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5-0C09-497D-9DA0-770C2255B8E1}"/>
                </c:ext>
              </c:extLst>
            </c:dLbl>
            <c:dLbl>
              <c:idx val="4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6-0C09-497D-9DA0-770C2255B8E1}"/>
                </c:ext>
              </c:extLst>
            </c:dLbl>
            <c:dLbl>
              <c:idx val="45"/>
              <c:tx>
                <c:rich>
                  <a:bodyPr/>
                  <a:lstStyle/>
                  <a:p>
                    <a:fld id="{CD773322-5C32-4B9B-A799-A0D75A56EF9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7-0C09-497D-9DA0-770C2255B8E1}"/>
                </c:ext>
              </c:extLst>
            </c:dLbl>
            <c:dLbl>
              <c:idx val="46"/>
              <c:tx>
                <c:rich>
                  <a:bodyPr/>
                  <a:lstStyle/>
                  <a:p>
                    <a:fld id="{FE174D82-5AF6-499B-90B1-C835CEDBC71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8-0C09-497D-9DA0-770C2255B8E1}"/>
                </c:ext>
              </c:extLst>
            </c:dLbl>
            <c:dLbl>
              <c:idx val="4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9-0C09-497D-9DA0-770C2255B8E1}"/>
                </c:ext>
              </c:extLst>
            </c:dLbl>
            <c:dLbl>
              <c:idx val="48"/>
              <c:tx>
                <c:rich>
                  <a:bodyPr/>
                  <a:lstStyle/>
                  <a:p>
                    <a:fld id="{02A166B3-B742-455E-BC1F-AB4BF398824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A-0C09-497D-9DA0-770C2255B8E1}"/>
                </c:ext>
              </c:extLst>
            </c:dLbl>
            <c:dLbl>
              <c:idx val="49"/>
              <c:tx>
                <c:rich>
                  <a:bodyPr/>
                  <a:lstStyle/>
                  <a:p>
                    <a:fld id="{DF88EC0B-8A65-4CB9-850E-34227E5A046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B-0C09-497D-9DA0-770C2255B8E1}"/>
                </c:ext>
              </c:extLst>
            </c:dLbl>
            <c:dLbl>
              <c:idx val="5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C-0C09-497D-9DA0-770C2255B8E1}"/>
                </c:ext>
              </c:extLst>
            </c:dLbl>
            <c:dLbl>
              <c:idx val="51"/>
              <c:tx>
                <c:rich>
                  <a:bodyPr/>
                  <a:lstStyle/>
                  <a:p>
                    <a:fld id="{F46B7C56-BE24-48E3-8A28-40FE47B90A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D-0C09-497D-9DA0-770C2255B8E1}"/>
                </c:ext>
              </c:extLst>
            </c:dLbl>
            <c:dLbl>
              <c:idx val="52"/>
              <c:tx>
                <c:rich>
                  <a:bodyPr/>
                  <a:lstStyle/>
                  <a:p>
                    <a:fld id="{92C46783-C249-44A8-A2D1-433C81915DD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E-0C09-497D-9DA0-770C2255B8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Лист1!$A$2:$A$54</c:f>
              <c:strCache>
                <c:ptCount val="53"/>
                <c:pt idx="0">
                  <c:v>Магнит'25</c:v>
                </c:pt>
                <c:pt idx="1">
                  <c:v>Магнит'26</c:v>
                </c:pt>
                <c:pt idx="3">
                  <c:v>Самокат'25</c:v>
                </c:pt>
                <c:pt idx="4">
                  <c:v>Самокат'26</c:v>
                </c:pt>
                <c:pt idx="6">
                  <c:v>Пятерочка'25</c:v>
                </c:pt>
                <c:pt idx="7">
                  <c:v>Пятерочка'26</c:v>
                </c:pt>
                <c:pt idx="9">
                  <c:v>Купер'25</c:v>
                </c:pt>
                <c:pt idx="10">
                  <c:v>Купер'26</c:v>
                </c:pt>
                <c:pt idx="12">
                  <c:v>Яндекс.Лавка'25</c:v>
                </c:pt>
                <c:pt idx="13">
                  <c:v>Яндекс.Лавка'26</c:v>
                </c:pt>
                <c:pt idx="15">
                  <c:v>Лента'25</c:v>
                </c:pt>
                <c:pt idx="16">
                  <c:v>Лента'26</c:v>
                </c:pt>
                <c:pt idx="18">
                  <c:v>Перекресток'25</c:v>
                </c:pt>
                <c:pt idx="19">
                  <c:v>Перекресток'26</c:v>
                </c:pt>
                <c:pt idx="21">
                  <c:v>Ozon Fresh'25</c:v>
                </c:pt>
                <c:pt idx="22">
                  <c:v>Ozon Fresh'26</c:v>
                </c:pt>
                <c:pt idx="24">
                  <c:v>Чижик'25</c:v>
                </c:pt>
                <c:pt idx="25">
                  <c:v>Чижик'26</c:v>
                </c:pt>
                <c:pt idx="27">
                  <c:v>Ашан'25</c:v>
                </c:pt>
                <c:pt idx="28">
                  <c:v>Ашан'26</c:v>
                </c:pt>
                <c:pt idx="30">
                  <c:v>Дикси'25</c:v>
                </c:pt>
                <c:pt idx="31">
                  <c:v>Дикси'26</c:v>
                </c:pt>
                <c:pt idx="33">
                  <c:v>О'КЕЙ'25</c:v>
                </c:pt>
                <c:pt idx="34">
                  <c:v>О'КЕЙ'26</c:v>
                </c:pt>
                <c:pt idx="36">
                  <c:v>Spar'25</c:v>
                </c:pt>
                <c:pt idx="37">
                  <c:v>Spar'26</c:v>
                </c:pt>
                <c:pt idx="39">
                  <c:v>Metro'25</c:v>
                </c:pt>
                <c:pt idx="40">
                  <c:v>Metro'26</c:v>
                </c:pt>
                <c:pt idx="42">
                  <c:v>Вкусвилл'25</c:v>
                </c:pt>
                <c:pt idx="43">
                  <c:v>Вкусвилл'26</c:v>
                </c:pt>
                <c:pt idx="45">
                  <c:v>Globus'25</c:v>
                </c:pt>
                <c:pt idx="46">
                  <c:v>Globus'26</c:v>
                </c:pt>
                <c:pt idx="48">
                  <c:v>Монетка'25</c:v>
                </c:pt>
                <c:pt idx="49">
                  <c:v>Монетка'26</c:v>
                </c:pt>
                <c:pt idx="51">
                  <c:v>Азбука Вкуса '25</c:v>
                </c:pt>
                <c:pt idx="52">
                  <c:v>Азбука Вкуса '26</c:v>
                </c:pt>
              </c:strCache>
            </c:strRef>
          </c:cat>
          <c:val>
            <c:numRef>
              <c:f>Лист1!$B$2:$B$54</c:f>
              <c:numCache>
                <c:formatCode>_-* #\ ##0_-;\-* #\ ##0_-;_-* "-"??_-;_-@_-</c:formatCode>
                <c:ptCount val="53"/>
                <c:pt idx="0">
                  <c:v>988160881.72300911</c:v>
                </c:pt>
                <c:pt idx="1">
                  <c:v>1383879969.6680746</c:v>
                </c:pt>
                <c:pt idx="3">
                  <c:v>0</c:v>
                </c:pt>
                <c:pt idx="4">
                  <c:v>16231932.299999995</c:v>
                </c:pt>
                <c:pt idx="6">
                  <c:v>150967766.23461241</c:v>
                </c:pt>
                <c:pt idx="7">
                  <c:v>746018921.43618047</c:v>
                </c:pt>
                <c:pt idx="9">
                  <c:v>0</c:v>
                </c:pt>
                <c:pt idx="10">
                  <c:v>752827.5</c:v>
                </c:pt>
                <c:pt idx="12">
                  <c:v>1116487</c:v>
                </c:pt>
                <c:pt idx="13">
                  <c:v>0</c:v>
                </c:pt>
                <c:pt idx="15">
                  <c:v>213954525.60000002</c:v>
                </c:pt>
                <c:pt idx="16">
                  <c:v>131689616.71462682</c:v>
                </c:pt>
                <c:pt idx="18">
                  <c:v>42059036.914672591</c:v>
                </c:pt>
                <c:pt idx="19">
                  <c:v>300217904.31638134</c:v>
                </c:pt>
                <c:pt idx="21">
                  <c:v>0</c:v>
                </c:pt>
                <c:pt idx="22">
                  <c:v>0</c:v>
                </c:pt>
                <c:pt idx="24">
                  <c:v>113774879.87643562</c:v>
                </c:pt>
                <c:pt idx="25">
                  <c:v>264741021.07102549</c:v>
                </c:pt>
                <c:pt idx="27">
                  <c:v>183900523.57309076</c:v>
                </c:pt>
                <c:pt idx="28">
                  <c:v>177050472.76003644</c:v>
                </c:pt>
                <c:pt idx="30">
                  <c:v>79991007.920253292</c:v>
                </c:pt>
                <c:pt idx="31">
                  <c:v>86971569.843957245</c:v>
                </c:pt>
                <c:pt idx="33">
                  <c:v>113450890.88220327</c:v>
                </c:pt>
                <c:pt idx="34">
                  <c:v>106939512.70472668</c:v>
                </c:pt>
                <c:pt idx="36">
                  <c:v>62730013.934188128</c:v>
                </c:pt>
                <c:pt idx="37">
                  <c:v>54848201.091080822</c:v>
                </c:pt>
                <c:pt idx="39">
                  <c:v>119724494.88916504</c:v>
                </c:pt>
                <c:pt idx="40">
                  <c:v>212542166.49289995</c:v>
                </c:pt>
                <c:pt idx="42">
                  <c:v>74317535.744232506</c:v>
                </c:pt>
                <c:pt idx="43">
                  <c:v>16195181.604186125</c:v>
                </c:pt>
                <c:pt idx="45">
                  <c:v>19019686.550000001</c:v>
                </c:pt>
                <c:pt idx="46">
                  <c:v>80450219.983555555</c:v>
                </c:pt>
                <c:pt idx="48">
                  <c:v>13931902.887811555</c:v>
                </c:pt>
                <c:pt idx="49">
                  <c:v>23771138.413813468</c:v>
                </c:pt>
                <c:pt idx="51">
                  <c:v>12574840.862678107</c:v>
                </c:pt>
                <c:pt idx="52">
                  <c:v>8659032.5031493176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Лист1!$B$58:$B$110</c15:f>
                <c15:dlblRangeCache>
                  <c:ptCount val="53"/>
                  <c:pt idx="0">
                    <c:v>99%</c:v>
                  </c:pt>
                  <c:pt idx="1">
                    <c:v>83%</c:v>
                  </c:pt>
                  <c:pt idx="3">
                    <c:v>0%</c:v>
                  </c:pt>
                  <c:pt idx="4">
                    <c:v>1%</c:v>
                  </c:pt>
                  <c:pt idx="6">
                    <c:v>17%</c:v>
                  </c:pt>
                  <c:pt idx="7">
                    <c:v>61%</c:v>
                  </c:pt>
                  <c:pt idx="9">
                    <c:v>0%</c:v>
                  </c:pt>
                  <c:pt idx="10">
                    <c:v>0%</c:v>
                  </c:pt>
                  <c:pt idx="12">
                    <c:v>0%</c:v>
                  </c:pt>
                  <c:pt idx="13">
                    <c:v>0%</c:v>
                  </c:pt>
                  <c:pt idx="15">
                    <c:v>64%</c:v>
                  </c:pt>
                  <c:pt idx="16">
                    <c:v>59%</c:v>
                  </c:pt>
                  <c:pt idx="18">
                    <c:v>13%</c:v>
                  </c:pt>
                  <c:pt idx="19">
                    <c:v>64%</c:v>
                  </c:pt>
                  <c:pt idx="21">
                    <c:v>0%</c:v>
                  </c:pt>
                  <c:pt idx="22">
                    <c:v>0%</c:v>
                  </c:pt>
                  <c:pt idx="24">
                    <c:v>100%</c:v>
                  </c:pt>
                  <c:pt idx="25">
                    <c:v>97%</c:v>
                  </c:pt>
                  <c:pt idx="27">
                    <c:v>73%</c:v>
                  </c:pt>
                  <c:pt idx="28">
                    <c:v>77%</c:v>
                  </c:pt>
                  <c:pt idx="30">
                    <c:v>77%</c:v>
                  </c:pt>
                  <c:pt idx="31">
                    <c:v>50%</c:v>
                  </c:pt>
                  <c:pt idx="33">
                    <c:v>100%</c:v>
                  </c:pt>
                  <c:pt idx="34">
                    <c:v>95%</c:v>
                  </c:pt>
                  <c:pt idx="36">
                    <c:v>100%</c:v>
                  </c:pt>
                  <c:pt idx="37">
                    <c:v>100%</c:v>
                  </c:pt>
                  <c:pt idx="39">
                    <c:v>79%</c:v>
                  </c:pt>
                  <c:pt idx="40">
                    <c:v>90%</c:v>
                  </c:pt>
                  <c:pt idx="42">
                    <c:v>36%</c:v>
                  </c:pt>
                  <c:pt idx="43">
                    <c:v>7%</c:v>
                  </c:pt>
                  <c:pt idx="45">
                    <c:v>45%</c:v>
                  </c:pt>
                  <c:pt idx="46">
                    <c:v>96%</c:v>
                  </c:pt>
                  <c:pt idx="48">
                    <c:v>99%</c:v>
                  </c:pt>
                  <c:pt idx="49">
                    <c:v>69%</c:v>
                  </c:pt>
                  <c:pt idx="51">
                    <c:v>100%</c:v>
                  </c:pt>
                  <c:pt idx="52">
                    <c:v>100%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E9F2-49E2-BD7C-4A1CB046FD5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Смешанная</c:v>
                </c:pt>
              </c:strCache>
            </c:strRef>
          </c:tx>
          <c:spPr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C09-497D-9DA0-770C2255B8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B75E5C5-93A8-4D2E-8226-648722310D7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F-0C09-497D-9DA0-770C2255B8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0-0C09-497D-9DA0-770C2255B8E1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C09-497D-9DA0-770C2255B8E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C09-497D-9DA0-770C2255B8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57EF8FDE-4A55-4E15-99ED-70A22E2DDD3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1-0C09-497D-9DA0-770C2255B8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214FD644-D9C1-40C1-8AE7-410DE905AD5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2-0C09-497D-9DA0-770C2255B8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1508F8C4-39DA-4C86-9DF6-C4571F34A1C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3-0C09-497D-9DA0-770C2255B8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CF5153FE-06FE-437C-AF59-4A8798D6C9B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4-0C09-497D-9DA0-770C2255B8E1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C09-497D-9DA0-770C2255B8E1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C09-497D-9DA0-770C2255B8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53F34EE3-287F-4EB2-ACF0-73F708F6EF2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5-0C09-497D-9DA0-770C2255B8E1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C09-497D-9DA0-770C2255B8E1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C09-497D-9DA0-770C2255B8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6995A87C-8296-44AF-ADB9-51CD34D1E40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6-0C09-497D-9DA0-770C2255B8E1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7BDABAD7-5BFE-4A09-BAAB-9633E86BC66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7-0C09-497D-9DA0-770C2255B8E1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B6950DD1-E410-4B67-BB7C-C6E98E7701F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8-0C09-497D-9DA0-770C2255B8E1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2BB94EFC-FB51-4264-BC37-0E21C6FFD32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9-0C09-497D-9DA0-770C2255B8E1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BF55DBF6-2F56-4C5C-9A1E-257C0820638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A-0C09-497D-9DA0-770C2255B8E1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B9B476AA-7A7D-4813-AF46-10FDC0B2711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B-0C09-497D-9DA0-770C2255B8E1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fld id="{6B9A3AAD-1987-47A9-BDED-4848FECC7FE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C-0C09-497D-9DA0-770C2255B8E1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C09-497D-9DA0-770C2255B8E1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C09-497D-9DA0-770C2255B8E1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fld id="{12E9CA8F-28F0-4868-88FF-BDB1BE09275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D-0C09-497D-9DA0-770C2255B8E1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C09-497D-9DA0-770C2255B8E1}"/>
                </c:ext>
              </c:extLst>
            </c:dLbl>
            <c:dLbl>
              <c:idx val="25"/>
              <c:tx>
                <c:rich>
                  <a:bodyPr/>
                  <a:lstStyle/>
                  <a:p>
                    <a:fld id="{C2B6390F-E98A-4727-B900-9F89E9B60F4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E-0C09-497D-9DA0-770C2255B8E1}"/>
                </c:ext>
              </c:extLst>
            </c:dLbl>
            <c:dLbl>
              <c:idx val="26"/>
              <c:tx>
                <c:rich>
                  <a:bodyPr/>
                  <a:lstStyle/>
                  <a:p>
                    <a:fld id="{26638955-58DB-485B-B178-0815A8CC6B1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5F-0C09-497D-9DA0-770C2255B8E1}"/>
                </c:ext>
              </c:extLst>
            </c:dLbl>
            <c:dLbl>
              <c:idx val="2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C09-497D-9DA0-770C2255B8E1}"/>
                </c:ext>
              </c:extLst>
            </c:dLbl>
            <c:dLbl>
              <c:idx val="28"/>
              <c:tx>
                <c:rich>
                  <a:bodyPr/>
                  <a:lstStyle/>
                  <a:p>
                    <a:fld id="{C451CD58-3989-4DE4-89A9-74E005B1451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0-0C09-497D-9DA0-770C2255B8E1}"/>
                </c:ext>
              </c:extLst>
            </c:dLbl>
            <c:dLbl>
              <c:idx val="29"/>
              <c:tx>
                <c:rich>
                  <a:bodyPr/>
                  <a:lstStyle/>
                  <a:p>
                    <a:fld id="{209228DE-F92E-45F2-BEA1-463EE42DAD0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1-0C09-497D-9DA0-770C2255B8E1}"/>
                </c:ext>
              </c:extLst>
            </c:dLbl>
            <c:dLbl>
              <c:idx val="3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0C09-497D-9DA0-770C2255B8E1}"/>
                </c:ext>
              </c:extLst>
            </c:dLbl>
            <c:dLbl>
              <c:idx val="31"/>
              <c:tx>
                <c:rich>
                  <a:bodyPr/>
                  <a:lstStyle/>
                  <a:p>
                    <a:fld id="{39BA582E-7320-46AE-91FC-27F87F2D47C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2-0C09-497D-9DA0-770C2255B8E1}"/>
                </c:ext>
              </c:extLst>
            </c:dLbl>
            <c:dLbl>
              <c:idx val="32"/>
              <c:tx>
                <c:rich>
                  <a:bodyPr/>
                  <a:lstStyle/>
                  <a:p>
                    <a:fld id="{8BDE27A5-598E-47F2-9B99-EC5D3B5A5EC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3-0C09-497D-9DA0-770C2255B8E1}"/>
                </c:ext>
              </c:extLst>
            </c:dLbl>
            <c:dLbl>
              <c:idx val="3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C09-497D-9DA0-770C2255B8E1}"/>
                </c:ext>
              </c:extLst>
            </c:dLbl>
            <c:dLbl>
              <c:idx val="3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0C09-497D-9DA0-770C2255B8E1}"/>
                </c:ext>
              </c:extLst>
            </c:dLbl>
            <c:dLbl>
              <c:idx val="35"/>
              <c:tx>
                <c:rich>
                  <a:bodyPr/>
                  <a:lstStyle/>
                  <a:p>
                    <a:fld id="{2837A445-8437-4060-8EE9-8BC6A38998F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4-0C09-497D-9DA0-770C2255B8E1}"/>
                </c:ext>
              </c:extLst>
            </c:dLbl>
            <c:dLbl>
              <c:idx val="3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0C09-497D-9DA0-770C2255B8E1}"/>
                </c:ext>
              </c:extLst>
            </c:dLbl>
            <c:dLbl>
              <c:idx val="3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0C09-497D-9DA0-770C2255B8E1}"/>
                </c:ext>
              </c:extLst>
            </c:dLbl>
            <c:dLbl>
              <c:idx val="3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5-0C09-497D-9DA0-770C2255B8E1}"/>
                </c:ext>
              </c:extLst>
            </c:dLbl>
            <c:dLbl>
              <c:idx val="3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0C09-497D-9DA0-770C2255B8E1}"/>
                </c:ext>
              </c:extLst>
            </c:dLbl>
            <c:dLbl>
              <c:idx val="4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0C09-497D-9DA0-770C2255B8E1}"/>
                </c:ext>
              </c:extLst>
            </c:dLbl>
            <c:dLbl>
              <c:idx val="4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6-0C09-497D-9DA0-770C2255B8E1}"/>
                </c:ext>
              </c:extLst>
            </c:dLbl>
            <c:dLbl>
              <c:idx val="42"/>
              <c:tx>
                <c:rich>
                  <a:bodyPr/>
                  <a:lstStyle/>
                  <a:p>
                    <a:fld id="{850A165F-C9EA-4D0F-813D-671B4BEED6B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7-0C09-497D-9DA0-770C2255B8E1}"/>
                </c:ext>
              </c:extLst>
            </c:dLbl>
            <c:dLbl>
              <c:idx val="43"/>
              <c:tx>
                <c:rich>
                  <a:bodyPr/>
                  <a:lstStyle/>
                  <a:p>
                    <a:fld id="{EAF0669F-969D-489A-BF9E-AD85F00F291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8-0C09-497D-9DA0-770C2255B8E1}"/>
                </c:ext>
              </c:extLst>
            </c:dLbl>
            <c:dLbl>
              <c:idx val="4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9-0C09-497D-9DA0-770C2255B8E1}"/>
                </c:ext>
              </c:extLst>
            </c:dLbl>
            <c:dLbl>
              <c:idx val="45"/>
              <c:tx>
                <c:rich>
                  <a:bodyPr/>
                  <a:lstStyle/>
                  <a:p>
                    <a:fld id="{0AB9B666-F139-4F40-98E6-39FAE183516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A-0C09-497D-9DA0-770C2255B8E1}"/>
                </c:ext>
              </c:extLst>
            </c:dLbl>
            <c:dLbl>
              <c:idx val="46"/>
              <c:tx>
                <c:rich>
                  <a:bodyPr/>
                  <a:lstStyle/>
                  <a:p>
                    <a:fld id="{EABD13F9-17F6-4C06-82E3-51D8F351ED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B-0C09-497D-9DA0-770C2255B8E1}"/>
                </c:ext>
              </c:extLst>
            </c:dLbl>
            <c:dLbl>
              <c:idx val="4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C-0C09-497D-9DA0-770C2255B8E1}"/>
                </c:ext>
              </c:extLst>
            </c:dLbl>
            <c:dLbl>
              <c:idx val="4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0C09-497D-9DA0-770C2255B8E1}"/>
                </c:ext>
              </c:extLst>
            </c:dLbl>
            <c:dLbl>
              <c:idx val="49"/>
              <c:tx>
                <c:rich>
                  <a:bodyPr/>
                  <a:lstStyle/>
                  <a:p>
                    <a:fld id="{AF40FCC8-7F1A-463A-B287-62CE4C9D1F3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D-0C09-497D-9DA0-770C2255B8E1}"/>
                </c:ext>
              </c:extLst>
            </c:dLbl>
            <c:dLbl>
              <c:idx val="5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E-0C09-497D-9DA0-770C2255B8E1}"/>
                </c:ext>
              </c:extLst>
            </c:dLbl>
            <c:dLbl>
              <c:idx val="5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0C09-497D-9DA0-770C2255B8E1}"/>
                </c:ext>
              </c:extLst>
            </c:dLbl>
            <c:dLbl>
              <c:idx val="5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0C09-497D-9DA0-770C2255B8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Лист1!$A$2:$A$54</c:f>
              <c:strCache>
                <c:ptCount val="53"/>
                <c:pt idx="0">
                  <c:v>Магнит'25</c:v>
                </c:pt>
                <c:pt idx="1">
                  <c:v>Магнит'26</c:v>
                </c:pt>
                <c:pt idx="3">
                  <c:v>Самокат'25</c:v>
                </c:pt>
                <c:pt idx="4">
                  <c:v>Самокат'26</c:v>
                </c:pt>
                <c:pt idx="6">
                  <c:v>Пятерочка'25</c:v>
                </c:pt>
                <c:pt idx="7">
                  <c:v>Пятерочка'26</c:v>
                </c:pt>
                <c:pt idx="9">
                  <c:v>Купер'25</c:v>
                </c:pt>
                <c:pt idx="10">
                  <c:v>Купер'26</c:v>
                </c:pt>
                <c:pt idx="12">
                  <c:v>Яндекс.Лавка'25</c:v>
                </c:pt>
                <c:pt idx="13">
                  <c:v>Яндекс.Лавка'26</c:v>
                </c:pt>
                <c:pt idx="15">
                  <c:v>Лента'25</c:v>
                </c:pt>
                <c:pt idx="16">
                  <c:v>Лента'26</c:v>
                </c:pt>
                <c:pt idx="18">
                  <c:v>Перекресток'25</c:v>
                </c:pt>
                <c:pt idx="19">
                  <c:v>Перекресток'26</c:v>
                </c:pt>
                <c:pt idx="21">
                  <c:v>Ozon Fresh'25</c:v>
                </c:pt>
                <c:pt idx="22">
                  <c:v>Ozon Fresh'26</c:v>
                </c:pt>
                <c:pt idx="24">
                  <c:v>Чижик'25</c:v>
                </c:pt>
                <c:pt idx="25">
                  <c:v>Чижик'26</c:v>
                </c:pt>
                <c:pt idx="27">
                  <c:v>Ашан'25</c:v>
                </c:pt>
                <c:pt idx="28">
                  <c:v>Ашан'26</c:v>
                </c:pt>
                <c:pt idx="30">
                  <c:v>Дикси'25</c:v>
                </c:pt>
                <c:pt idx="31">
                  <c:v>Дикси'26</c:v>
                </c:pt>
                <c:pt idx="33">
                  <c:v>О'КЕЙ'25</c:v>
                </c:pt>
                <c:pt idx="34">
                  <c:v>О'КЕЙ'26</c:v>
                </c:pt>
                <c:pt idx="36">
                  <c:v>Spar'25</c:v>
                </c:pt>
                <c:pt idx="37">
                  <c:v>Spar'26</c:v>
                </c:pt>
                <c:pt idx="39">
                  <c:v>Metro'25</c:v>
                </c:pt>
                <c:pt idx="40">
                  <c:v>Metro'26</c:v>
                </c:pt>
                <c:pt idx="42">
                  <c:v>Вкусвилл'25</c:v>
                </c:pt>
                <c:pt idx="43">
                  <c:v>Вкусвилл'26</c:v>
                </c:pt>
                <c:pt idx="45">
                  <c:v>Globus'25</c:v>
                </c:pt>
                <c:pt idx="46">
                  <c:v>Globus'26</c:v>
                </c:pt>
                <c:pt idx="48">
                  <c:v>Монетка'25</c:v>
                </c:pt>
                <c:pt idx="49">
                  <c:v>Монетка'26</c:v>
                </c:pt>
                <c:pt idx="51">
                  <c:v>Азбука Вкуса '25</c:v>
                </c:pt>
                <c:pt idx="52">
                  <c:v>Азбука Вкуса '26</c:v>
                </c:pt>
              </c:strCache>
            </c:strRef>
          </c:cat>
          <c:val>
            <c:numRef>
              <c:f>Лист1!$C$2:$C$54</c:f>
              <c:numCache>
                <c:formatCode>_-* #\ ##0_-;\-* #\ ##0_-;_-* "-"??_-;_-@_-</c:formatCode>
                <c:ptCount val="53"/>
                <c:pt idx="0">
                  <c:v>5871987.8999999994</c:v>
                </c:pt>
                <c:pt idx="1">
                  <c:v>18884238.239572927</c:v>
                </c:pt>
                <c:pt idx="3">
                  <c:v>0</c:v>
                </c:pt>
                <c:pt idx="4">
                  <c:v>0</c:v>
                </c:pt>
                <c:pt idx="6">
                  <c:v>487852524.94999981</c:v>
                </c:pt>
                <c:pt idx="7">
                  <c:v>195472788.72906506</c:v>
                </c:pt>
                <c:pt idx="9">
                  <c:v>0</c:v>
                </c:pt>
                <c:pt idx="10">
                  <c:v>0</c:v>
                </c:pt>
                <c:pt idx="12">
                  <c:v>0</c:v>
                </c:pt>
                <c:pt idx="13">
                  <c:v>0</c:v>
                </c:pt>
                <c:pt idx="15">
                  <c:v>15509471.65</c:v>
                </c:pt>
                <c:pt idx="16">
                  <c:v>64183672.679476611</c:v>
                </c:pt>
                <c:pt idx="18">
                  <c:v>159967037.00000009</c:v>
                </c:pt>
                <c:pt idx="19">
                  <c:v>125571422.17609991</c:v>
                </c:pt>
                <c:pt idx="21">
                  <c:v>0</c:v>
                </c:pt>
                <c:pt idx="22">
                  <c:v>0</c:v>
                </c:pt>
                <c:pt idx="24">
                  <c:v>0</c:v>
                </c:pt>
                <c:pt idx="25">
                  <c:v>361097.43699224485</c:v>
                </c:pt>
                <c:pt idx="27">
                  <c:v>983563</c:v>
                </c:pt>
                <c:pt idx="28">
                  <c:v>8477904</c:v>
                </c:pt>
                <c:pt idx="30">
                  <c:v>2644888.211278345</c:v>
                </c:pt>
                <c:pt idx="31">
                  <c:v>86232510.132845044</c:v>
                </c:pt>
                <c:pt idx="33">
                  <c:v>0</c:v>
                </c:pt>
                <c:pt idx="34">
                  <c:v>0</c:v>
                </c:pt>
                <c:pt idx="36">
                  <c:v>0</c:v>
                </c:pt>
                <c:pt idx="37">
                  <c:v>163933</c:v>
                </c:pt>
                <c:pt idx="39">
                  <c:v>412500</c:v>
                </c:pt>
                <c:pt idx="40">
                  <c:v>1394819</c:v>
                </c:pt>
                <c:pt idx="42">
                  <c:v>0</c:v>
                </c:pt>
                <c:pt idx="43">
                  <c:v>53875118.380464576</c:v>
                </c:pt>
                <c:pt idx="45">
                  <c:v>1709532</c:v>
                </c:pt>
                <c:pt idx="46">
                  <c:v>726563.55</c:v>
                </c:pt>
                <c:pt idx="48">
                  <c:v>116113.6132379901</c:v>
                </c:pt>
                <c:pt idx="49">
                  <c:v>5372125.5253619934</c:v>
                </c:pt>
                <c:pt idx="51">
                  <c:v>0</c:v>
                </c:pt>
                <c:pt idx="52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Лист1!$C$58:$C$110</c15:f>
                <c15:dlblRangeCache>
                  <c:ptCount val="53"/>
                  <c:pt idx="0">
                    <c:v>1%</c:v>
                  </c:pt>
                  <c:pt idx="1">
                    <c:v>1%</c:v>
                  </c:pt>
                  <c:pt idx="3">
                    <c:v>0%</c:v>
                  </c:pt>
                  <c:pt idx="4">
                    <c:v>0%</c:v>
                  </c:pt>
                  <c:pt idx="6">
                    <c:v>55%</c:v>
                  </c:pt>
                  <c:pt idx="7">
                    <c:v>16%</c:v>
                  </c:pt>
                  <c:pt idx="9">
                    <c:v>0%</c:v>
                  </c:pt>
                  <c:pt idx="10">
                    <c:v>0%</c:v>
                  </c:pt>
                  <c:pt idx="12">
                    <c:v>0%</c:v>
                  </c:pt>
                  <c:pt idx="13">
                    <c:v>0%</c:v>
                  </c:pt>
                  <c:pt idx="15">
                    <c:v>5%</c:v>
                  </c:pt>
                  <c:pt idx="16">
                    <c:v>29%</c:v>
                  </c:pt>
                  <c:pt idx="18">
                    <c:v>50%</c:v>
                  </c:pt>
                  <c:pt idx="19">
                    <c:v>27%</c:v>
                  </c:pt>
                  <c:pt idx="21">
                    <c:v>0%</c:v>
                  </c:pt>
                  <c:pt idx="22">
                    <c:v>0%</c:v>
                  </c:pt>
                  <c:pt idx="24">
                    <c:v>0%</c:v>
                  </c:pt>
                  <c:pt idx="25">
                    <c:v>0%</c:v>
                  </c:pt>
                  <c:pt idx="27">
                    <c:v>0%</c:v>
                  </c:pt>
                  <c:pt idx="28">
                    <c:v>4%</c:v>
                  </c:pt>
                  <c:pt idx="30">
                    <c:v>3%</c:v>
                  </c:pt>
                  <c:pt idx="31">
                    <c:v>49%</c:v>
                  </c:pt>
                  <c:pt idx="33">
                    <c:v>0%</c:v>
                  </c:pt>
                  <c:pt idx="34">
                    <c:v>0%</c:v>
                  </c:pt>
                  <c:pt idx="36">
                    <c:v>0%</c:v>
                  </c:pt>
                  <c:pt idx="37">
                    <c:v>0%</c:v>
                  </c:pt>
                  <c:pt idx="39">
                    <c:v>0%</c:v>
                  </c:pt>
                  <c:pt idx="40">
                    <c:v>1%</c:v>
                  </c:pt>
                  <c:pt idx="42">
                    <c:v>0%</c:v>
                  </c:pt>
                  <c:pt idx="43">
                    <c:v>24%</c:v>
                  </c:pt>
                  <c:pt idx="45">
                    <c:v>4%</c:v>
                  </c:pt>
                  <c:pt idx="46">
                    <c:v>1%</c:v>
                  </c:pt>
                  <c:pt idx="48">
                    <c:v>1%</c:v>
                  </c:pt>
                  <c:pt idx="49">
                    <c:v>16%</c:v>
                  </c:pt>
                  <c:pt idx="51">
                    <c:v>0%</c:v>
                  </c:pt>
                  <c:pt idx="52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E9F2-49E2-BD7C-4A1CB046FD5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Доставка</c:v>
                </c:pt>
              </c:strCache>
            </c:strRef>
          </c:tx>
          <c:spPr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4C05A47-43BF-49FD-AA8E-B32CFA34595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F-0C09-497D-9DA0-770C2255B8E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79D75A7-377F-4B3F-9E4C-1D1E16F42DC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0-0C09-497D-9DA0-770C2255B8E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C268C858-70E6-4E05-9522-6B72EE2A5B8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1-0C09-497D-9DA0-770C2255B8E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262C982-5457-457D-A744-361A4B790F9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2-0C09-497D-9DA0-770C2255B8E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D55921E2-7B27-4C75-89C4-AE9096E7333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3-0C09-497D-9DA0-770C2255B8E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E83C0BE-CC14-4EF5-B807-417F8B19460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4-0C09-497D-9DA0-770C2255B8E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0BFFFB89-A6E1-4F2E-8E82-C445387C078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5-0C09-497D-9DA0-770C2255B8E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DF8026F-15A0-4521-BF0E-97EB68A2B23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6-0C09-497D-9DA0-770C2255B8E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01AE3BF-CBF5-43DF-BF3A-2F8E41351F7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7-0C09-497D-9DA0-770C2255B8E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78AE3E0E-45E6-4EB1-A530-7C17FECA6B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8-0C09-497D-9DA0-770C2255B8E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C8E54FF2-28FD-465D-B1B9-DD8DC3FC955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9-0C09-497D-9DA0-770C2255B8E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6E50FA8D-6116-4176-B306-39F891AFA18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A-0C09-497D-9DA0-770C2255B8E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84379286-D55B-4552-9438-20616F6CF80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B-0C09-497D-9DA0-770C2255B8E1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6D89D138-F553-48C9-89E9-C035BBCD6F6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C-0C09-497D-9DA0-770C2255B8E1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72B5D1F4-B020-4CF1-A861-3883B676AF8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7D-0C09-497D-9DA0-770C2255B8E1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B1C8EA49-876C-4534-A3B6-6E262A04320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E-0C09-497D-9DA0-770C2255B8E1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E6B8178B-60D1-48DD-A475-98E761D801D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F-0C09-497D-9DA0-770C2255B8E1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42623CEF-9238-4088-8B2A-B8C7D20F580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0-0C09-497D-9DA0-770C2255B8E1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1AFFE1F6-9B71-462A-B7A8-2E239193C00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1-0C09-497D-9DA0-770C2255B8E1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61A2238E-C6B8-42D9-AD14-C6A5DA0DD0D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2-0C09-497D-9DA0-770C2255B8E1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fld id="{2C5A1F4D-196C-4E96-9C9B-B24A935F34B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3-0C09-497D-9DA0-770C2255B8E1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fld id="{33370789-0986-431E-8D49-301B6366FA7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4-0C09-497D-9DA0-770C2255B8E1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fld id="{0989A54A-29C0-487C-9295-1CDCC60239D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5-0C09-497D-9DA0-770C2255B8E1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fld id="{80D75266-FE6C-4C17-A022-FFD5A47CE51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6-0C09-497D-9DA0-770C2255B8E1}"/>
                </c:ext>
              </c:extLst>
            </c:dLbl>
            <c:dLbl>
              <c:idx val="24"/>
              <c:tx>
                <c:rich>
                  <a:bodyPr/>
                  <a:lstStyle/>
                  <a:p>
                    <a:fld id="{763D0995-6BAF-4EBF-A064-1DD36A6172D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7-0C09-497D-9DA0-770C2255B8E1}"/>
                </c:ext>
              </c:extLst>
            </c:dLbl>
            <c:dLbl>
              <c:idx val="25"/>
              <c:tx>
                <c:rich>
                  <a:bodyPr/>
                  <a:lstStyle/>
                  <a:p>
                    <a:fld id="{1642511A-6DD0-4DB1-8DF5-B6CBDF46FFB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8-0C09-497D-9DA0-770C2255B8E1}"/>
                </c:ext>
              </c:extLst>
            </c:dLbl>
            <c:dLbl>
              <c:idx val="26"/>
              <c:tx>
                <c:rich>
                  <a:bodyPr/>
                  <a:lstStyle/>
                  <a:p>
                    <a:fld id="{C606291A-A69D-4F8E-AAD8-9B95EF03D7A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9-0C09-497D-9DA0-770C2255B8E1}"/>
                </c:ext>
              </c:extLst>
            </c:dLbl>
            <c:dLbl>
              <c:idx val="27"/>
              <c:tx>
                <c:rich>
                  <a:bodyPr/>
                  <a:lstStyle/>
                  <a:p>
                    <a:fld id="{8EE3394B-8259-4F4D-8B2D-F8307E5EB78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A-0C09-497D-9DA0-770C2255B8E1}"/>
                </c:ext>
              </c:extLst>
            </c:dLbl>
            <c:dLbl>
              <c:idx val="28"/>
              <c:tx>
                <c:rich>
                  <a:bodyPr/>
                  <a:lstStyle/>
                  <a:p>
                    <a:fld id="{953C68BD-1D2C-48ED-96B6-07C845EDD0B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B-0C09-497D-9DA0-770C2255B8E1}"/>
                </c:ext>
              </c:extLst>
            </c:dLbl>
            <c:dLbl>
              <c:idx val="29"/>
              <c:tx>
                <c:rich>
                  <a:bodyPr/>
                  <a:lstStyle/>
                  <a:p>
                    <a:fld id="{DF1B201D-FC82-4CB3-A2C9-936FB5AE94B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C-0C09-497D-9DA0-770C2255B8E1}"/>
                </c:ext>
              </c:extLst>
            </c:dLbl>
            <c:dLbl>
              <c:idx val="30"/>
              <c:tx>
                <c:rich>
                  <a:bodyPr/>
                  <a:lstStyle/>
                  <a:p>
                    <a:fld id="{4E40040A-D142-4960-9012-07233FC86A4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D-0C09-497D-9DA0-770C2255B8E1}"/>
                </c:ext>
              </c:extLst>
            </c:dLbl>
            <c:dLbl>
              <c:idx val="31"/>
              <c:tx>
                <c:rich>
                  <a:bodyPr/>
                  <a:lstStyle/>
                  <a:p>
                    <a:fld id="{D00BA3BF-CAC6-4C05-9FF3-C60C917A62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E-0C09-497D-9DA0-770C2255B8E1}"/>
                </c:ext>
              </c:extLst>
            </c:dLbl>
            <c:dLbl>
              <c:idx val="32"/>
              <c:tx>
                <c:rich>
                  <a:bodyPr/>
                  <a:lstStyle/>
                  <a:p>
                    <a:fld id="{39A83B64-064E-4F4E-AC9B-F3C07304A5B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8F-0C09-497D-9DA0-770C2255B8E1}"/>
                </c:ext>
              </c:extLst>
            </c:dLbl>
            <c:dLbl>
              <c:idx val="33"/>
              <c:tx>
                <c:rich>
                  <a:bodyPr/>
                  <a:lstStyle/>
                  <a:p>
                    <a:fld id="{B3BD496D-D9F6-4224-91C3-D0FE319ED66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0-0C09-497D-9DA0-770C2255B8E1}"/>
                </c:ext>
              </c:extLst>
            </c:dLbl>
            <c:dLbl>
              <c:idx val="3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0C09-497D-9DA0-770C2255B8E1}"/>
                </c:ext>
              </c:extLst>
            </c:dLbl>
            <c:dLbl>
              <c:idx val="35"/>
              <c:tx>
                <c:rich>
                  <a:bodyPr/>
                  <a:lstStyle/>
                  <a:p>
                    <a:fld id="{9C26B4F7-6CCF-4F4F-AE89-C7413A812FA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91-0C09-497D-9DA0-770C2255B8E1}"/>
                </c:ext>
              </c:extLst>
            </c:dLbl>
            <c:dLbl>
              <c:idx val="3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0C09-497D-9DA0-770C2255B8E1}"/>
                </c:ext>
              </c:extLst>
            </c:dLbl>
            <c:dLbl>
              <c:idx val="3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0C09-497D-9DA0-770C2255B8E1}"/>
                </c:ext>
              </c:extLst>
            </c:dLbl>
            <c:dLbl>
              <c:idx val="38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2-0C09-497D-9DA0-770C2255B8E1}"/>
                </c:ext>
              </c:extLst>
            </c:dLbl>
            <c:dLbl>
              <c:idx val="39"/>
              <c:tx>
                <c:rich>
                  <a:bodyPr/>
                  <a:lstStyle/>
                  <a:p>
                    <a:fld id="{8A004EAC-C79C-43A8-96F7-5B191726840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3-0C09-497D-9DA0-770C2255B8E1}"/>
                </c:ext>
              </c:extLst>
            </c:dLbl>
            <c:dLbl>
              <c:idx val="40"/>
              <c:tx>
                <c:rich>
                  <a:bodyPr/>
                  <a:lstStyle/>
                  <a:p>
                    <a:fld id="{8EDF7C7F-FBAA-4BDB-BE98-7ED45A9750B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4-0C09-497D-9DA0-770C2255B8E1}"/>
                </c:ext>
              </c:extLst>
            </c:dLbl>
            <c:dLbl>
              <c:idx val="41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5-0C09-497D-9DA0-770C2255B8E1}"/>
                </c:ext>
              </c:extLst>
            </c:dLbl>
            <c:dLbl>
              <c:idx val="42"/>
              <c:tx>
                <c:rich>
                  <a:bodyPr/>
                  <a:lstStyle/>
                  <a:p>
                    <a:fld id="{3A9E22D4-5119-437F-B8F3-B77AEA1E7D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6-0C09-497D-9DA0-770C2255B8E1}"/>
                </c:ext>
              </c:extLst>
            </c:dLbl>
            <c:dLbl>
              <c:idx val="43"/>
              <c:tx>
                <c:rich>
                  <a:bodyPr/>
                  <a:lstStyle/>
                  <a:p>
                    <a:fld id="{51A5654D-D5EE-4E3C-B904-E6102AA725D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7-0C09-497D-9DA0-770C2255B8E1}"/>
                </c:ext>
              </c:extLst>
            </c:dLbl>
            <c:dLbl>
              <c:idx val="44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8-0C09-497D-9DA0-770C2255B8E1}"/>
                </c:ext>
              </c:extLst>
            </c:dLbl>
            <c:dLbl>
              <c:idx val="45"/>
              <c:tx>
                <c:rich>
                  <a:bodyPr/>
                  <a:lstStyle/>
                  <a:p>
                    <a:fld id="{546BC2B2-362B-41DD-999F-846425318F5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9-0C09-497D-9DA0-770C2255B8E1}"/>
                </c:ext>
              </c:extLst>
            </c:dLbl>
            <c:dLbl>
              <c:idx val="46"/>
              <c:tx>
                <c:rich>
                  <a:bodyPr/>
                  <a:lstStyle/>
                  <a:p>
                    <a:fld id="{63EF986B-9C02-4BE2-9181-EB8127A3A2D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A-0C09-497D-9DA0-770C2255B8E1}"/>
                </c:ext>
              </c:extLst>
            </c:dLbl>
            <c:dLbl>
              <c:idx val="47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B-0C09-497D-9DA0-770C2255B8E1}"/>
                </c:ext>
              </c:extLst>
            </c:dLbl>
            <c:dLbl>
              <c:idx val="4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0C09-497D-9DA0-770C2255B8E1}"/>
                </c:ext>
              </c:extLst>
            </c:dLbl>
            <c:dLbl>
              <c:idx val="49"/>
              <c:tx>
                <c:rich>
                  <a:bodyPr/>
                  <a:lstStyle/>
                  <a:p>
                    <a:fld id="{0D260B36-F852-4C37-BACE-AF9BA1156F5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C-0C09-497D-9DA0-770C2255B8E1}"/>
                </c:ext>
              </c:extLst>
            </c:dLbl>
            <c:dLbl>
              <c:idx val="50"/>
              <c:tx>
                <c:rich>
                  <a:bodyPr/>
                  <a:lstStyle/>
                  <a:p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D-0C09-497D-9DA0-770C2255B8E1}"/>
                </c:ext>
              </c:extLst>
            </c:dLbl>
            <c:dLbl>
              <c:idx val="5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0C09-497D-9DA0-770C2255B8E1}"/>
                </c:ext>
              </c:extLst>
            </c:dLbl>
            <c:dLbl>
              <c:idx val="52"/>
              <c:tx>
                <c:rich>
                  <a:bodyPr/>
                  <a:lstStyle/>
                  <a:p>
                    <a:fld id="{56FA2686-0354-4B70-A6E0-358FC1A8CEA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E-0C09-497D-9DA0-770C2255B8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Лист1!$A$2:$A$54</c:f>
              <c:strCache>
                <c:ptCount val="53"/>
                <c:pt idx="0">
                  <c:v>Магнит'25</c:v>
                </c:pt>
                <c:pt idx="1">
                  <c:v>Магнит'26</c:v>
                </c:pt>
                <c:pt idx="3">
                  <c:v>Самокат'25</c:v>
                </c:pt>
                <c:pt idx="4">
                  <c:v>Самокат'26</c:v>
                </c:pt>
                <c:pt idx="6">
                  <c:v>Пятерочка'25</c:v>
                </c:pt>
                <c:pt idx="7">
                  <c:v>Пятерочка'26</c:v>
                </c:pt>
                <c:pt idx="9">
                  <c:v>Купер'25</c:v>
                </c:pt>
                <c:pt idx="10">
                  <c:v>Купер'26</c:v>
                </c:pt>
                <c:pt idx="12">
                  <c:v>Яндекс.Лавка'25</c:v>
                </c:pt>
                <c:pt idx="13">
                  <c:v>Яндекс.Лавка'26</c:v>
                </c:pt>
                <c:pt idx="15">
                  <c:v>Лента'25</c:v>
                </c:pt>
                <c:pt idx="16">
                  <c:v>Лента'26</c:v>
                </c:pt>
                <c:pt idx="18">
                  <c:v>Перекресток'25</c:v>
                </c:pt>
                <c:pt idx="19">
                  <c:v>Перекресток'26</c:v>
                </c:pt>
                <c:pt idx="21">
                  <c:v>Ozon Fresh'25</c:v>
                </c:pt>
                <c:pt idx="22">
                  <c:v>Ozon Fresh'26</c:v>
                </c:pt>
                <c:pt idx="24">
                  <c:v>Чижик'25</c:v>
                </c:pt>
                <c:pt idx="25">
                  <c:v>Чижик'26</c:v>
                </c:pt>
                <c:pt idx="27">
                  <c:v>Ашан'25</c:v>
                </c:pt>
                <c:pt idx="28">
                  <c:v>Ашан'26</c:v>
                </c:pt>
                <c:pt idx="30">
                  <c:v>Дикси'25</c:v>
                </c:pt>
                <c:pt idx="31">
                  <c:v>Дикси'26</c:v>
                </c:pt>
                <c:pt idx="33">
                  <c:v>О'КЕЙ'25</c:v>
                </c:pt>
                <c:pt idx="34">
                  <c:v>О'КЕЙ'26</c:v>
                </c:pt>
                <c:pt idx="36">
                  <c:v>Spar'25</c:v>
                </c:pt>
                <c:pt idx="37">
                  <c:v>Spar'26</c:v>
                </c:pt>
                <c:pt idx="39">
                  <c:v>Metro'25</c:v>
                </c:pt>
                <c:pt idx="40">
                  <c:v>Metro'26</c:v>
                </c:pt>
                <c:pt idx="42">
                  <c:v>Вкусвилл'25</c:v>
                </c:pt>
                <c:pt idx="43">
                  <c:v>Вкусвилл'26</c:v>
                </c:pt>
                <c:pt idx="45">
                  <c:v>Globus'25</c:v>
                </c:pt>
                <c:pt idx="46">
                  <c:v>Globus'26</c:v>
                </c:pt>
                <c:pt idx="48">
                  <c:v>Монетка'25</c:v>
                </c:pt>
                <c:pt idx="49">
                  <c:v>Монетка'26</c:v>
                </c:pt>
                <c:pt idx="51">
                  <c:v>Азбука Вкуса '25</c:v>
                </c:pt>
                <c:pt idx="52">
                  <c:v>Азбука Вкуса '26</c:v>
                </c:pt>
              </c:strCache>
            </c:strRef>
          </c:cat>
          <c:val>
            <c:numRef>
              <c:f>Лист1!$D$2:$D$54</c:f>
              <c:numCache>
                <c:formatCode>_-* #\ ##0_-;\-* #\ ##0_-;_-* "-"??_-;_-@_-</c:formatCode>
                <c:ptCount val="53"/>
                <c:pt idx="0">
                  <c:v>0</c:v>
                </c:pt>
                <c:pt idx="1">
                  <c:v>274201449.92332488</c:v>
                </c:pt>
                <c:pt idx="3">
                  <c:v>826747889.59395242</c:v>
                </c:pt>
                <c:pt idx="4">
                  <c:v>1428973407.9921982</c:v>
                </c:pt>
                <c:pt idx="6">
                  <c:v>248143321.4383322</c:v>
                </c:pt>
                <c:pt idx="7">
                  <c:v>282906515.26070487</c:v>
                </c:pt>
                <c:pt idx="9">
                  <c:v>508038703.21537673</c:v>
                </c:pt>
                <c:pt idx="10">
                  <c:v>510421721.6455906</c:v>
                </c:pt>
                <c:pt idx="12">
                  <c:v>524044874.82529819</c:v>
                </c:pt>
                <c:pt idx="13">
                  <c:v>489148700.21450043</c:v>
                </c:pt>
                <c:pt idx="15">
                  <c:v>106627882.34924464</c:v>
                </c:pt>
                <c:pt idx="16">
                  <c:v>28371419.202298671</c:v>
                </c:pt>
                <c:pt idx="18">
                  <c:v>116076306.550135</c:v>
                </c:pt>
                <c:pt idx="19">
                  <c:v>42907693.679203682</c:v>
                </c:pt>
                <c:pt idx="21">
                  <c:v>530756438.16567183</c:v>
                </c:pt>
                <c:pt idx="22">
                  <c:v>1191896158.894311</c:v>
                </c:pt>
                <c:pt idx="24">
                  <c:v>0</c:v>
                </c:pt>
                <c:pt idx="25">
                  <c:v>8538356.9975206256</c:v>
                </c:pt>
                <c:pt idx="27">
                  <c:v>68136376.066554889</c:v>
                </c:pt>
                <c:pt idx="28">
                  <c:v>45308316.23619134</c:v>
                </c:pt>
                <c:pt idx="30">
                  <c:v>21055775.16313687</c:v>
                </c:pt>
                <c:pt idx="31">
                  <c:v>2439111.0825996595</c:v>
                </c:pt>
                <c:pt idx="33">
                  <c:v>0</c:v>
                </c:pt>
                <c:pt idx="34">
                  <c:v>5684223.9499999993</c:v>
                </c:pt>
                <c:pt idx="36">
                  <c:v>0</c:v>
                </c:pt>
                <c:pt idx="37">
                  <c:v>105531.05</c:v>
                </c:pt>
                <c:pt idx="39">
                  <c:v>31420084.701847706</c:v>
                </c:pt>
                <c:pt idx="40">
                  <c:v>23124236.465137355</c:v>
                </c:pt>
                <c:pt idx="42">
                  <c:v>132791313.19613431</c:v>
                </c:pt>
                <c:pt idx="43">
                  <c:v>154134953.19459918</c:v>
                </c:pt>
                <c:pt idx="45">
                  <c:v>21549912.013456997</c:v>
                </c:pt>
                <c:pt idx="46">
                  <c:v>2278262</c:v>
                </c:pt>
                <c:pt idx="48">
                  <c:v>59370.860562301546</c:v>
                </c:pt>
                <c:pt idx="49">
                  <c:v>5315942.9785861988</c:v>
                </c:pt>
                <c:pt idx="51">
                  <c:v>0</c:v>
                </c:pt>
                <c:pt idx="52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Лист1!$D$58:$D$110</c15:f>
                <c15:dlblRangeCache>
                  <c:ptCount val="53"/>
                  <c:pt idx="0">
                    <c:v>0%</c:v>
                  </c:pt>
                  <c:pt idx="1">
                    <c:v>16%</c:v>
                  </c:pt>
                  <c:pt idx="3">
                    <c:v>100%</c:v>
                  </c:pt>
                  <c:pt idx="4">
                    <c:v>99%</c:v>
                  </c:pt>
                  <c:pt idx="6">
                    <c:v>28%</c:v>
                  </c:pt>
                  <c:pt idx="7">
                    <c:v>23%</c:v>
                  </c:pt>
                  <c:pt idx="9">
                    <c:v>100%</c:v>
                  </c:pt>
                  <c:pt idx="10">
                    <c:v>100%</c:v>
                  </c:pt>
                  <c:pt idx="12">
                    <c:v>100%</c:v>
                  </c:pt>
                  <c:pt idx="13">
                    <c:v>100%</c:v>
                  </c:pt>
                  <c:pt idx="15">
                    <c:v>32%</c:v>
                  </c:pt>
                  <c:pt idx="16">
                    <c:v>13%</c:v>
                  </c:pt>
                  <c:pt idx="18">
                    <c:v>36%</c:v>
                  </c:pt>
                  <c:pt idx="19">
                    <c:v>9%</c:v>
                  </c:pt>
                  <c:pt idx="21">
                    <c:v>100%</c:v>
                  </c:pt>
                  <c:pt idx="22">
                    <c:v>100%</c:v>
                  </c:pt>
                  <c:pt idx="24">
                    <c:v>0%</c:v>
                  </c:pt>
                  <c:pt idx="25">
                    <c:v>3%</c:v>
                  </c:pt>
                  <c:pt idx="27">
                    <c:v>27%</c:v>
                  </c:pt>
                  <c:pt idx="28">
                    <c:v>20%</c:v>
                  </c:pt>
                  <c:pt idx="30">
                    <c:v>20%</c:v>
                  </c:pt>
                  <c:pt idx="31">
                    <c:v>1%</c:v>
                  </c:pt>
                  <c:pt idx="33">
                    <c:v>0%</c:v>
                  </c:pt>
                  <c:pt idx="34">
                    <c:v>5%</c:v>
                  </c:pt>
                  <c:pt idx="36">
                    <c:v>0%</c:v>
                  </c:pt>
                  <c:pt idx="37">
                    <c:v>0%</c:v>
                  </c:pt>
                  <c:pt idx="39">
                    <c:v>21%</c:v>
                  </c:pt>
                  <c:pt idx="40">
                    <c:v>10%</c:v>
                  </c:pt>
                  <c:pt idx="42">
                    <c:v>64%</c:v>
                  </c:pt>
                  <c:pt idx="43">
                    <c:v>69%</c:v>
                  </c:pt>
                  <c:pt idx="45">
                    <c:v>51%</c:v>
                  </c:pt>
                  <c:pt idx="46">
                    <c:v>3%</c:v>
                  </c:pt>
                  <c:pt idx="48">
                    <c:v>0%</c:v>
                  </c:pt>
                  <c:pt idx="49">
                    <c:v>15%</c:v>
                  </c:pt>
                  <c:pt idx="51">
                    <c:v>0%</c:v>
                  </c:pt>
                  <c:pt idx="52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E9F2-49E2-BD7C-4A1CB046FD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4"/>
        <c:overlap val="100"/>
        <c:axId val="689741952"/>
        <c:axId val="689744832"/>
      </c:barChart>
      <c:catAx>
        <c:axId val="689741952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extTo"/>
        <c:spPr bwMode="auto"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2700000" spcFirstLastPara="1" vertOverflow="ellipsis" wrap="square" anchor="ctr" anchorCtr="1"/>
          <a:lstStyle/>
          <a:p>
            <a:pPr>
              <a:defRPr sz="8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689744832"/>
        <c:crosses val="autoZero"/>
        <c:auto val="1"/>
        <c:lblAlgn val="ctr"/>
        <c:lblOffset val="100"/>
        <c:tickMarkSkip val="2"/>
        <c:noMultiLvlLbl val="0"/>
      </c:catAx>
      <c:valAx>
        <c:axId val="689744832"/>
        <c:scaling>
          <c:orientation val="minMax"/>
        </c:scaling>
        <c:delete val="0"/>
        <c:axPos val="l"/>
        <c:majorGridlines>
          <c:spPr bwMode="auto"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689741952"/>
        <c:crosses val="autoZero"/>
        <c:crossBetween val="between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4689825" y="2019861"/>
      <a:ext cx="7316793" cy="2450538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 algn="ctr" rtl="0">
              <a:defRPr lang="ru-RU" sz="1200" b="1" i="0" u="none" strike="noStrike" kern="120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Инвестиции (млн. </a:t>
            </a:r>
            <a:r>
              <a:rPr lang="ru-RU" sz="1200" b="1" i="0" u="none" strike="noStrike" kern="120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руб</a:t>
            </a:r>
            <a:r>
              <a:rPr lang="ru-RU" sz="1200" b="1" i="0" u="none" strike="noStrike" kern="120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) и SOS (%) по брендам</a:t>
            </a:r>
          </a:p>
        </c:rich>
      </c:tx>
      <c:layout>
        <c:manualLayout>
          <c:xMode val="edge"/>
          <c:yMode val="edge"/>
          <c:x val="0.14754037362848807"/>
          <c:y val="0.11438227898601727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2.6879E-2"/>
          <c:y val="0.18551000000000001"/>
          <c:w val="0.68690215693270873"/>
          <c:h val="0.629530175372818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Sheet1!$B$2:$B$3</c:f>
              <c:numCache>
                <c:formatCode>_-* #\ ##0_-;\-* #\ ##0_-;_-* "-"??_-;_-@_-</c:formatCode>
                <c:ptCount val="2"/>
                <c:pt idx="0">
                  <c:v>724888646.75000036</c:v>
                </c:pt>
                <c:pt idx="1">
                  <c:v>874117810.45000124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2-D25F-495B-AC32-230884550D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DC1D0E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Sheet1!$C$2:$C$3</c:f>
              <c:numCache>
                <c:formatCode>_-* #\ ##0_-;\-* #\ ##0_-;_-* "-"??_-;_-@_-</c:formatCode>
                <c:ptCount val="2"/>
                <c:pt idx="0">
                  <c:v>415392236.19999981</c:v>
                </c:pt>
                <c:pt idx="1">
                  <c:v>613467804.75000286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5-D25F-495B-AC32-230884550D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Sheet1!$D$2:$D$3</c:f>
              <c:numCache>
                <c:formatCode>_-* #\ ##0_-;\-* #\ ##0_-;_-* "-"??_-;_-@_-</c:formatCode>
                <c:ptCount val="2"/>
                <c:pt idx="0">
                  <c:v>89994802.700000077</c:v>
                </c:pt>
                <c:pt idx="1">
                  <c:v>220606661.99999988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8-D25F-495B-AC32-230884550D4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ЧИЖИК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Sheet1!$E$2:$E$3</c:f>
              <c:numCache>
                <c:formatCode>_-* #\ ##0_-;\-* #\ ##0_-;_-* "-"??_-;_-@_-</c:formatCode>
                <c:ptCount val="2"/>
                <c:pt idx="0">
                  <c:v>61904065.299999878</c:v>
                </c:pt>
                <c:pt idx="1">
                  <c:v>106166195.84999971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B-D25F-495B-AC32-230884550D4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Sheet1!$F$2:$F$3</c:f>
              <c:numCache>
                <c:formatCode>_-* #\ ##0_-;\-* #\ ##0_-;_-* "-"??_-;_-@_-</c:formatCode>
                <c:ptCount val="2"/>
                <c:pt idx="0">
                  <c:v>65179930.750000067</c:v>
                </c:pt>
                <c:pt idx="1">
                  <c:v>85928910.649999917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E-D25F-495B-AC32-230884550D4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АШАН</c:v>
                </c:pt>
              </c:strCache>
            </c:strRef>
          </c:tx>
          <c:spPr>
            <a:prstGeom prst="rect">
              <a:avLst/>
            </a:prstGeom>
            <a:solidFill>
              <a:srgbClr val="FF5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Sheet1!$G$2:$G$3</c:f>
              <c:numCache>
                <c:formatCode>_-* #\ ##0_-;\-* #\ ##0_-;_-* "-"??_-;_-@_-</c:formatCode>
                <c:ptCount val="2"/>
                <c:pt idx="0">
                  <c:v>130043552.64999998</c:v>
                </c:pt>
                <c:pt idx="1">
                  <c:v>51886266.84999992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1-D25F-495B-AC32-230884550D4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SPAR</c:v>
                </c:pt>
              </c:strCache>
            </c:strRef>
          </c:tx>
          <c:spPr>
            <a:prstGeom prst="rect">
              <a:avLst/>
            </a:prstGeom>
            <a:solidFill>
              <a:srgbClr val="FF3737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Sheet1!$H$2:$H$3</c:f>
              <c:numCache>
                <c:formatCode>_-* #\ ##0_-;\-* #\ ##0_-;_-* "-"??_-;_-@_-</c:formatCode>
                <c:ptCount val="2"/>
                <c:pt idx="0">
                  <c:v>29375301.450000007</c:v>
                </c:pt>
                <c:pt idx="1">
                  <c:v>33822224.149999999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4-D25F-495B-AC32-230884550D44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METRO</c:v>
                </c:pt>
              </c:strCache>
            </c:strRef>
          </c:tx>
          <c:spPr>
            <a:prstGeom prst="rect">
              <a:avLst/>
            </a:prstGeom>
            <a:solidFill>
              <a:srgbClr val="2F5597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Sheet1!$I$2:$I$3</c:f>
              <c:numCache>
                <c:formatCode>_-* #\ ##0_-;\-* #\ ##0_-;_-* "-"??_-;_-@_-</c:formatCode>
                <c:ptCount val="2"/>
                <c:pt idx="0">
                  <c:v>30019210.100000042</c:v>
                </c:pt>
                <c:pt idx="1">
                  <c:v>28950501.800000042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D25F-495B-AC32-230884550D44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САМОКАТ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Sheet1!$J$2:$J$3</c:f>
              <c:numCache>
                <c:formatCode>_-* #\ ##0_-;\-* #\ ##0_-;_-* "-"??_-;_-@_-</c:formatCode>
                <c:ptCount val="2"/>
                <c:pt idx="1">
                  <c:v>16231932.299999995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D25F-495B-AC32-230884550D44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ЛЕНТА</c:v>
                </c:pt>
              </c:strCache>
            </c:strRef>
          </c:tx>
          <c:spPr>
            <a:prstGeom prst="rect">
              <a:avLst/>
            </a:prstGeom>
            <a:solidFill>
              <a:srgbClr val="4472C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Sheet1!$K$2:$K$3</c:f>
              <c:numCache>
                <c:formatCode>_-* #\ ##0_-;\-* #\ ##0_-;_-* "-"??_-;_-@_-</c:formatCode>
                <c:ptCount val="2"/>
                <c:pt idx="0">
                  <c:v>111744690.75</c:v>
                </c:pt>
                <c:pt idx="1">
                  <c:v>12455286.250000013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9-D25F-495B-AC32-230884550D44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other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Sheet1!$L$2:$L$3</c:f>
              <c:numCache>
                <c:formatCode>_-* #\ ##0_-;\-* #\ ##0_-;_-* "-"??_-;_-@_-</c:formatCode>
                <c:ptCount val="2"/>
                <c:pt idx="0">
                  <c:v>14108335.449999996</c:v>
                </c:pt>
                <c:pt idx="1">
                  <c:v>17246308.200000007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E08-4F42-92DE-0653271F2E6F}"/>
            </c:ext>
          </c:extLst>
        </c:ser>
        <c:ser>
          <c:idx val="11"/>
          <c:order val="11"/>
          <c:tx>
            <c:strRef>
              <c:f>Sheet1!$M$1</c:f>
              <c:strCache>
                <c:ptCount val="1"/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Sheet1!$M$2:$M$3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0-E6FE-42B0-BAF2-8E11E95BDE2A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2143338335"/>
        <c:axId val="2143344575"/>
      </c:barChart>
      <c:catAx>
        <c:axId val="2143338335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2143344575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3344575"/>
        <c:scaling>
          <c:orientation val="minMax"/>
          <c:max val="1000000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 w="12700" cap="flat" cmpd="sng" algn="ctr">
            <a:solidFill>
              <a:srgbClr val="7F7F7F"/>
            </a:solidFill>
            <a:prstDash val="solid"/>
            <a:miter lim="800000"/>
          </a:ln>
          <a:effectLst/>
        </c:spPr>
        <c:txPr>
          <a:bodyPr rot="-60000000" vert="horz"/>
          <a:lstStyle/>
          <a:p>
            <a:pPr>
              <a:defRPr>
                <a:solidFill>
                  <a:srgbClr val="7F7F7F"/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2143338335"/>
        <c:crosses val="autoZero"/>
        <c:crossBetween val="between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1"/>
        <c:delete val="1"/>
      </c:legendEntry>
      <c:layout>
        <c:manualLayout>
          <c:xMode val="edge"/>
          <c:yMode val="edge"/>
          <c:x val="0.80171714791804272"/>
          <c:y val="8.9369286306616558E-2"/>
          <c:w val="0.14544710482986681"/>
          <c:h val="0.85078866731468838"/>
        </c:manualLayout>
      </c:layout>
      <c:overlay val="0"/>
    </c:legend>
    <c:plotVisOnly val="1"/>
    <c:dispBlanksAs val="gap"/>
    <c:showDLblsOverMax val="0"/>
  </c:chart>
  <c:spPr>
    <a:xfrm>
      <a:off x="636608" y="972274"/>
      <a:ext cx="7211027" cy="299784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ru-RU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sz="1200"/>
            </a:pPr>
            <a:r>
              <a:rPr lang="ru-RU" sz="1200"/>
              <a:t>Инвестиции, млн руб</a:t>
            </a:r>
          </a:p>
        </c:rich>
      </c:tx>
      <c:layout>
        <c:manualLayout>
          <c:xMode val="edge"/>
          <c:yMode val="edge"/>
          <c:x val="0.21523200000000001"/>
          <c:y val="4.1161000000000003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9735000000000003E-2"/>
          <c:y val="0.175209"/>
          <c:w val="0.60496799999999995"/>
          <c:h val="0.574964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28BA-4C9D-B5ED-E1F22EC71BEA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28BA-4C9D-B5ED-E1F22EC71BEA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28BA-4C9D-B5ED-E1F22EC71BEA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28BA-4C9D-B5ED-E1F22EC71BEA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28BA-4C9D-B5ED-E1F22EC71BEA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28BA-4C9D-B5ED-E1F22EC71BEA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28BA-4C9D-B5ED-E1F22EC71BEA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28BA-4C9D-B5ED-E1F22EC71BEA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Sheet1!$B$2:$B$36</c:f>
              <c:numCache>
                <c:formatCode>_-* #\ ##0_-;\-* #\ ##0_-;_-* "-"??_-;_-@_-</c:formatCode>
                <c:ptCount val="23"/>
                <c:pt idx="0">
                  <c:v>227745022</c:v>
                </c:pt>
                <c:pt idx="1">
                  <c:v>497143625</c:v>
                </c:pt>
                <c:pt idx="2">
                  <c:v>608619736</c:v>
                </c:pt>
                <c:pt idx="3">
                  <c:v>509604977</c:v>
                </c:pt>
                <c:pt idx="4">
                  <c:v>316864884</c:v>
                </c:pt>
                <c:pt idx="5">
                  <c:v>365570973</c:v>
                </c:pt>
                <c:pt idx="6">
                  <c:v>315319369</c:v>
                </c:pt>
                <c:pt idx="7">
                  <c:v>372324048</c:v>
                </c:pt>
                <c:pt idx="8">
                  <c:v>817109160</c:v>
                </c:pt>
                <c:pt idx="9">
                  <c:v>870037547</c:v>
                </c:pt>
                <c:pt idx="10">
                  <c:v>794191379</c:v>
                </c:pt>
                <c:pt idx="11">
                  <c:v>553225824</c:v>
                </c:pt>
                <c:pt idx="12">
                  <c:v>383870269</c:v>
                </c:pt>
                <c:pt idx="13">
                  <c:v>490247542</c:v>
                </c:pt>
                <c:pt idx="14">
                  <c:v>666534644.97219658</c:v>
                </c:pt>
                <c:pt idx="15">
                  <c:v>561036913.63849032</c:v>
                </c:pt>
                <c:pt idx="16">
                  <c:v>427355864.69172853</c:v>
                </c:pt>
                <c:pt idx="17">
                  <c:v>330031636.86292166</c:v>
                </c:pt>
                <c:pt idx="18">
                  <c:v>334881991.72407275</c:v>
                </c:pt>
                <c:pt idx="19">
                  <c:v>366837566.10867727</c:v>
                </c:pt>
                <c:pt idx="20">
                  <c:v>855506293.65403521</c:v>
                </c:pt>
                <c:pt idx="21">
                  <c:v>973153948.48468208</c:v>
                </c:pt>
                <c:pt idx="22">
                  <c:v>913430089.20817149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17-28BA-4C9D-B5ED-E1F22EC71BE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8-28BA-4C9D-B5ED-E1F22EC71BEA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28BA-4C9D-B5ED-E1F22EC71BEA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2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3-28BA-4C9D-B5ED-E1F22EC71BEA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4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5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6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7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8-28BA-4C9D-B5ED-E1F22EC71BEA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9-28BA-4C9D-B5ED-E1F22EC71BEA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A-28BA-4C9D-B5ED-E1F22EC71BEA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B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C-28BA-4C9D-B5ED-E1F22EC71BEA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D-28BA-4C9D-B5ED-E1F22EC71BEA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E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Sheet1!$C$2:$C$36</c:f>
              <c:numCache>
                <c:formatCode>_-* #\ ##0_-;\-* #\ ##0_-;_-* "-"??_-;_-@_-</c:formatCode>
                <c:ptCount val="23"/>
                <c:pt idx="0">
                  <c:v>175770391.54999974</c:v>
                </c:pt>
                <c:pt idx="1">
                  <c:v>239621844.64999971</c:v>
                </c:pt>
                <c:pt idx="2">
                  <c:v>348210085.05000061</c:v>
                </c:pt>
                <c:pt idx="3">
                  <c:v>385989190.29999983</c:v>
                </c:pt>
                <c:pt idx="4">
                  <c:v>323807463.79999995</c:v>
                </c:pt>
                <c:pt idx="5">
                  <c:v>270737655.94999993</c:v>
                </c:pt>
                <c:pt idx="6">
                  <c:v>214798206.90000048</c:v>
                </c:pt>
                <c:pt idx="7">
                  <c:v>236105169.30000019</c:v>
                </c:pt>
                <c:pt idx="8">
                  <c:v>436050944.30000049</c:v>
                </c:pt>
                <c:pt idx="9">
                  <c:v>527797140.89999878</c:v>
                </c:pt>
                <c:pt idx="10">
                  <c:v>443896356.69999897</c:v>
                </c:pt>
                <c:pt idx="11">
                  <c:v>343120452.05000019</c:v>
                </c:pt>
                <c:pt idx="12">
                  <c:v>114119513.20000017</c:v>
                </c:pt>
                <c:pt idx="13">
                  <c:v>499348291.549999</c:v>
                </c:pt>
                <c:pt idx="14">
                  <c:v>274458686.06543207</c:v>
                </c:pt>
                <c:pt idx="15">
                  <c:v>501867632.34820879</c:v>
                </c:pt>
                <c:pt idx="16">
                  <c:v>375124866.62681037</c:v>
                </c:pt>
                <c:pt idx="17">
                  <c:v>327236398.20524555</c:v>
                </c:pt>
                <c:pt idx="18">
                  <c:v>408929460.20137</c:v>
                </c:pt>
                <c:pt idx="19">
                  <c:v>345690691.69890511</c:v>
                </c:pt>
                <c:pt idx="20">
                  <c:v>564800104.64373183</c:v>
                </c:pt>
                <c:pt idx="21">
                  <c:v>436340809.44217163</c:v>
                </c:pt>
                <c:pt idx="22">
                  <c:v>612796497.21060717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2F-28BA-4C9D-B5ED-E1F22EC71BE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ЛЕНТА</c:v>
                </c:pt>
              </c:strCache>
            </c:strRef>
          </c:tx>
          <c:spPr>
            <a:solidFill>
              <a:srgbClr val="4472C4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0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1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2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3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4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5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6-28BA-4C9D-B5ED-E1F22EC71BEA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7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8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9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A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B-28BA-4C9D-B5ED-E1F22EC71BEA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C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D-28BA-4C9D-B5ED-E1F22EC71BEA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E-28BA-4C9D-B5ED-E1F22EC71BEA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F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Sheet1!$D$2:$D$36</c:f>
              <c:numCache>
                <c:formatCode>_-* #\ ##0_-;\-* #\ ##0_-;_-* "-"??_-;_-@_-</c:formatCode>
                <c:ptCount val="23"/>
                <c:pt idx="0">
                  <c:v>265795</c:v>
                </c:pt>
                <c:pt idx="1">
                  <c:v>111478896</c:v>
                </c:pt>
                <c:pt idx="2">
                  <c:v>44454779</c:v>
                </c:pt>
                <c:pt idx="3">
                  <c:v>94227454</c:v>
                </c:pt>
                <c:pt idx="4">
                  <c:v>70558596</c:v>
                </c:pt>
                <c:pt idx="5">
                  <c:v>18822563</c:v>
                </c:pt>
                <c:pt idx="6">
                  <c:v>588734</c:v>
                </c:pt>
                <c:pt idx="7">
                  <c:v>207785959</c:v>
                </c:pt>
                <c:pt idx="8">
                  <c:v>120466713</c:v>
                </c:pt>
                <c:pt idx="9">
                  <c:v>111137941</c:v>
                </c:pt>
                <c:pt idx="10">
                  <c:v>116370206</c:v>
                </c:pt>
                <c:pt idx="11">
                  <c:v>397161120</c:v>
                </c:pt>
                <c:pt idx="12">
                  <c:v>5280949</c:v>
                </c:pt>
                <c:pt idx="13">
                  <c:v>7174338</c:v>
                </c:pt>
                <c:pt idx="14">
                  <c:v>49282231.433301665</c:v>
                </c:pt>
                <c:pt idx="15">
                  <c:v>104286806.43367377</c:v>
                </c:pt>
                <c:pt idx="16">
                  <c:v>74992252.487556621</c:v>
                </c:pt>
                <c:pt idx="17">
                  <c:v>22042038.966634281</c:v>
                </c:pt>
                <c:pt idx="18">
                  <c:v>2609985.3606957211</c:v>
                </c:pt>
                <c:pt idx="19">
                  <c:v>215509052.31523234</c:v>
                </c:pt>
                <c:pt idx="20">
                  <c:v>122447750.74845017</c:v>
                </c:pt>
                <c:pt idx="21">
                  <c:v>125740095.83760989</c:v>
                </c:pt>
                <c:pt idx="22">
                  <c:v>121429942.98058097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40-28BA-4C9D-B5ED-E1F22EC71BEA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ЧИЖИК </c:v>
                </c:pt>
              </c:strCache>
            </c:strRef>
          </c:tx>
          <c:spPr>
            <a:solidFill>
              <a:srgbClr val="FFDB0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1-28BA-4C9D-B5ED-E1F22EC71BEA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2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3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4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5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6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7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8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9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A-28BA-4C9D-B5ED-E1F22EC71BEA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B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C-28BA-4C9D-B5ED-E1F22EC71BEA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D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E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F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0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1-28BA-4C9D-B5ED-E1F22EC71BEA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2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3-28BA-4C9D-B5ED-E1F22EC71BEA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4-28BA-4C9D-B5ED-E1F22EC71BEA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5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Sheet1!$E$2:$E$36</c:f>
              <c:numCache>
                <c:formatCode>_-* #\ ##0_-;\-* #\ ##0_-;_-* "-"??_-;_-@_-</c:formatCode>
                <c:ptCount val="23"/>
                <c:pt idx="0">
                  <c:v>24271801.399999995</c:v>
                </c:pt>
                <c:pt idx="1">
                  <c:v>37632263.899999894</c:v>
                </c:pt>
                <c:pt idx="2">
                  <c:v>69650309.300000086</c:v>
                </c:pt>
                <c:pt idx="3">
                  <c:v>101217832.10000013</c:v>
                </c:pt>
                <c:pt idx="4">
                  <c:v>65361256.399999984</c:v>
                </c:pt>
                <c:pt idx="5">
                  <c:v>94244181.349999756</c:v>
                </c:pt>
                <c:pt idx="6">
                  <c:v>43286120.349999927</c:v>
                </c:pt>
                <c:pt idx="7">
                  <c:v>45449669.100000098</c:v>
                </c:pt>
                <c:pt idx="8">
                  <c:v>87891473.999999925</c:v>
                </c:pt>
                <c:pt idx="9">
                  <c:v>248078435.55000058</c:v>
                </c:pt>
                <c:pt idx="10">
                  <c:v>144768270.3499999</c:v>
                </c:pt>
                <c:pt idx="11">
                  <c:v>145596687.50000045</c:v>
                </c:pt>
                <c:pt idx="12">
                  <c:v>44036111.349999949</c:v>
                </c:pt>
                <c:pt idx="13">
                  <c:v>62130084.500000022</c:v>
                </c:pt>
                <c:pt idx="14">
                  <c:v>77407579.782201514</c:v>
                </c:pt>
                <c:pt idx="15">
                  <c:v>92985189.99142763</c:v>
                </c:pt>
                <c:pt idx="16">
                  <c:v>62122056.752681725</c:v>
                </c:pt>
                <c:pt idx="17">
                  <c:v>0</c:v>
                </c:pt>
                <c:pt idx="18">
                  <c:v>0</c:v>
                </c:pt>
                <c:pt idx="19">
                  <c:v>74141190.965134814</c:v>
                </c:pt>
                <c:pt idx="20">
                  <c:v>169603177.00027347</c:v>
                </c:pt>
                <c:pt idx="21">
                  <c:v>150897863.26287746</c:v>
                </c:pt>
                <c:pt idx="22">
                  <c:v>193065073.31130558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56-28BA-4C9D-B5ED-E1F22EC71BEA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solidFill>
              <a:srgbClr val="92D05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7-28BA-4C9D-B5ED-E1F22EC71BEA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8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9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A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B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C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D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E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F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0-28BA-4C9D-B5ED-E1F22EC71BEA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1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2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3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4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5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Sheet1!$F$2:$F$36</c:f>
              <c:numCache>
                <c:formatCode>_-* #\ ##0_-;\-* #\ ##0_-;_-* "-"??_-;_-@_-</c:formatCode>
                <c:ptCount val="23"/>
                <c:pt idx="0">
                  <c:v>37680427.950000018</c:v>
                </c:pt>
                <c:pt idx="1">
                  <c:v>52314374.750000045</c:v>
                </c:pt>
                <c:pt idx="2">
                  <c:v>54246447.199999928</c:v>
                </c:pt>
                <c:pt idx="3">
                  <c:v>52876815.20000001</c:v>
                </c:pt>
                <c:pt idx="4">
                  <c:v>50705378.900000021</c:v>
                </c:pt>
                <c:pt idx="5">
                  <c:v>46149635.399999991</c:v>
                </c:pt>
                <c:pt idx="6">
                  <c:v>34524139.100000069</c:v>
                </c:pt>
                <c:pt idx="7">
                  <c:v>37155076.200000048</c:v>
                </c:pt>
                <c:pt idx="8">
                  <c:v>98590396.84999992</c:v>
                </c:pt>
                <c:pt idx="9">
                  <c:v>78626322.750000134</c:v>
                </c:pt>
                <c:pt idx="10">
                  <c:v>40280690.749999948</c:v>
                </c:pt>
                <c:pt idx="11">
                  <c:v>20765427.649999999</c:v>
                </c:pt>
                <c:pt idx="12">
                  <c:v>92071773.049999997</c:v>
                </c:pt>
                <c:pt idx="13">
                  <c:v>128534888.95</c:v>
                </c:pt>
                <c:pt idx="14">
                  <c:v>110244310.9175214</c:v>
                </c:pt>
                <c:pt idx="15">
                  <c:v>78715660.35079065</c:v>
                </c:pt>
                <c:pt idx="16">
                  <c:v>16946339.960038058</c:v>
                </c:pt>
                <c:pt idx="17">
                  <c:v>19080230.67259372</c:v>
                </c:pt>
                <c:pt idx="18">
                  <c:v>14691799.527127689</c:v>
                </c:pt>
                <c:pt idx="19">
                  <c:v>33346214.936275344</c:v>
                </c:pt>
                <c:pt idx="20">
                  <c:v>81791621.913485333</c:v>
                </c:pt>
                <c:pt idx="21">
                  <c:v>47870778.510248311</c:v>
                </c:pt>
                <c:pt idx="22">
                  <c:v>12571703.15036663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66-28BA-4C9D-B5ED-E1F22EC71BEA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METRO</c:v>
                </c:pt>
              </c:strCache>
            </c:strRef>
          </c:tx>
          <c:spPr>
            <a:solidFill>
              <a:srgbClr val="2F5597"/>
            </a:solidFill>
          </c:spPr>
          <c:invertIfNegative val="0"/>
          <c:dLbls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7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Sheet1!$G$2:$G$36</c:f>
              <c:numCache>
                <c:formatCode>_-* #\ ##0_-;\-* #\ ##0_-;_-* "-"??_-;_-@_-</c:formatCode>
                <c:ptCount val="23"/>
                <c:pt idx="0">
                  <c:v>7161417.4499999927</c:v>
                </c:pt>
                <c:pt idx="1">
                  <c:v>22857792.650000002</c:v>
                </c:pt>
                <c:pt idx="2">
                  <c:v>25846728.599999987</c:v>
                </c:pt>
                <c:pt idx="3">
                  <c:v>32331262.699999988</c:v>
                </c:pt>
                <c:pt idx="4">
                  <c:v>20731826.50000003</c:v>
                </c:pt>
                <c:pt idx="7">
                  <c:v>5556366.1999999965</c:v>
                </c:pt>
                <c:pt idx="8">
                  <c:v>33466854.850000061</c:v>
                </c:pt>
                <c:pt idx="9">
                  <c:v>54498452.249999963</c:v>
                </c:pt>
                <c:pt idx="10">
                  <c:v>46177976.350000046</c:v>
                </c:pt>
                <c:pt idx="11">
                  <c:v>66266471.150000043</c:v>
                </c:pt>
                <c:pt idx="12">
                  <c:v>16434127.050000018</c:v>
                </c:pt>
                <c:pt idx="13">
                  <c:v>12516374.750000011</c:v>
                </c:pt>
                <c:pt idx="14">
                  <c:v>11363517.798580604</c:v>
                </c:pt>
                <c:pt idx="15">
                  <c:v>14214444.111199249</c:v>
                </c:pt>
                <c:pt idx="16">
                  <c:v>4557375.1919582477</c:v>
                </c:pt>
                <c:pt idx="17">
                  <c:v>0</c:v>
                </c:pt>
                <c:pt idx="18">
                  <c:v>0</c:v>
                </c:pt>
                <c:pt idx="19">
                  <c:v>2442857.1671980051</c:v>
                </c:pt>
                <c:pt idx="20">
                  <c:v>14713707.356778972</c:v>
                </c:pt>
                <c:pt idx="21">
                  <c:v>23960252.058280598</c:v>
                </c:pt>
                <c:pt idx="22">
                  <c:v>20302153.679737244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8-28BA-4C9D-B5ED-E1F22EC71BEA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АШАН</c:v>
                </c:pt>
              </c:strCache>
            </c:strRef>
          </c:tx>
          <c:spPr>
            <a:solidFill>
              <a:srgbClr val="FF5050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9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A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B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C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D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E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F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0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1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2-28BA-4C9D-B5ED-E1F22EC71BEA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3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4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Sheet1!$H$2:$H$36</c:f>
              <c:numCache>
                <c:formatCode>_-* #\ ##0_-;\-* #\ ##0_-;_-* "-"??_-;_-@_-</c:formatCode>
                <c:ptCount val="23"/>
                <c:pt idx="1">
                  <c:v>130043552.64999998</c:v>
                </c:pt>
                <c:pt idx="2">
                  <c:v>67125915.450000003</c:v>
                </c:pt>
                <c:pt idx="3">
                  <c:v>81809979.899999976</c:v>
                </c:pt>
                <c:pt idx="4">
                  <c:v>108196644.60000005</c:v>
                </c:pt>
                <c:pt idx="5">
                  <c:v>69482925.050000012</c:v>
                </c:pt>
                <c:pt idx="6">
                  <c:v>43714837.100000001</c:v>
                </c:pt>
                <c:pt idx="7">
                  <c:v>126120976.84999993</c:v>
                </c:pt>
                <c:pt idx="8">
                  <c:v>85366413.549999997</c:v>
                </c:pt>
                <c:pt idx="10">
                  <c:v>30174509.200000003</c:v>
                </c:pt>
                <c:pt idx="11">
                  <c:v>91069303.600000054</c:v>
                </c:pt>
                <c:pt idx="13">
                  <c:v>51886266.84999992</c:v>
                </c:pt>
                <c:pt idx="14">
                  <c:v>29349913.779414166</c:v>
                </c:pt>
                <c:pt idx="15">
                  <c:v>35770325.667277068</c:v>
                </c:pt>
                <c:pt idx="16">
                  <c:v>0</c:v>
                </c:pt>
                <c:pt idx="17">
                  <c:v>30380484.879614361</c:v>
                </c:pt>
                <c:pt idx="18">
                  <c:v>19113731.129995868</c:v>
                </c:pt>
                <c:pt idx="19">
                  <c:v>0</c:v>
                </c:pt>
                <c:pt idx="20">
                  <c:v>74650657.962842375</c:v>
                </c:pt>
                <c:pt idx="21">
                  <c:v>0</c:v>
                </c:pt>
                <c:pt idx="22">
                  <c:v>13193402.837326067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5-28BA-4C9D-B5ED-E1F22EC71BEA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ДИКСИ</c:v>
                </c:pt>
              </c:strCache>
            </c:strRef>
          </c:tx>
          <c:spPr>
            <a:solidFill>
              <a:srgbClr val="00FFCC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6-28BA-4C9D-B5ED-E1F22EC71BEA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7-28BA-4C9D-B5ED-E1F22EC71BEA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8-28BA-4C9D-B5ED-E1F22EC71BEA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9-28BA-4C9D-B5ED-E1F22EC71BEA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A-28BA-4C9D-B5ED-E1F22EC71BEA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B-28BA-4C9D-B5ED-E1F22EC71BEA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C-28BA-4C9D-B5ED-E1F22EC71BEA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D-28BA-4C9D-B5ED-E1F22EC71BEA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E-28BA-4C9D-B5ED-E1F22EC71BEA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F-28BA-4C9D-B5ED-E1F22EC71BEA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0-28BA-4C9D-B5ED-E1F22EC71BEA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1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2-28BA-4C9D-B5ED-E1F22EC71BEA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3-28BA-4C9D-B5ED-E1F22EC71BEA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4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5-28BA-4C9D-B5ED-E1F22EC71BEA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6-28BA-4C9D-B5ED-E1F22EC71BEA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7-28BA-4C9D-B5ED-E1F22EC71BEA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8-28BA-4C9D-B5ED-E1F22EC71BEA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9-28BA-4C9D-B5ED-E1F22EC71BEA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A-28BA-4C9D-B5ED-E1F22EC71BEA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B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Sheet1!$I$2:$I$36</c:f>
              <c:numCache>
                <c:formatCode>_-* #\ ##0_-;\-* #\ ##0_-;_-* "-"??_-;_-@_-</c:formatCode>
                <c:ptCount val="23"/>
                <c:pt idx="0">
                  <c:v>11524286.949999999</c:v>
                </c:pt>
                <c:pt idx="1">
                  <c:v>53655643.800000086</c:v>
                </c:pt>
                <c:pt idx="2">
                  <c:v>47527296.29999999</c:v>
                </c:pt>
                <c:pt idx="3">
                  <c:v>51523465.950000025</c:v>
                </c:pt>
                <c:pt idx="4">
                  <c:v>45789433.249999985</c:v>
                </c:pt>
                <c:pt idx="5">
                  <c:v>32876690.549999963</c:v>
                </c:pt>
                <c:pt idx="6">
                  <c:v>27282705.450000033</c:v>
                </c:pt>
                <c:pt idx="7">
                  <c:v>53701444.500000097</c:v>
                </c:pt>
                <c:pt idx="8">
                  <c:v>77124097.600000039</c:v>
                </c:pt>
                <c:pt idx="9">
                  <c:v>78273091.600000173</c:v>
                </c:pt>
                <c:pt idx="10">
                  <c:v>103556339.70000018</c:v>
                </c:pt>
                <c:pt idx="11">
                  <c:v>57090179.300000079</c:v>
                </c:pt>
                <c:pt idx="12">
                  <c:v>32892625.699999992</c:v>
                </c:pt>
                <c:pt idx="13">
                  <c:v>53036284.950000003</c:v>
                </c:pt>
                <c:pt idx="14">
                  <c:v>60436085.358150072</c:v>
                </c:pt>
                <c:pt idx="15">
                  <c:v>65517646.247887686</c:v>
                </c:pt>
                <c:pt idx="16">
                  <c:v>58546597.141984046</c:v>
                </c:pt>
                <c:pt idx="17">
                  <c:v>41806259.372117579</c:v>
                </c:pt>
                <c:pt idx="18">
                  <c:v>34692903.736193985</c:v>
                </c:pt>
                <c:pt idx="19">
                  <c:v>68287180.974314436</c:v>
                </c:pt>
                <c:pt idx="20">
                  <c:v>98071611.654540941</c:v>
                </c:pt>
                <c:pt idx="21">
                  <c:v>99532681.499997526</c:v>
                </c:pt>
                <c:pt idx="22">
                  <c:v>131683059.47769214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C-28BA-4C9D-B5ED-E1F22EC71BEA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Другие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D-28BA-4C9D-B5ED-E1F22EC71BEA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E-28BA-4C9D-B5ED-E1F22EC71BEA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F-28BA-4C9D-B5ED-E1F22EC71BE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Sheet1!$J$2:$J$36</c:f>
              <c:numCache>
                <c:formatCode>_-* #\ ##0_-;\-* #\ ##0_-;_-* "-"??_-;_-@_-</c:formatCode>
                <c:ptCount val="23"/>
                <c:pt idx="0">
                  <c:v>14674072.049999995</c:v>
                </c:pt>
                <c:pt idx="1">
                  <c:v>28809564.850000001</c:v>
                </c:pt>
                <c:pt idx="2">
                  <c:v>42487933.950000018</c:v>
                </c:pt>
                <c:pt idx="3">
                  <c:v>31582317.25</c:v>
                </c:pt>
                <c:pt idx="4">
                  <c:v>28558016.300000019</c:v>
                </c:pt>
                <c:pt idx="5">
                  <c:v>16792902.499999996</c:v>
                </c:pt>
                <c:pt idx="6">
                  <c:v>15829233.750000011</c:v>
                </c:pt>
                <c:pt idx="7">
                  <c:v>25873397.550000001</c:v>
                </c:pt>
                <c:pt idx="8">
                  <c:v>44940737.600000016</c:v>
                </c:pt>
                <c:pt idx="9">
                  <c:v>38856133.800000027</c:v>
                </c:pt>
                <c:pt idx="10">
                  <c:v>37056648.750000015</c:v>
                </c:pt>
                <c:pt idx="11">
                  <c:v>48926725.100000001</c:v>
                </c:pt>
                <c:pt idx="12">
                  <c:v>17423126.050000008</c:v>
                </c:pt>
                <c:pt idx="13">
                  <c:v>49877338.600000009</c:v>
                </c:pt>
                <c:pt idx="14">
                  <c:v>36550388.694411241</c:v>
                </c:pt>
                <c:pt idx="15">
                  <c:v>33327988.685545228</c:v>
                </c:pt>
                <c:pt idx="16">
                  <c:v>29787988.728064105</c:v>
                </c:pt>
                <c:pt idx="17">
                  <c:v>18482911.252644695</c:v>
                </c:pt>
                <c:pt idx="18">
                  <c:v>16830360.448116876</c:v>
                </c:pt>
                <c:pt idx="19">
                  <c:v>23054819.648679178</c:v>
                </c:pt>
                <c:pt idx="20">
                  <c:v>39117020.35251192</c:v>
                </c:pt>
                <c:pt idx="21">
                  <c:v>41409935.769001484</c:v>
                </c:pt>
                <c:pt idx="22">
                  <c:v>39307095.432896405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90-28BA-4C9D-B5ED-E1F22EC71BEA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total</c:v>
                </c:pt>
              </c:strCache>
            </c:strRef>
          </c:tx>
          <c:spPr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600"/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Sheet1!$K$2:$K$36</c:f>
              <c:numCache>
                <c:formatCode>_-* #\ ##0_-;\-* #\ ##0_-;_-* "-"??_-;_-@_-</c:formatCode>
                <c:ptCount val="23"/>
                <c:pt idx="0">
                  <c:v>499093214.34999973</c:v>
                </c:pt>
                <c:pt idx="1">
                  <c:v>1173557558.2499995</c:v>
                </c:pt>
                <c:pt idx="2">
                  <c:v>1308169230.8500006</c:v>
                </c:pt>
                <c:pt idx="3">
                  <c:v>1341163294.3999999</c:v>
                </c:pt>
                <c:pt idx="4">
                  <c:v>1030573499.75</c:v>
                </c:pt>
                <c:pt idx="5">
                  <c:v>914677526.79999971</c:v>
                </c:pt>
                <c:pt idx="6">
                  <c:v>695343345.65000045</c:v>
                </c:pt>
                <c:pt idx="7">
                  <c:v>1110072106.7000003</c:v>
                </c:pt>
                <c:pt idx="8">
                  <c:v>1801006791.7500005</c:v>
                </c:pt>
                <c:pt idx="9">
                  <c:v>2007305064.8499997</c:v>
                </c:pt>
                <c:pt idx="10">
                  <c:v>1756472376.7999992</c:v>
                </c:pt>
                <c:pt idx="11">
                  <c:v>1723222190.3500011</c:v>
                </c:pt>
                <c:pt idx="12" formatCode="_(* #\ ##0_);_(* \(#\ ##0\);_(* &quot;-&quot;??_);_(@_)">
                  <c:v>706128494.4000001</c:v>
                </c:pt>
                <c:pt idx="13" formatCode="_(* #\ ##0_);_(* \(#\ ##0\);_(* &quot;-&quot;??_);_(@_)">
                  <c:v>1354751410.1499989</c:v>
                </c:pt>
                <c:pt idx="14" formatCode="_(* #\ ##0_);_(* \(#\ ##0\);_(* &quot;-&quot;??_);_(@_)">
                  <c:v>1315627358.8012094</c:v>
                </c:pt>
                <c:pt idx="15" formatCode="_(* #\ ##0_);_(* \(#\ ##0\);_(* &quot;-&quot;??_);_(@_)">
                  <c:v>1487722607.4745004</c:v>
                </c:pt>
                <c:pt idx="16" formatCode="_(* #\ ##0_);_(* \(#\ ##0\);_(* &quot;-&quot;??_);_(@_)">
                  <c:v>1049433341.5808215</c:v>
                </c:pt>
                <c:pt idx="17" formatCode="_(* #\ ##0_);_(* \(#\ ##0\);_(* &quot;-&quot;??_);_(@_)">
                  <c:v>789059960.21177185</c:v>
                </c:pt>
                <c:pt idx="18" formatCode="_(* #\ ##0_);_(* \(#\ ##0\);_(* &quot;-&quot;??_);_(@_)">
                  <c:v>831750232.12757289</c:v>
                </c:pt>
                <c:pt idx="19" formatCode="_(* #\ ##0_);_(* \(#\ ##0\);_(* &quot;-&quot;??_);_(@_)">
                  <c:v>1129309573.8144166</c:v>
                </c:pt>
                <c:pt idx="20" formatCode="_(* #\ ##0_);_(* \(#\ ##0\);_(* &quot;-&quot;??_);_(@_)">
                  <c:v>2020701945.2866504</c:v>
                </c:pt>
                <c:pt idx="21" formatCode="_(* #\ ##0_);_(* \(#\ ##0\);_(* &quot;-&quot;??_);_(@_)">
                  <c:v>1898906364.8648691</c:v>
                </c:pt>
                <c:pt idx="22" formatCode="_(* #\ ##0_);_(* \(#\ ##0\);_(* &quot;-&quot;??_);_(@_)">
                  <c:v>2057779017.2886837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91-28BA-4C9D-B5ED-E1F22EC71B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vert="horz"/>
          <a:lstStyle/>
          <a:p>
            <a:pPr>
              <a:defRPr sz="700"/>
            </a:pPr>
            <a:endParaRPr lang="ru-RU"/>
          </a:p>
        </c:txPr>
        <c:crossAx val="2143344575"/>
        <c:crosses val="autoZero"/>
        <c:auto val="1"/>
        <c:lblOffset val="100"/>
        <c:baseTimeUnit val="months"/>
        <c:majorUnit val="1"/>
      </c:dateAx>
      <c:valAx>
        <c:axId val="2143344575"/>
        <c:scaling>
          <c:orientation val="minMax"/>
          <c:max val="2500000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vert="horz"/>
          <a:lstStyle/>
          <a:p>
            <a:pPr>
              <a:defRPr sz="800">
                <a:solidFill>
                  <a:schemeClr val="bg1">
                    <a:lumMod val="50000"/>
                  </a:schemeClr>
                </a:solidFill>
              </a:defRPr>
            </a:pPr>
            <a:endParaRPr lang="ru-RU"/>
          </a:p>
        </c:txPr>
        <c:crossAx val="2143338335"/>
        <c:crosses val="autoZero"/>
        <c:crossBetween val="between"/>
        <c:majorUnit val="500000000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0.66730224422930062"/>
          <c:y val="0.20768145384520853"/>
          <c:w val="0.18465690581572633"/>
          <c:h val="0.74430499999999999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vert="horz"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spPr>
    <a:xfrm>
      <a:off x="200371" y="4017958"/>
      <a:ext cx="7306740" cy="246562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sz="1200"/>
            </a:pPr>
            <a:r>
              <a:rPr lang="en-US" sz="1200" b="1" i="0" u="none" strike="noStrike" kern="1200" baseline="0" dirty="0">
                <a:solidFill>
                  <a:prstClr val="black">
                    <a:lumMod val="65000"/>
                    <a:lumOff val="35000"/>
                  </a:prstClr>
                </a:solidFill>
              </a:rPr>
              <a:t>TRPs, SOV</a:t>
            </a:r>
            <a:r>
              <a:rPr lang="ru-RU" sz="1200" b="1" i="0" u="none" strike="noStrike" kern="1200" baseline="0" dirty="0">
                <a:solidFill>
                  <a:prstClr val="black">
                    <a:lumMod val="65000"/>
                    <a:lumOff val="35000"/>
                  </a:prstClr>
                </a:solidFill>
              </a:rPr>
              <a:t>(%)</a:t>
            </a:r>
          </a:p>
        </c:rich>
      </c:tx>
      <c:layout>
        <c:manualLayout>
          <c:xMode val="edge"/>
          <c:yMode val="edge"/>
          <c:x val="0.37513911812928885"/>
          <c:y val="4.6311952294487368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9735000000000003E-2"/>
          <c:y val="0.175209"/>
          <c:w val="0.85132579361122651"/>
          <c:h val="0.574964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 МАГНИТ 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AD0-43EB-AFAA-94D8728F294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AD0-43EB-AFAA-94D8728F294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AD0-43EB-AFAA-94D8728F294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AD0-43EB-AFAA-94D8728F294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AD0-43EB-AFAA-94D8728F294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AD0-43EB-AFAA-94D8728F294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AD0-43EB-AFAA-94D8728F294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AD0-43EB-AFAA-94D8728F294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AD0-43EB-AFAA-94D8728F294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AD0-43EB-AFAA-94D8728F294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AD0-43EB-AFAA-94D8728F294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AD0-43EB-AFAA-94D8728F294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AD0-43EB-AFAA-94D8728F294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AD0-43EB-AFAA-94D8728F294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AD0-43EB-AFAA-94D8728F294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AD0-43EB-AFAA-94D8728F294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AD0-43EB-AFAA-94D8728F294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AD0-43EB-AFAA-94D8728F294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AD0-43EB-AFAA-94D8728F294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Sheet1!$B$2:$B$36</c:f>
              <c:numCache>
                <c:formatCode>_-* #\ ##0_-;\-* #\ ##0_-;_-* "-"??_-;_-@_-</c:formatCode>
                <c:ptCount val="23"/>
                <c:pt idx="0">
                  <c:v>6024.9041900000002</c:v>
                </c:pt>
                <c:pt idx="1">
                  <c:v>8513.1945999999989</c:v>
                </c:pt>
                <c:pt idx="2">
                  <c:v>9852.3567700000003</c:v>
                </c:pt>
                <c:pt idx="3">
                  <c:v>7754.7852999999996</c:v>
                </c:pt>
                <c:pt idx="4">
                  <c:v>6148.16482</c:v>
                </c:pt>
                <c:pt idx="5">
                  <c:v>6742.3215199999995</c:v>
                </c:pt>
                <c:pt idx="6">
                  <c:v>7339.3977400000003</c:v>
                </c:pt>
                <c:pt idx="7">
                  <c:v>7586.8894600000003</c:v>
                </c:pt>
                <c:pt idx="8">
                  <c:v>8340.8723900000005</c:v>
                </c:pt>
                <c:pt idx="9">
                  <c:v>10747.112800000001</c:v>
                </c:pt>
                <c:pt idx="10">
                  <c:v>10505.022140000001</c:v>
                </c:pt>
                <c:pt idx="11">
                  <c:v>10496.154260000001</c:v>
                </c:pt>
                <c:pt idx="12">
                  <c:v>7405.5819499999998</c:v>
                </c:pt>
                <c:pt idx="13">
                  <c:v>7048.8846099999992</c:v>
                </c:pt>
                <c:pt idx="14">
                  <c:v>7192.1193599999997</c:v>
                </c:pt>
                <c:pt idx="15">
                  <c:v>6612.3232955013882</c:v>
                </c:pt>
                <c:pt idx="16">
                  <c:v>4131.4382853942816</c:v>
                </c:pt>
                <c:pt idx="17">
                  <c:v>4007.2499940036923</c:v>
                </c:pt>
                <c:pt idx="18">
                  <c:v>6463.6586835557691</c:v>
                </c:pt>
                <c:pt idx="19">
                  <c:v>6503.3171352773388</c:v>
                </c:pt>
                <c:pt idx="20">
                  <c:v>7449.0785059547688</c:v>
                </c:pt>
                <c:pt idx="21">
                  <c:v>9858.8155198686472</c:v>
                </c:pt>
                <c:pt idx="22">
                  <c:v>9777.7949350547951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7-9AD0-43EB-AFAA-94D8728F294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 ПЯТЕРОЧКА 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8-9AD0-43EB-AFAA-94D8728F294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9AD0-43EB-AFAA-94D8728F294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9AD0-43EB-AFAA-94D8728F294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9AD0-43EB-AFAA-94D8728F294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9AD0-43EB-AFAA-94D8728F294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9AD0-43EB-AFAA-94D8728F294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9AD0-43EB-AFAA-94D8728F294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2-9AD0-43EB-AFAA-94D8728F294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3-9AD0-43EB-AFAA-94D8728F294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4-9AD0-43EB-AFAA-94D8728F294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5-9AD0-43EB-AFAA-94D8728F294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6-9AD0-43EB-AFAA-94D8728F294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7-9AD0-43EB-AFAA-94D8728F294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8-9AD0-43EB-AFAA-94D8728F294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9-9AD0-43EB-AFAA-94D8728F294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A-9AD0-43EB-AFAA-94D8728F294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B-9AD0-43EB-AFAA-94D8728F294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C-9AD0-43EB-AFAA-94D8728F294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D-9AD0-43EB-AFAA-94D8728F294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E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Sheet1!$C$2:$C$36</c:f>
              <c:numCache>
                <c:formatCode>_-* #\ ##0_-;\-* #\ ##0_-;_-* "-"??_-;_-@_-</c:formatCode>
                <c:ptCount val="23"/>
                <c:pt idx="0">
                  <c:v>5558</c:v>
                </c:pt>
                <c:pt idx="1">
                  <c:v>4354</c:v>
                </c:pt>
                <c:pt idx="2">
                  <c:v>5738</c:v>
                </c:pt>
                <c:pt idx="3">
                  <c:v>6198</c:v>
                </c:pt>
                <c:pt idx="4">
                  <c:v>7940</c:v>
                </c:pt>
                <c:pt idx="5">
                  <c:v>5653</c:v>
                </c:pt>
                <c:pt idx="6">
                  <c:v>5761</c:v>
                </c:pt>
                <c:pt idx="7">
                  <c:v>4835</c:v>
                </c:pt>
                <c:pt idx="8">
                  <c:v>5936</c:v>
                </c:pt>
                <c:pt idx="9">
                  <c:v>7408</c:v>
                </c:pt>
                <c:pt idx="10">
                  <c:v>6226</c:v>
                </c:pt>
                <c:pt idx="11">
                  <c:v>5922</c:v>
                </c:pt>
                <c:pt idx="12">
                  <c:v>3008</c:v>
                </c:pt>
                <c:pt idx="13">
                  <c:v>7008</c:v>
                </c:pt>
                <c:pt idx="14">
                  <c:v>6461</c:v>
                </c:pt>
                <c:pt idx="15">
                  <c:v>6726.8066296078987</c:v>
                </c:pt>
                <c:pt idx="16">
                  <c:v>7496.7498170277668</c:v>
                </c:pt>
                <c:pt idx="17">
                  <c:v>5596.113879449631</c:v>
                </c:pt>
                <c:pt idx="18">
                  <c:v>8989.9192783438739</c:v>
                </c:pt>
                <c:pt idx="19">
                  <c:v>5917.3112689735663</c:v>
                </c:pt>
                <c:pt idx="20">
                  <c:v>6279.5659700128826</c:v>
                </c:pt>
                <c:pt idx="21">
                  <c:v>4935.0915678969104</c:v>
                </c:pt>
                <c:pt idx="22">
                  <c:v>6965.1199396497095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2F-9AD0-43EB-AFAA-94D8728F294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 ЛЕНТА </c:v>
                </c:pt>
              </c:strCache>
            </c:strRef>
          </c:tx>
          <c:spPr>
            <a:solidFill>
              <a:srgbClr val="4472C4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0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1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2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3-9AD0-43EB-AFAA-94D8728F294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4-9AD0-43EB-AFAA-94D8728F294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5-9AD0-43EB-AFAA-94D8728F294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6-9AD0-43EB-AFAA-94D8728F294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7-9AD0-43EB-AFAA-94D8728F294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8-9AD0-43EB-AFAA-94D8728F294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9-9AD0-43EB-AFAA-94D8728F294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A-9AD0-43EB-AFAA-94D8728F294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B-9AD0-43EB-AFAA-94D8728F294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C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Sheet1!$D$2:$D$36</c:f>
              <c:numCache>
                <c:formatCode>_-* #\ ##0_-;\-* #\ ##0_-;_-* "-"??_-;_-@_-</c:formatCode>
                <c:ptCount val="23"/>
                <c:pt idx="0">
                  <c:v>5.6409500000000001</c:v>
                </c:pt>
                <c:pt idx="1">
                  <c:v>888.85943999999995</c:v>
                </c:pt>
                <c:pt idx="2">
                  <c:v>328.98656</c:v>
                </c:pt>
                <c:pt idx="3">
                  <c:v>963.67863999999997</c:v>
                </c:pt>
                <c:pt idx="4">
                  <c:v>946.09924000000001</c:v>
                </c:pt>
                <c:pt idx="5">
                  <c:v>355.29656</c:v>
                </c:pt>
                <c:pt idx="6">
                  <c:v>8.5389400000000002</c:v>
                </c:pt>
                <c:pt idx="7">
                  <c:v>1183.3195000000001</c:v>
                </c:pt>
                <c:pt idx="8">
                  <c:v>502.37117000000001</c:v>
                </c:pt>
                <c:pt idx="9">
                  <c:v>760.71786999999995</c:v>
                </c:pt>
                <c:pt idx="10">
                  <c:v>827.09631000000002</c:v>
                </c:pt>
                <c:pt idx="11">
                  <c:v>2278.1545000000001</c:v>
                </c:pt>
                <c:pt idx="12">
                  <c:v>79.197829999999996</c:v>
                </c:pt>
                <c:pt idx="13">
                  <c:v>69.574489999999997</c:v>
                </c:pt>
                <c:pt idx="14">
                  <c:v>81.961349999999996</c:v>
                </c:pt>
                <c:pt idx="15">
                  <c:v>857.75092082134699</c:v>
                </c:pt>
                <c:pt idx="16">
                  <c:v>824.81950833966334</c:v>
                </c:pt>
                <c:pt idx="17">
                  <c:v>326.13156231704073</c:v>
                </c:pt>
                <c:pt idx="18">
                  <c:v>32.914237755544917</c:v>
                </c:pt>
                <c:pt idx="19">
                  <c:v>1007.4422257109911</c:v>
                </c:pt>
                <c:pt idx="20">
                  <c:v>416.71077272684448</c:v>
                </c:pt>
                <c:pt idx="21">
                  <c:v>697.73614104368562</c:v>
                </c:pt>
                <c:pt idx="22">
                  <c:v>704.21522034540601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3D-9AD0-43EB-AFAA-94D8728F294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 ЧИЖИК (СУПЕРМАРКЕТ) </c:v>
                </c:pt>
              </c:strCache>
            </c:strRef>
          </c:tx>
          <c:spPr>
            <a:solidFill>
              <a:srgbClr val="FFDB00"/>
            </a:solidFill>
          </c:spPr>
          <c:invertIfNegative val="0"/>
          <c:dLbls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E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F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0-9AD0-43EB-AFAA-94D8728F294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1-9AD0-43EB-AFAA-94D8728F294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2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3-9AD0-43EB-AFAA-94D8728F294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4-9AD0-43EB-AFAA-94D8728F294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5-9AD0-43EB-AFAA-94D8728F294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6-9AD0-43EB-AFAA-94D8728F294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7-9AD0-43EB-AFAA-94D8728F294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8-9AD0-43EB-AFAA-94D8728F294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9-9AD0-43EB-AFAA-94D8728F294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A-9AD0-43EB-AFAA-94D8728F294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B-9AD0-43EB-AFAA-94D8728F294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C-9AD0-43EB-AFAA-94D8728F294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D-9AD0-43EB-AFAA-94D8728F294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E-9AD0-43EB-AFAA-94D8728F294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F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Sheet1!$E$2:$E$36</c:f>
              <c:numCache>
                <c:formatCode>_-* #\ ##0_-;\-* #\ ##0_-;_-* "-"??_-;_-@_-</c:formatCode>
                <c:ptCount val="23"/>
                <c:pt idx="0">
                  <c:v>410.85843999999997</c:v>
                </c:pt>
                <c:pt idx="1">
                  <c:v>412.00644999999997</c:v>
                </c:pt>
                <c:pt idx="2">
                  <c:v>556.61545000000001</c:v>
                </c:pt>
                <c:pt idx="3">
                  <c:v>735.76165000000003</c:v>
                </c:pt>
                <c:pt idx="4">
                  <c:v>689.92242999999996</c:v>
                </c:pt>
                <c:pt idx="5">
                  <c:v>808.26525000000004</c:v>
                </c:pt>
                <c:pt idx="6">
                  <c:v>637.01224999999999</c:v>
                </c:pt>
                <c:pt idx="7">
                  <c:v>549.84978999999998</c:v>
                </c:pt>
                <c:pt idx="8">
                  <c:v>447.24074999999999</c:v>
                </c:pt>
                <c:pt idx="9">
                  <c:v>1060.76134</c:v>
                </c:pt>
                <c:pt idx="10">
                  <c:v>904.65930000000003</c:v>
                </c:pt>
                <c:pt idx="11">
                  <c:v>1436.73857</c:v>
                </c:pt>
                <c:pt idx="12">
                  <c:v>794.83302000000003</c:v>
                </c:pt>
                <c:pt idx="13">
                  <c:v>748.02192000000002</c:v>
                </c:pt>
                <c:pt idx="14">
                  <c:v>649.13323000000003</c:v>
                </c:pt>
                <c:pt idx="15">
                  <c:v>554.03100320278372</c:v>
                </c:pt>
                <c:pt idx="16">
                  <c:v>537.48440529892173</c:v>
                </c:pt>
                <c:pt idx="17">
                  <c:v>0</c:v>
                </c:pt>
                <c:pt idx="18">
                  <c:v>0</c:v>
                </c:pt>
                <c:pt idx="19">
                  <c:v>735.3132338032874</c:v>
                </c:pt>
                <c:pt idx="20">
                  <c:v>707.21565453264475</c:v>
                </c:pt>
                <c:pt idx="21">
                  <c:v>528.93314364822334</c:v>
                </c:pt>
                <c:pt idx="22">
                  <c:v>989.09343973405009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50-9AD0-43EB-AFAA-94D8728F294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 ПЕРЕКРЕСТОК </c:v>
                </c:pt>
              </c:strCache>
            </c:strRef>
          </c:tx>
          <c:spPr>
            <a:solidFill>
              <a:srgbClr val="92D050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1-9AD0-43EB-AFAA-94D8728F294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2-9AD0-43EB-AFAA-94D8728F294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3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4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5-9AD0-43EB-AFAA-94D8728F294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6-9AD0-43EB-AFAA-94D8728F294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7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8-9AD0-43EB-AFAA-94D8728F294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9-9AD0-43EB-AFAA-94D8728F294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A-9AD0-43EB-AFAA-94D8728F294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B-9AD0-43EB-AFAA-94D8728F294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C-9AD0-43EB-AFAA-94D8728F294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D-9AD0-43EB-AFAA-94D8728F294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E-9AD0-43EB-AFAA-94D8728F294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F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Sheet1!$F$2:$F$36</c:f>
              <c:numCache>
                <c:formatCode>_-* #\ ##0_-;\-* #\ ##0_-;_-* "-"??_-;_-@_-</c:formatCode>
                <c:ptCount val="23"/>
                <c:pt idx="0">
                  <c:v>1061.2847100000001</c:v>
                </c:pt>
                <c:pt idx="1">
                  <c:v>1013.77735</c:v>
                </c:pt>
                <c:pt idx="2">
                  <c:v>824.49948999999992</c:v>
                </c:pt>
                <c:pt idx="3">
                  <c:v>770.44857999999999</c:v>
                </c:pt>
                <c:pt idx="4">
                  <c:v>761.83678999999995</c:v>
                </c:pt>
                <c:pt idx="5">
                  <c:v>723.39368000000002</c:v>
                </c:pt>
                <c:pt idx="6">
                  <c:v>751.60452999999995</c:v>
                </c:pt>
                <c:pt idx="7">
                  <c:v>652.33920000000001</c:v>
                </c:pt>
                <c:pt idx="8">
                  <c:v>825.02894000000003</c:v>
                </c:pt>
                <c:pt idx="9">
                  <c:v>806.11147000000005</c:v>
                </c:pt>
                <c:pt idx="10">
                  <c:v>507.43286000000001</c:v>
                </c:pt>
                <c:pt idx="11">
                  <c:v>328.55811999999997</c:v>
                </c:pt>
                <c:pt idx="12">
                  <c:v>1958.34301</c:v>
                </c:pt>
                <c:pt idx="13">
                  <c:v>1698.6066000000001</c:v>
                </c:pt>
                <c:pt idx="14">
                  <c:v>1293.9711400000001</c:v>
                </c:pt>
                <c:pt idx="15">
                  <c:v>815.12782706791791</c:v>
                </c:pt>
                <c:pt idx="16">
                  <c:v>189.50167439129635</c:v>
                </c:pt>
                <c:pt idx="17">
                  <c:v>243.96422493618974</c:v>
                </c:pt>
                <c:pt idx="18">
                  <c:v>261.04187666884349</c:v>
                </c:pt>
                <c:pt idx="19">
                  <c:v>426.26351085158865</c:v>
                </c:pt>
                <c:pt idx="20">
                  <c:v>555.98729819347977</c:v>
                </c:pt>
                <c:pt idx="21">
                  <c:v>431.48263258924237</c:v>
                </c:pt>
                <c:pt idx="22">
                  <c:v>129.85918164204892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60-9AD0-43EB-AFAA-94D8728F294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 METRO </c:v>
                </c:pt>
              </c:strCache>
            </c:strRef>
          </c:tx>
          <c:spPr>
            <a:solidFill>
              <a:srgbClr val="2F5597"/>
            </a:solidFill>
          </c:spPr>
          <c:invertIfNegative val="0"/>
          <c:dLbls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1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Sheet1!$G$2:$G$36</c:f>
              <c:numCache>
                <c:formatCode>_-* #\ ##0_-;\-* #\ ##0_-;_-* "-"??_-;_-@_-</c:formatCode>
                <c:ptCount val="23"/>
                <c:pt idx="0">
                  <c:v>223.38557</c:v>
                </c:pt>
                <c:pt idx="1">
                  <c:v>241.20456999999999</c:v>
                </c:pt>
                <c:pt idx="2">
                  <c:v>237.50981999999999</c:v>
                </c:pt>
                <c:pt idx="3">
                  <c:v>287.28886</c:v>
                </c:pt>
                <c:pt idx="4">
                  <c:v>237.40485000000001</c:v>
                </c:pt>
                <c:pt idx="5">
                  <c:v>0</c:v>
                </c:pt>
                <c:pt idx="6">
                  <c:v>0</c:v>
                </c:pt>
                <c:pt idx="7">
                  <c:v>62.306820000000002</c:v>
                </c:pt>
                <c:pt idx="8">
                  <c:v>188.98961</c:v>
                </c:pt>
                <c:pt idx="9">
                  <c:v>436.10984999999999</c:v>
                </c:pt>
                <c:pt idx="10">
                  <c:v>467.27393000000001</c:v>
                </c:pt>
                <c:pt idx="11">
                  <c:v>740.96148999999991</c:v>
                </c:pt>
                <c:pt idx="12">
                  <c:v>157.19045</c:v>
                </c:pt>
                <c:pt idx="13">
                  <c:v>84.382660000000001</c:v>
                </c:pt>
                <c:pt idx="14">
                  <c:v>58.154040000000002</c:v>
                </c:pt>
                <c:pt idx="15">
                  <c:v>51.764994662024982</c:v>
                </c:pt>
                <c:pt idx="16">
                  <c:v>42.77667011867026</c:v>
                </c:pt>
                <c:pt idx="17">
                  <c:v>0</c:v>
                </c:pt>
                <c:pt idx="18">
                  <c:v>0</c:v>
                </c:pt>
                <c:pt idx="19">
                  <c:v>11.226722138504609</c:v>
                </c:pt>
                <c:pt idx="20">
                  <c:v>34.052995138162281</c:v>
                </c:pt>
                <c:pt idx="21">
                  <c:v>78.580227779477823</c:v>
                </c:pt>
                <c:pt idx="22">
                  <c:v>84.195511417161924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2-9AD0-43EB-AFAA-94D8728F294C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 АШАН </c:v>
                </c:pt>
              </c:strCache>
            </c:strRef>
          </c:tx>
          <c:spPr>
            <a:solidFill>
              <a:srgbClr val="FF5050"/>
            </a:solidFill>
          </c:spPr>
          <c:invertIfNegative val="0"/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Sheet1!$H$2:$H$36</c:f>
              <c:numCache>
                <c:formatCode>_-* #\ ##0_-;\-* #\ ##0_-;_-* "-"??_-;_-@_-</c:formatCode>
                <c:ptCount val="23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539.37063999999998</c:v>
                </c:pt>
                <c:pt idx="14">
                  <c:v>161.46665999999999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3-9AD0-43EB-AFAA-94D8728F294C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 ДИКСИ </c:v>
                </c:pt>
              </c:strCache>
            </c:strRef>
          </c:tx>
          <c:spPr>
            <a:solidFill>
              <a:srgbClr val="00FFCC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4-9AD0-43EB-AFAA-94D8728F294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5-9AD0-43EB-AFAA-94D8728F294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6-9AD0-43EB-AFAA-94D8728F294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7-9AD0-43EB-AFAA-94D8728F294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8-9AD0-43EB-AFAA-94D8728F294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9-9AD0-43EB-AFAA-94D8728F294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A-9AD0-43EB-AFAA-94D8728F294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B-9AD0-43EB-AFAA-94D8728F294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C-9AD0-43EB-AFAA-94D8728F294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D-9AD0-43EB-AFAA-94D8728F294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E-9AD0-43EB-AFAA-94D8728F294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F-9AD0-43EB-AFAA-94D8728F294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0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Sheet1!$I$2:$I$36</c:f>
              <c:numCache>
                <c:formatCode>_-* #\ ##0_-;\-* #\ ##0_-;_-* "-"??_-;_-@_-</c:formatCode>
                <c:ptCount val="23"/>
                <c:pt idx="0">
                  <c:v>266</c:v>
                </c:pt>
                <c:pt idx="1">
                  <c:v>658</c:v>
                </c:pt>
                <c:pt idx="2">
                  <c:v>593</c:v>
                </c:pt>
                <c:pt idx="3">
                  <c:v>635</c:v>
                </c:pt>
                <c:pt idx="4">
                  <c:v>681</c:v>
                </c:pt>
                <c:pt idx="5">
                  <c:v>496</c:v>
                </c:pt>
                <c:pt idx="6">
                  <c:v>553</c:v>
                </c:pt>
                <c:pt idx="7">
                  <c:v>689</c:v>
                </c:pt>
                <c:pt idx="8">
                  <c:v>694</c:v>
                </c:pt>
                <c:pt idx="9">
                  <c:v>645</c:v>
                </c:pt>
                <c:pt idx="10">
                  <c:v>752</c:v>
                </c:pt>
                <c:pt idx="11">
                  <c:v>716</c:v>
                </c:pt>
                <c:pt idx="12">
                  <c:v>600</c:v>
                </c:pt>
                <c:pt idx="13">
                  <c:v>584</c:v>
                </c:pt>
                <c:pt idx="14">
                  <c:v>690</c:v>
                </c:pt>
                <c:pt idx="15">
                  <c:v>330.93074401507965</c:v>
                </c:pt>
                <c:pt idx="16">
                  <c:v>354.90367980199881</c:v>
                </c:pt>
                <c:pt idx="17">
                  <c:v>258.49078587634568</c:v>
                </c:pt>
                <c:pt idx="18">
                  <c:v>288.19638022100639</c:v>
                </c:pt>
                <c:pt idx="19">
                  <c:v>359.07288602581087</c:v>
                </c:pt>
                <c:pt idx="20">
                  <c:v>361.67863991569334</c:v>
                </c:pt>
                <c:pt idx="21">
                  <c:v>336.14225179484458</c:v>
                </c:pt>
                <c:pt idx="22">
                  <c:v>391.90538503833051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1-9AD0-43EB-AFAA-94D8728F294C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 Другие 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2-9AD0-43EB-AFAA-94D8728F294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Sheet1!$J$2:$J$36</c:f>
              <c:numCache>
                <c:formatCode>_-* #\ ##0_-;\-* #\ ##0_-;_-* "-"??_-;_-@_-</c:formatCode>
                <c:ptCount val="23"/>
                <c:pt idx="0">
                  <c:v>298</c:v>
                </c:pt>
                <c:pt idx="1">
                  <c:v>346.58339999999998</c:v>
                </c:pt>
                <c:pt idx="2">
                  <c:v>404.65143999999998</c:v>
                </c:pt>
                <c:pt idx="3">
                  <c:v>323</c:v>
                </c:pt>
                <c:pt idx="4">
                  <c:v>342</c:v>
                </c:pt>
                <c:pt idx="5">
                  <c:v>242</c:v>
                </c:pt>
                <c:pt idx="6">
                  <c:v>281</c:v>
                </c:pt>
                <c:pt idx="7">
                  <c:v>305.11729000000003</c:v>
                </c:pt>
                <c:pt idx="8">
                  <c:v>303.68164999999999</c:v>
                </c:pt>
                <c:pt idx="9">
                  <c:v>284</c:v>
                </c:pt>
                <c:pt idx="10">
                  <c:v>292</c:v>
                </c:pt>
                <c:pt idx="11">
                  <c:v>505.87222000000003</c:v>
                </c:pt>
                <c:pt idx="12">
                  <c:v>294</c:v>
                </c:pt>
                <c:pt idx="13">
                  <c:v>501.25242000000003</c:v>
                </c:pt>
                <c:pt idx="14">
                  <c:v>571.90110000000004</c:v>
                </c:pt>
                <c:pt idx="15">
                  <c:v>135.28897301511262</c:v>
                </c:pt>
                <c:pt idx="16">
                  <c:v>141.72629639859406</c:v>
                </c:pt>
                <c:pt idx="17">
                  <c:v>99.681075802609158</c:v>
                </c:pt>
                <c:pt idx="18">
                  <c:v>115.71014803542045</c:v>
                </c:pt>
                <c:pt idx="19">
                  <c:v>115.71148635837443</c:v>
                </c:pt>
                <c:pt idx="20">
                  <c:v>115.06801635876468</c:v>
                </c:pt>
                <c:pt idx="21">
                  <c:v>120.91018645225418</c:v>
                </c:pt>
                <c:pt idx="22">
                  <c:v>122.90406699387209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3-9AD0-43EB-AFAA-94D8728F294C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 total </c:v>
                </c:pt>
              </c:strCache>
            </c:strRef>
          </c:tx>
          <c:spPr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600"/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Sheet1!$A$2:$A$36</c:f>
              <c:numCache>
                <c:formatCode>mmm\-yy</c:formatCode>
                <c:ptCount val="23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</c:numCache>
            </c:numRef>
          </c:cat>
          <c:val>
            <c:numRef>
              <c:f>Sheet1!$K$2:$K$36</c:f>
              <c:numCache>
                <c:formatCode>_-* #\ ##0_-;\-* #\ ##0_-;_-* "-"??_-;_-@_-</c:formatCode>
                <c:ptCount val="23"/>
                <c:pt idx="0">
                  <c:v>13848.073860000002</c:v>
                </c:pt>
                <c:pt idx="1">
                  <c:v>16427.625810000001</c:v>
                </c:pt>
                <c:pt idx="2">
                  <c:v>18535.61953</c:v>
                </c:pt>
                <c:pt idx="3">
                  <c:v>17667.963029999999</c:v>
                </c:pt>
                <c:pt idx="4">
                  <c:v>17746.42813</c:v>
                </c:pt>
                <c:pt idx="5">
                  <c:v>15020.27701</c:v>
                </c:pt>
                <c:pt idx="6">
                  <c:v>15331.553460000001</c:v>
                </c:pt>
                <c:pt idx="7">
                  <c:v>15863.82206</c:v>
                </c:pt>
                <c:pt idx="8">
                  <c:v>17238.184509999999</c:v>
                </c:pt>
                <c:pt idx="9">
                  <c:v>22147.813330000004</c:v>
                </c:pt>
                <c:pt idx="10">
                  <c:v>20481.484540000001</c:v>
                </c:pt>
                <c:pt idx="11">
                  <c:v>22424.439160000009</c:v>
                </c:pt>
                <c:pt idx="12">
                  <c:v>14297.14626</c:v>
                </c:pt>
                <c:pt idx="13">
                  <c:v>18282.093339999999</c:v>
                </c:pt>
                <c:pt idx="14">
                  <c:v>17159.706879999998</c:v>
                </c:pt>
                <c:pt idx="15">
                  <c:v>16084.024387893553</c:v>
                </c:pt>
                <c:pt idx="16">
                  <c:v>13719.400336771194</c:v>
                </c:pt>
                <c:pt idx="17">
                  <c:v>10531.631522385509</c:v>
                </c:pt>
                <c:pt idx="18">
                  <c:v>16151.440604580459</c:v>
                </c:pt>
                <c:pt idx="19">
                  <c:v>15075.65846913946</c:v>
                </c:pt>
                <c:pt idx="20">
                  <c:v>15919.357852833244</c:v>
                </c:pt>
                <c:pt idx="21">
                  <c:v>16987.691671073284</c:v>
                </c:pt>
                <c:pt idx="22">
                  <c:v>19165.087679875374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4-9AD0-43EB-AFAA-94D8728F29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vert="horz"/>
          <a:lstStyle/>
          <a:p>
            <a:pPr>
              <a:defRPr sz="700"/>
            </a:pPr>
            <a:endParaRPr lang="ru-RU"/>
          </a:p>
        </c:txPr>
        <c:crossAx val="2143344575"/>
        <c:crosses val="autoZero"/>
        <c:auto val="1"/>
        <c:lblOffset val="100"/>
        <c:baseTimeUnit val="months"/>
        <c:majorUnit val="1"/>
      </c:dateAx>
      <c:valAx>
        <c:axId val="2143344575"/>
        <c:scaling>
          <c:orientation val="minMax"/>
          <c:max val="25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vert="horz"/>
          <a:lstStyle/>
          <a:p>
            <a:pPr>
              <a:defRPr sz="800">
                <a:solidFill>
                  <a:schemeClr val="bg1">
                    <a:lumMod val="50000"/>
                  </a:schemeClr>
                </a:solidFill>
              </a:defRPr>
            </a:pPr>
            <a:endParaRPr lang="ru-RU"/>
          </a:p>
        </c:txPr>
        <c:crossAx val="2143338335"/>
        <c:crosses val="autoZero"/>
        <c:crossBetween val="between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200371" y="4017958"/>
      <a:ext cx="7306740" cy="246562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6885999999999999E-2"/>
          <c:y val="0.154248"/>
          <c:w val="0.90886199999999995"/>
          <c:h val="0.4995660000000000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1-2'25</c:v>
                </c:pt>
              </c:strCache>
            </c:strRef>
          </c:tx>
          <c:spPr>
            <a:prstGeom prst="rect">
              <a:avLst/>
            </a:prstGeom>
            <a:solidFill>
              <a:srgbClr val="AFAFAF"/>
            </a:solidFill>
            <a:ln>
              <a:noFill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Sheet1!$B$2:$B$14</c:f>
              <c:numCache>
                <c:formatCode>#,##0</c:formatCode>
                <c:ptCount val="13"/>
                <c:pt idx="0">
                  <c:v>994032869.6230092</c:v>
                </c:pt>
                <c:pt idx="1">
                  <c:v>638820291.18461227</c:v>
                </c:pt>
                <c:pt idx="2">
                  <c:v>202026073.9146727</c:v>
                </c:pt>
                <c:pt idx="3">
                  <c:v>129193040.53916505</c:v>
                </c:pt>
                <c:pt idx="4">
                  <c:v>113774879.87643562</c:v>
                </c:pt>
                <c:pt idx="5">
                  <c:v>229463997.25</c:v>
                </c:pt>
                <c:pt idx="6">
                  <c:v>184884086.57309076</c:v>
                </c:pt>
                <c:pt idx="7">
                  <c:v>114137498.03153159</c:v>
                </c:pt>
                <c:pt idx="8">
                  <c:v>59797963.450000003</c:v>
                </c:pt>
                <c:pt idx="9">
                  <c:v>74317535.744232506</c:v>
                </c:pt>
                <c:pt idx="10">
                  <c:v>72893243.332203299</c:v>
                </c:pt>
                <c:pt idx="11">
                  <c:v>4186714.1010495475</c:v>
                </c:pt>
                <c:pt idx="12">
                  <c:v>47213899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09-4C7C-9CCF-5F56E060DB9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1-2'26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 w="19050">
              <a:noFill/>
              <a:miter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B309-4C7C-9CCF-5F56E060DB9C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B309-4C7C-9CCF-5F56E060DB9C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B309-4C7C-9CCF-5F56E060DB9C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B309-4C7C-9CCF-5F56E060DB9C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B309-4C7C-9CCF-5F56E060DB9C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B309-4C7C-9CCF-5F56E060DB9C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B309-4C7C-9CCF-5F56E060DB9C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B309-4C7C-9CCF-5F56E060DB9C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B309-4C7C-9CCF-5F56E060DB9C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B309-4C7C-9CCF-5F56E060DB9C}"/>
              </c:ext>
            </c:extLst>
          </c:dPt>
          <c:dPt>
            <c:idx val="1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B309-4C7C-9CCF-5F56E060DB9C}"/>
              </c:ext>
            </c:extLst>
          </c:dPt>
          <c:dPt>
            <c:idx val="1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B309-4C7C-9CCF-5F56E060DB9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Sheet1!$C$2:$C$14</c:f>
              <c:numCache>
                <c:formatCode>#,##0</c:formatCode>
                <c:ptCount val="13"/>
                <c:pt idx="0">
                  <c:v>1402764207.9076476</c:v>
                </c:pt>
                <c:pt idx="1">
                  <c:v>941491710.16524553</c:v>
                </c:pt>
                <c:pt idx="2">
                  <c:v>425789326.49248087</c:v>
                </c:pt>
                <c:pt idx="3">
                  <c:v>301929436.3428998</c:v>
                </c:pt>
                <c:pt idx="4">
                  <c:v>265102118.50801775</c:v>
                </c:pt>
                <c:pt idx="5">
                  <c:v>195873289.39410329</c:v>
                </c:pt>
                <c:pt idx="6">
                  <c:v>185528376.76003641</c:v>
                </c:pt>
                <c:pt idx="7">
                  <c:v>133578168.32680242</c:v>
                </c:pt>
                <c:pt idx="8">
                  <c:v>108638251.2335555</c:v>
                </c:pt>
                <c:pt idx="9">
                  <c:v>70070299.984650701</c:v>
                </c:pt>
                <c:pt idx="10">
                  <c:v>58572973.504726738</c:v>
                </c:pt>
                <c:pt idx="11">
                  <c:v>36905608.13917546</c:v>
                </c:pt>
                <c:pt idx="12">
                  <c:v>45432114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B309-4C7C-9CCF-5F56E060DB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398356624"/>
        <c:axId val="398357016"/>
      </c:barChart>
      <c:catAx>
        <c:axId val="3983566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1800000" vert="horz"/>
          <a:lstStyle/>
          <a:p>
            <a:pPr>
              <a:defRPr sz="800"/>
            </a:pPr>
            <a:endParaRPr lang="ru-RU"/>
          </a:p>
        </c:txPr>
        <c:crossAx val="398357016"/>
        <c:crosses val="autoZero"/>
        <c:auto val="1"/>
        <c:lblAlgn val="ctr"/>
        <c:lblOffset val="100"/>
        <c:noMultiLvlLbl val="0"/>
      </c:catAx>
      <c:valAx>
        <c:axId val="398357016"/>
        <c:scaling>
          <c:orientation val="minMax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98356624"/>
        <c:crosses val="autoZero"/>
        <c:crossBetween val="between"/>
        <c:dispUnits>
          <c:builtInUnit val="millions"/>
        </c:dispUnits>
      </c:valAx>
    </c:plotArea>
    <c:legend>
      <c:legendPos val="r"/>
      <c:layout>
        <c:manualLayout>
          <c:xMode val="edge"/>
          <c:yMode val="edge"/>
          <c:x val="0.60019647788625863"/>
          <c:y val="0.10264714038050107"/>
          <c:w val="0.27100800000000003"/>
          <c:h val="0.23985600000000001"/>
        </c:manualLayout>
      </c:layout>
      <c:overlay val="0"/>
      <c:txPr>
        <a:bodyPr/>
        <a:lstStyle/>
        <a:p>
          <a:pPr>
            <a:defRPr sz="10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600">
          <a:latin typeface="+mn-lt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300" b="0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dirty="0"/>
              <a:t>Медиа Микс</a:t>
            </a:r>
            <a:r>
              <a:rPr lang="en-US" dirty="0"/>
              <a:t>,</a:t>
            </a:r>
            <a:r>
              <a:rPr lang="en-US" baseline="0" dirty="0"/>
              <a:t> {jan_current_month_1}</a:t>
            </a:r>
            <a:endParaRPr lang="ru-RU" dirty="0"/>
          </a:p>
        </c:rich>
      </c:tx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6.9606000000000001E-2"/>
          <c:y val="0.15298900000000001"/>
          <c:w val="0.93800300000000003"/>
          <c:h val="0.48898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ООН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  <a:round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50CFD8F-97DA-41F5-98AD-E29C6D48689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B6C4-4200-B3C6-6A42B554431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FE32D10-53CF-4881-A47F-6BF062F0EDE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B6C4-4200-B3C6-6A42B554431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0BBFEC0B-8735-40EE-B042-7EDC61985AA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B6C4-4200-B3C6-6A42B554431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93158FB9-9156-43FE-B1F3-EEECE7C5FAD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95F37D1-BD50-4076-AE62-DA2EE236CBA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5E9F6B25-0744-41B4-A4F2-9E86382EF53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5B0D84E4-080D-4407-AEE4-622B2D3F63B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B6C4-4200-B3C6-6A42B554431A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F89FA49C-246B-42FC-8082-6902B0F4137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493BC997-EA60-4679-838D-F52385CB78B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59E1357F-D2EA-483D-B1A4-1BD290E47C7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3EAB9C3E-AF34-4CD3-A407-407517555A1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633B6AE9-F161-4E5B-8498-FB284593E26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EEABCB5-8F8F-4AD8-92FA-1414250A112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108053791</c:v>
                </c:pt>
                <c:pt idx="1">
                  <c:v>151987980</c:v>
                </c:pt>
                <c:pt idx="2">
                  <c:v>52899788</c:v>
                </c:pt>
                <c:pt idx="3">
                  <c:v>26484292</c:v>
                </c:pt>
                <c:pt idx="4">
                  <c:v>45602169</c:v>
                </c:pt>
                <c:pt idx="5">
                  <c:v>34858682</c:v>
                </c:pt>
                <c:pt idx="6">
                  <c:v>35143232</c:v>
                </c:pt>
                <c:pt idx="7">
                  <c:v>57404734</c:v>
                </c:pt>
                <c:pt idx="8">
                  <c:v>20068992</c:v>
                </c:pt>
                <c:pt idx="9">
                  <c:v>28774710</c:v>
                </c:pt>
                <c:pt idx="10">
                  <c:v>45709594</c:v>
                </c:pt>
                <c:pt idx="11">
                  <c:v>1335570</c:v>
                </c:pt>
                <c:pt idx="12">
                  <c:v>17029203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Sheet1!$B$18:$B$30</c15:f>
                <c15:dlblRangeCache>
                  <c:ptCount val="13"/>
                  <c:pt idx="0">
                    <c:v>8%</c:v>
                  </c:pt>
                  <c:pt idx="1">
                    <c:v>16%</c:v>
                  </c:pt>
                  <c:pt idx="2">
                    <c:v>12%</c:v>
                  </c:pt>
                  <c:pt idx="3">
                    <c:v>12%</c:v>
                  </c:pt>
                  <c:pt idx="4">
                    <c:v>17%</c:v>
                  </c:pt>
                  <c:pt idx="5">
                    <c:v>18%</c:v>
                  </c:pt>
                  <c:pt idx="6">
                    <c:v>19%</c:v>
                  </c:pt>
                  <c:pt idx="7">
                    <c:v>33%</c:v>
                  </c:pt>
                  <c:pt idx="8">
                    <c:v>25%</c:v>
                  </c:pt>
                  <c:pt idx="9">
                    <c:v>41%</c:v>
                  </c:pt>
                  <c:pt idx="10">
                    <c:v>43%</c:v>
                  </c:pt>
                  <c:pt idx="11">
                    <c:v>5%</c:v>
                  </c:pt>
                  <c:pt idx="12">
                    <c:v>21%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B6C4-4200-B3C6-6A42B554431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Интернет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95C0CE8-087F-445E-BDF6-A1D8F39B755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B6C4-4200-B3C6-6A42B554431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40C65D7-C194-49B3-BF5F-43C9314C280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B6C4-4200-B3C6-6A42B554431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7E840CC-4BB9-42E3-96BF-A5AAC424AAD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B6C4-4200-B3C6-6A42B554431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BA08086-D386-4DE8-894B-15F43B16179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848CDD7-30B1-4EE8-A55E-8DB86AF12E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F503BE59-A9A4-4A48-8236-FE12790F9DB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4D2D5A28-0C2A-433B-ABCF-65A29F75452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B6C4-4200-B3C6-6A42B554431A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54063BE9-408C-4DC3-B094-F4E713AB93F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7DCA0AB-9325-46CC-BA99-98BC18301BE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4ACA76D-1042-41DA-BB8C-B18D9174FB1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B43F39E-1DAA-435A-B895-0798AB201B7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E07DDA48-7EB4-4FC4-9AF1-E6A3DE2CD69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B83BFA08-F5E0-4C36-BABB-2BF031559B7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420592606.45764625</c:v>
                </c:pt>
                <c:pt idx="1">
                  <c:v>173420104.01524293</c:v>
                </c:pt>
                <c:pt idx="2">
                  <c:v>115879543.19248135</c:v>
                </c:pt>
                <c:pt idx="3">
                  <c:v>158502191.69289997</c:v>
                </c:pt>
                <c:pt idx="4">
                  <c:v>81030659.908018172</c:v>
                </c:pt>
                <c:pt idx="5">
                  <c:v>69957005.394103378</c:v>
                </c:pt>
                <c:pt idx="6">
                  <c:v>70633640.9100364</c:v>
                </c:pt>
                <c:pt idx="7">
                  <c:v>29776835.326802462</c:v>
                </c:pt>
                <c:pt idx="8">
                  <c:v>58161200.083555549</c:v>
                </c:pt>
                <c:pt idx="9">
                  <c:v>41295589.984650709</c:v>
                </c:pt>
                <c:pt idx="10">
                  <c:v>3138179.7047267277</c:v>
                </c:pt>
                <c:pt idx="11">
                  <c:v>20673675.839175463</c:v>
                </c:pt>
                <c:pt idx="12">
                  <c:v>12819739.444230193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Sheet1!$C$18:$C$30</c15:f>
                <c15:dlblRangeCache>
                  <c:ptCount val="13"/>
                  <c:pt idx="0">
                    <c:v>30%</c:v>
                  </c:pt>
                  <c:pt idx="1">
                    <c:v>18%</c:v>
                  </c:pt>
                  <c:pt idx="2">
                    <c:v>27%</c:v>
                  </c:pt>
                  <c:pt idx="3">
                    <c:v>74%</c:v>
                  </c:pt>
                  <c:pt idx="4">
                    <c:v>31%</c:v>
                  </c:pt>
                  <c:pt idx="5">
                    <c:v>36%</c:v>
                  </c:pt>
                  <c:pt idx="6">
                    <c:v>38%</c:v>
                  </c:pt>
                  <c:pt idx="7">
                    <c:v>17%</c:v>
                  </c:pt>
                  <c:pt idx="8">
                    <c:v>72%</c:v>
                  </c:pt>
                  <c:pt idx="9">
                    <c:v>59%</c:v>
                  </c:pt>
                  <c:pt idx="10">
                    <c:v>3%</c:v>
                  </c:pt>
                  <c:pt idx="11">
                    <c:v>71%</c:v>
                  </c:pt>
                  <c:pt idx="12">
                    <c:v>16%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B6C4-4200-B3C6-6A42B55443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Пресса</c:v>
                </c:pt>
              </c:strCache>
            </c:strRef>
          </c:tx>
          <c:spPr>
            <a:prstGeom prst="rect">
              <a:avLst/>
            </a:prstGeom>
            <a:solidFill>
              <a:srgbClr val="806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0</c:v>
                </c:pt>
                <c:pt idx="1">
                  <c:v>1425000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410976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02-B6C4-4200-B3C6-6A42B554431A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Радио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D6D3D02-400A-4F8C-892E-43BCF3461DD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F-B6C4-4200-B3C6-6A42B554431A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B6C4-4200-B3C6-6A42B554431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C55DA47-BB56-47E6-A60F-91550DB71DC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B6C4-4200-B3C6-6A42B554431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76265D6-6038-9E49-B148-3EFA29FD1186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DA44A57-DD57-4EB4-800C-242DA108A68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4E46D8FF-4857-44AD-8DF1-E779A67DAB5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C75B10C2-833D-4051-9EB4-458937A2DFD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B6C4-4200-B3C6-6A42B554431A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D185FDE1-E2E1-1540-AB9B-27C405988617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B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55107175-6A08-8F48-B12C-AF530954692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07D8FCDF-8702-43DA-8AE6-44564113BF8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E781E36C-7F6C-D84F-BFA7-38521F15A526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D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9AA903C2-36AA-4D61-A480-E232F481ADE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</c:v>
                </c:pt>
                <c:pt idx="1">
                  <c:v>1074050</c:v>
                </c:pt>
                <c:pt idx="2">
                  <c:v>34285592.5</c:v>
                </c:pt>
                <c:pt idx="3">
                  <c:v>0</c:v>
                </c:pt>
                <c:pt idx="4">
                  <c:v>32303093.75</c:v>
                </c:pt>
                <c:pt idx="5">
                  <c:v>78191339.75</c:v>
                </c:pt>
                <c:pt idx="6">
                  <c:v>27865237</c:v>
                </c:pt>
                <c:pt idx="7">
                  <c:v>93600</c:v>
                </c:pt>
                <c:pt idx="8">
                  <c:v>0</c:v>
                </c:pt>
                <c:pt idx="9">
                  <c:v>0</c:v>
                </c:pt>
                <c:pt idx="10">
                  <c:v>47979448.900000006</c:v>
                </c:pt>
                <c:pt idx="11">
                  <c:v>0</c:v>
                </c:pt>
                <c:pt idx="12">
                  <c:v>752827.5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Sheet1!$E$18:$E$30</c15:f>
                <c15:dlblRangeCache>
                  <c:ptCount val="13"/>
                  <c:pt idx="2">
                    <c:v>8%</c:v>
                  </c:pt>
                  <c:pt idx="4">
                    <c:v>12%</c:v>
                  </c:pt>
                  <c:pt idx="5">
                    <c:v>40%</c:v>
                  </c:pt>
                  <c:pt idx="6">
                    <c:v>15%</c:v>
                  </c:pt>
                  <c:pt idx="10">
                    <c:v>45%</c:v>
                  </c:pt>
                  <c:pt idx="12">
                    <c:v>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3-B6C4-4200-B3C6-6A42B554431A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Нац.ТВ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11DFCD7-56F5-4174-AAE3-ADFCF5248E5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7-B6C4-4200-B3C6-6A42B554431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D6FE9471-F070-4397-978C-D606B704D89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8-B6C4-4200-B3C6-6A42B554431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FCEE133-480B-4C3D-AABA-B3DB6291DCA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B6C4-4200-B3C6-6A42B554431A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6CA0B7D-ED96-CF40-8F2A-F25D565A953E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B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39A3AA0B-54D8-2841-B564-2E0DEC5EE7D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C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D28F6E95-4A87-1546-BB92-CF1897D7A6C4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D-B6C4-4200-B3C6-6A42B554431A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F952DF5-0D81-DE4B-9C61-EE1F4AA9FF6D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F487157B-B2CA-8043-BCB6-3FAF7987937A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0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45549FF-DA74-6A4B-9DCA-307C6D617F9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1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CC4DB0BA-0B9D-EE47-9E5E-88DD3C094681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2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8A1BEC63-A2DD-4DEF-926A-660A6803E0A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659396353.50000083</c:v>
                </c:pt>
                <c:pt idx="1">
                  <c:v>412986882.90000039</c:v>
                </c:pt>
                <c:pt idx="2">
                  <c:v>180592696.79999998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16231932.299999995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Sheet1!$F$18:$F$30</c15:f>
                <c15:dlblRangeCache>
                  <c:ptCount val="13"/>
                  <c:pt idx="0">
                    <c:v>47%</c:v>
                  </c:pt>
                  <c:pt idx="1">
                    <c:v>44%</c:v>
                  </c:pt>
                  <c:pt idx="2">
                    <c:v>42%</c:v>
                  </c:pt>
                  <c:pt idx="12">
                    <c:v>20%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4-B6C4-4200-B3C6-6A42B554431A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Рег.ТВ</c:v>
                </c:pt>
              </c:strCache>
            </c:strRef>
          </c:tx>
          <c:spPr>
            <a:solidFill>
              <a:srgbClr val="A9D08E"/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7F2A81BB-FFF1-44A2-98A5-6FE85664E1A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B6C4-4200-B3C6-6A42B554431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6054C3E-1564-4A11-911C-D1A14BBB2C5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0-B6C4-4200-B3C6-6A42B554431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473C8154-696D-4983-9713-BB1FE73AA9C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1-B6C4-4200-B3C6-6A42B554431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7A9005B-6F3B-4F0D-AC36-5FE3B6070D3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2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2D43A8B5-4DF2-4665-A9B3-04C144D34F5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FA14B5B-035D-42A7-B4C0-5EF6B299AC8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304B0F3-E4AE-4085-A7E3-097FB46682F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5-B6C4-4200-B3C6-6A42B554431A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8C396BB-35D5-425F-9761-7D2DFA410F5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CF30FFF-B7DB-B64C-A17F-2D7EE841FEBD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4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EE047BE0-64CC-AD44-939E-4FB259B1CBE9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5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C0F52E34-C6F7-4EE9-8515-834A574A122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B49F7560-588B-4F30-8AAC-A6D23557DFE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38C263F4-A8A2-409F-BF26-5BA70291CB0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214721456.9499996</c:v>
                </c:pt>
                <c:pt idx="1">
                  <c:v>200480921.84999955</c:v>
                </c:pt>
                <c:pt idx="2">
                  <c:v>40013965.20000001</c:v>
                </c:pt>
                <c:pt idx="3">
                  <c:v>28950501.800000042</c:v>
                </c:pt>
                <c:pt idx="4">
                  <c:v>106166195.84999971</c:v>
                </c:pt>
                <c:pt idx="5">
                  <c:v>12455286.250000013</c:v>
                </c:pt>
                <c:pt idx="6">
                  <c:v>51886266.84999992</c:v>
                </c:pt>
                <c:pt idx="7">
                  <c:v>85928910.649999917</c:v>
                </c:pt>
                <c:pt idx="8">
                  <c:v>0</c:v>
                </c:pt>
                <c:pt idx="9">
                  <c:v>0</c:v>
                </c:pt>
                <c:pt idx="10">
                  <c:v>10112290.100000003</c:v>
                </c:pt>
                <c:pt idx="11">
                  <c:v>7134018.1000000024</c:v>
                </c:pt>
                <c:pt idx="12">
                  <c:v>33822224.149999999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Sheet1!$G$18:$G$30</c15:f>
                <c15:dlblRangeCache>
                  <c:ptCount val="13"/>
                  <c:pt idx="0">
                    <c:v>15%</c:v>
                  </c:pt>
                  <c:pt idx="1">
                    <c:v>21%</c:v>
                  </c:pt>
                  <c:pt idx="2">
                    <c:v>9%</c:v>
                  </c:pt>
                  <c:pt idx="3">
                    <c:v>14%</c:v>
                  </c:pt>
                  <c:pt idx="4">
                    <c:v>40%</c:v>
                  </c:pt>
                  <c:pt idx="5">
                    <c:v>6%</c:v>
                  </c:pt>
                  <c:pt idx="6">
                    <c:v>28%</c:v>
                  </c:pt>
                  <c:pt idx="7">
                    <c:v>50%</c:v>
                  </c:pt>
                  <c:pt idx="10">
                    <c:v>9%</c:v>
                  </c:pt>
                  <c:pt idx="11">
                    <c:v>24%</c:v>
                  </c:pt>
                  <c:pt idx="12">
                    <c:v>42%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5-B6C4-4200-B3C6-6A42B554431A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ТВ Спонс.</c:v>
                </c:pt>
              </c:strCache>
            </c:strRef>
          </c:tx>
          <c:spPr>
            <a:solidFill>
              <a:srgbClr val="99CC00"/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6D7440D-3745-4E8F-8839-83D63C37695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B6C4-4200-B3C6-6A42B554431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50760A80-6B76-4188-A1A9-2EDF1535DA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8-B6C4-4200-B3C6-6A42B554431A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B6C4-4200-B3C6-6A42B554431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017D4AE-F17B-6349-BA77-14B4E77298CE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A-B6C4-4200-B3C6-6A42B554431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34C6AFA6-5514-0C44-BBE2-F08D8FB81D1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B-B6C4-4200-B3C6-6A42B554431A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DEDEC4C-3D23-7D4E-9EBD-7287A8DE245C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C-B6C4-4200-B3C6-6A42B554431A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26F4DBFD-2622-6944-A44C-EAC14DB8CDAA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D-B6C4-4200-B3C6-6A42B554431A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E58380A-B6AF-E543-ADC6-C6F503837A03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E-B6C4-4200-B3C6-6A42B554431A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0B7A0DD6-3E45-4DB1-8F05-DB58AA30CA6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7CF7-4AE5-86C4-33169728B04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4BBE26B-F1B0-DA4E-8AD3-5741FDB4CF27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7CF7-4AE5-86C4-33169728B041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C5BC265-1F08-AD45-ACBF-F96EBD919996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7CF7-4AE5-86C4-33169728B041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4D06A475-76EB-2845-9A09-D8A74D9F87F5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C-7CF7-4AE5-86C4-33169728B041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99850A0C-0807-5C40-AC10-19A09065DE3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7CF7-4AE5-86C4-33169728B04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Sheet1!$A$2:$A$14</c:f>
              <c:strCache>
                <c:ptCount val="13"/>
                <c:pt idx="0">
                  <c:v>МАГНИТ</c:v>
                </c:pt>
                <c:pt idx="1">
                  <c:v>ПЯТЕРОЧКА</c:v>
                </c:pt>
                <c:pt idx="2">
                  <c:v>ПЕРЕКРЕСТОК</c:v>
                </c:pt>
                <c:pt idx="3">
                  <c:v>METRO</c:v>
                </c:pt>
                <c:pt idx="4">
                  <c:v>ЧИЖИК</c:v>
                </c:pt>
                <c:pt idx="5">
                  <c:v>ЛЕНТА</c:v>
                </c:pt>
                <c:pt idx="6">
                  <c:v>АШАН</c:v>
                </c:pt>
                <c:pt idx="7">
                  <c:v>ДИКСИ</c:v>
                </c:pt>
                <c:pt idx="8">
                  <c:v>GLOBUS</c:v>
                </c:pt>
                <c:pt idx="9">
                  <c:v>ВКУСВИЛЛ</c:v>
                </c:pt>
                <c:pt idx="10">
                  <c:v>О'КЕЙ</c:v>
                </c:pt>
                <c:pt idx="11">
                  <c:v>МОНЕТКА</c:v>
                </c:pt>
                <c:pt idx="12">
                  <c:v>Другие</c:v>
                </c:pt>
              </c:strCache>
            </c:strRef>
          </c:cat>
          <c:val>
            <c:numRef>
              <c:f>Sheet1!$H$2:$H$14</c:f>
              <c:numCache>
                <c:formatCode>General</c:formatCode>
                <c:ptCount val="13"/>
                <c:pt idx="0">
                  <c:v>0</c:v>
                </c:pt>
                <c:pt idx="1">
                  <c:v>116771.4</c:v>
                </c:pt>
                <c:pt idx="2">
                  <c:v>2117740.8000000003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2946591.45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Sheet1!$H$18:$H$30</c15:f>
                <c15:dlblRangeCache>
                  <c:ptCount val="13"/>
                  <c:pt idx="8">
                    <c:v>4%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6-B6C4-4200-B3C6-6A42B554431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catAx>
        <c:axId val="322483696"/>
        <c:scaling>
          <c:orientation val="minMax"/>
        </c:scaling>
        <c:delete val="0"/>
        <c:axPos val="b"/>
        <c:numFmt formatCode="General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Algn val="ctr"/>
        <c:lblOffset val="100"/>
        <c:noMultiLvlLbl val="0"/>
      </c:catAx>
      <c:valAx>
        <c:axId val="322483216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cross"/>
        <c:minorTickMark val="none"/>
        <c:tickLblPos val="nextTo"/>
        <c:spPr>
          <a:prstGeom prst="rect">
            <a:avLst/>
          </a:prstGeom>
          <a:noFill/>
          <a:ln>
            <a:solidFill>
              <a:schemeClr val="accent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>
                    <a:lumMod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6.7730000000000004E-3"/>
          <c:y val="0.85618899999999998"/>
          <c:w val="0.94818915646951052"/>
          <c:h val="8.6957407424104752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418756" y="3603078"/>
      <a:ext cx="7129357" cy="299448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Нац. и Рег. ТВ SOV, </a:t>
            </a:r>
            <a:r>
              <a:rPr lang="en-GB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{</a:t>
            </a:r>
            <a:r>
              <a:rPr lang="en-GB" sz="1200" b="1" i="0" u="none" strike="noStrike" kern="1200" spc="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current_month</a:t>
            </a:r>
            <a:r>
              <a:rPr lang="en-GB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}</a:t>
            </a: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 (TRPs , Все 18+)</a:t>
            </a:r>
          </a:p>
        </c:rich>
      </c:tx>
      <c:layout>
        <c:manualLayout>
          <c:xMode val="edge"/>
          <c:yMode val="edge"/>
          <c:x val="4.6263701301156604E-2"/>
          <c:y val="3.3565152307855881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3199971555115778E-2"/>
          <c:y val="0.20410894877735802"/>
          <c:w val="0.311278"/>
          <c:h val="0.504283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Нац. ТВ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DAA5220-F1EF-4A5C-AA8A-CAC6B56429F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EE99-450F-9EC8-7655A5A47740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1CBBFC33-30DD-432D-9C3A-5143D6CF1FD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EE99-450F-9EC8-7655A5A47740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E99-450F-9EC8-7655A5A4774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EE99-450F-9EC8-7655A5A47740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E99-450F-9EC8-7655A5A4774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EE99-450F-9EC8-7655A5A4774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EE99-450F-9EC8-7655A5A4774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EE99-450F-9EC8-7655A5A4774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DE03-4544-8997-A9E260E2EE5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DE03-4544-8997-A9E260E2EE56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0EA28874-F333-47AA-AA81-B4C64507A5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DE03-4544-8997-A9E260E2EE5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Лист1!$A$2:$A$12</c:f>
              <c:strCache>
                <c:ptCount val="11"/>
                <c:pt idx="0">
                  <c:v>ПЯТЕРОЧКА</c:v>
                </c:pt>
                <c:pt idx="1">
                  <c:v>МАГНИТ</c:v>
                </c:pt>
                <c:pt idx="2">
                  <c:v>ПЕРЕКРЕСТОК</c:v>
                </c:pt>
                <c:pt idx="3">
                  <c:v>ДИКСИ</c:v>
                </c:pt>
                <c:pt idx="4">
                  <c:v>ЧИЖИК</c:v>
                </c:pt>
                <c:pt idx="5">
                  <c:v>SPAR</c:v>
                </c:pt>
                <c:pt idx="6">
                  <c:v>METRO</c:v>
                </c:pt>
                <c:pt idx="7">
                  <c:v>ЛЕНТА</c:v>
                </c:pt>
                <c:pt idx="8">
                  <c:v>МОНЕТКА</c:v>
                </c:pt>
                <c:pt idx="9">
                  <c:v>АШАН</c:v>
                </c:pt>
                <c:pt idx="10">
                  <c:v>САМОКАТ</c:v>
                </c:pt>
              </c:strCache>
            </c:strRef>
          </c:cat>
          <c:val>
            <c:numRef>
              <c:f>Лист1!$B$2:$B$12</c:f>
              <c:numCache>
                <c:formatCode>#,##0</c:formatCode>
                <c:ptCount val="11"/>
                <c:pt idx="0">
                  <c:v>4295.1423000000004</c:v>
                </c:pt>
                <c:pt idx="1">
                  <c:v>6005.8433000000005</c:v>
                </c:pt>
                <c:pt idx="2">
                  <c:v>910.32321000000002</c:v>
                </c:pt>
                <c:pt idx="10">
                  <c:v>155.69672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Лист1!$B$14:$B$24</c15:f>
                <c15:dlblRangeCache>
                  <c:ptCount val="11"/>
                  <c:pt idx="0">
                    <c:v>66%</c:v>
                  </c:pt>
                  <c:pt idx="1">
                    <c:v>84%</c:v>
                  </c:pt>
                  <c:pt idx="2">
                    <c:v>70%</c:v>
                  </c:pt>
                  <c:pt idx="10">
                    <c:v>100%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8-EE99-450F-9EC8-7655A5A4774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Рег ТВ</c:v>
                </c:pt>
              </c:strCache>
            </c:strRef>
          </c:tx>
          <c:spPr>
            <a:prstGeom prst="rect">
              <a:avLst/>
            </a:prstGeom>
            <a:solidFill>
              <a:srgbClr val="99CC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D38EEDF-CC88-4D07-8B15-0328F2B0E8B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EE99-450F-9EC8-7655A5A47740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165F09E-EB2C-48B6-B520-2C9F659E2D2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EE99-450F-9EC8-7655A5A47740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FDF14CB-1F61-4A6D-868F-2B65F562D88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EE99-450F-9EC8-7655A5A47740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44C127B-C372-4B57-BEF1-8FCEE20D1FA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EE99-450F-9EC8-7655A5A47740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F989C65-DADD-48F7-951D-9574E15C4D7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EE99-450F-9EC8-7655A5A47740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D9B682AB-5704-42B6-B968-FFA4562E96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EE99-450F-9EC8-7655A5A47740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D240CDA4-336C-414D-B1C9-6D7EE33B198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EE99-450F-9EC8-7655A5A47740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3F2F2A18-8E99-4E8B-9503-A3B88843953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EE99-450F-9EC8-7655A5A47740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D6B46ED7-B667-49AA-AA21-E29A511480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DE03-4544-8997-A9E260E2EE5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11C1D067-909B-4D66-A31C-A092A17FD4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DE03-4544-8997-A9E260E2EE56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E03-4544-8997-A9E260E2EE5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Лист1!$A$2:$A$12</c:f>
              <c:strCache>
                <c:ptCount val="11"/>
                <c:pt idx="0">
                  <c:v>ПЯТЕРОЧКА</c:v>
                </c:pt>
                <c:pt idx="1">
                  <c:v>МАГНИТ</c:v>
                </c:pt>
                <c:pt idx="2">
                  <c:v>ПЕРЕКРЕСТОК</c:v>
                </c:pt>
                <c:pt idx="3">
                  <c:v>ДИКСИ</c:v>
                </c:pt>
                <c:pt idx="4">
                  <c:v>ЧИЖИК</c:v>
                </c:pt>
                <c:pt idx="5">
                  <c:v>SPAR</c:v>
                </c:pt>
                <c:pt idx="6">
                  <c:v>METRO</c:v>
                </c:pt>
                <c:pt idx="7">
                  <c:v>ЛЕНТА</c:v>
                </c:pt>
                <c:pt idx="8">
                  <c:v>МОНЕТКА</c:v>
                </c:pt>
                <c:pt idx="9">
                  <c:v>АШАН</c:v>
                </c:pt>
                <c:pt idx="10">
                  <c:v>САМОКАТ</c:v>
                </c:pt>
              </c:strCache>
            </c:strRef>
          </c:cat>
          <c:val>
            <c:numRef>
              <c:f>Лист1!$C$2:$C$12</c:f>
              <c:numCache>
                <c:formatCode>#,##0</c:formatCode>
                <c:ptCount val="11"/>
                <c:pt idx="0">
                  <c:v>2166.0046200000002</c:v>
                </c:pt>
                <c:pt idx="1">
                  <c:v>1186.2760599999999</c:v>
                </c:pt>
                <c:pt idx="2">
                  <c:v>383.64792999999997</c:v>
                </c:pt>
                <c:pt idx="3">
                  <c:v>690.15916000000004</c:v>
                </c:pt>
                <c:pt idx="4">
                  <c:v>649.13323000000003</c:v>
                </c:pt>
                <c:pt idx="5">
                  <c:v>281.49250000000001</c:v>
                </c:pt>
                <c:pt idx="6">
                  <c:v>43.836820000000003</c:v>
                </c:pt>
                <c:pt idx="7">
                  <c:v>81.903289999999998</c:v>
                </c:pt>
                <c:pt idx="8" formatCode="General">
                  <c:v>69.20438</c:v>
                </c:pt>
                <c:pt idx="9">
                  <c:v>58.154040000000002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Лист1!$C$14:$C$23</c15:f>
                <c15:dlblRangeCache>
                  <c:ptCount val="10"/>
                  <c:pt idx="0">
                    <c:v>34%</c:v>
                  </c:pt>
                  <c:pt idx="1">
                    <c:v>16%</c:v>
                  </c:pt>
                  <c:pt idx="2">
                    <c:v>30%</c:v>
                  </c:pt>
                  <c:pt idx="3">
                    <c:v>100%</c:v>
                  </c:pt>
                  <c:pt idx="4">
                    <c:v>100%</c:v>
                  </c:pt>
                  <c:pt idx="5">
                    <c:v>100%</c:v>
                  </c:pt>
                  <c:pt idx="6">
                    <c:v>100%</c:v>
                  </c:pt>
                  <c:pt idx="7">
                    <c:v>100%</c:v>
                  </c:pt>
                  <c:pt idx="8">
                    <c:v>100%</c:v>
                  </c:pt>
                  <c:pt idx="9">
                    <c:v>100%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1-EE99-450F-9EC8-7655A5A47740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980634112"/>
        <c:axId val="980634592"/>
      </c:barChart>
      <c:catAx>
        <c:axId val="980634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592"/>
        <c:crosses val="autoZero"/>
        <c:auto val="1"/>
        <c:lblAlgn val="ctr"/>
        <c:lblOffset val="100"/>
        <c:noMultiLvlLbl val="0"/>
      </c:catAx>
      <c:valAx>
        <c:axId val="980634592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112"/>
        <c:crosses val="autoZero"/>
        <c:crossBetween val="between"/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2256498708702325"/>
          <c:y val="0.90484035492356973"/>
          <c:w val="0.2056983436432368"/>
          <c:h val="7.5105979150503571E-2"/>
        </c:manualLayout>
      </c:layout>
      <c:overlay val="0"/>
      <c:spPr>
        <a:prstGeom prst="rect">
          <a:avLst/>
        </a:prstGeom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38667" y="4104000"/>
      <a:ext cx="11130843" cy="221262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algn="ctr" rtl="0">
              <a:def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Нац. и Рег. ТВ </a:t>
            </a:r>
            <a:r>
              <a:rPr lang="en-US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SOV, {</a:t>
            </a:r>
            <a:r>
              <a:rPr lang="en-US" sz="1200" b="1" i="0" u="none" strike="noStrike" kern="1200" spc="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ly_first_month</a:t>
            </a:r>
            <a:r>
              <a:rPr lang="en-US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} - {</a:t>
            </a:r>
            <a:r>
              <a:rPr lang="en-US" sz="1200" b="1" i="0" u="none" strike="noStrike" kern="1200" spc="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cur_month</a:t>
            </a:r>
            <a:r>
              <a:rPr lang="en-US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}, </a:t>
            </a: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(</a:t>
            </a:r>
            <a:r>
              <a:rPr lang="en-US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TRPs</a:t>
            </a: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 , Все 18+)</a:t>
            </a:r>
          </a:p>
        </c:rich>
      </c:tx>
      <c:layout>
        <c:manualLayout>
          <c:xMode val="edge"/>
          <c:yMode val="edge"/>
          <c:x val="0.23440237832349992"/>
          <c:y val="3.7584853107625223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3199999999999997E-2"/>
          <c:y val="0.21148"/>
          <c:w val="0.91142999999999996"/>
          <c:h val="0.4985430000000000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Нац ТВ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99B8F8B-A312-4747-9B41-B7AC57EEBC3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B69F-4EFA-AD25-179B341427F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A226AAE-65ED-4E4B-8CC9-5DEB4C47FB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B69F-4EFA-AD25-179B341427FD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EE9484D-9E37-4318-8BED-51E91802A4D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B69F-4EFA-AD25-179B341427FD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58B8C8A-5A44-41E3-BD2B-9CF854301F4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B69F-4EFA-AD25-179B341427FD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44852A4-1485-4ECD-AA8C-614580BCFFA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B69F-4EFA-AD25-179B341427FD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049570E-4338-47DD-88B9-29E2CFC3570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B69F-4EFA-AD25-179B341427FD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0D1424A-B7AE-43DF-AD14-EA00B823BB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B69F-4EFA-AD25-179B341427FD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32C20C4-03D9-432D-8680-F92237A4A6F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B69F-4EFA-AD25-179B341427FD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00DD089-BCA5-49C9-8C01-EBB192ED7DC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B69F-4EFA-AD25-179B341427FD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C832E7BD-4076-43C2-B08E-6959FD2B2D6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B69F-4EFA-AD25-179B341427FD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93C97678-CC14-4C91-9500-5A990C2CE73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B69F-4EFA-AD25-179B341427FD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B35E38FC-A065-41DB-BDDF-510380F9561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B69F-4EFA-AD25-179B341427FD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17645542-1A8B-4EB7-BD79-CF6BBDF33E6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B69F-4EFA-AD25-179B341427FD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61C8C5CC-F172-4093-9A34-D670C753633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B69F-4EFA-AD25-179B341427FD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30A7E515-7CB7-43A1-9F89-CD39A0BB71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B69F-4EFA-AD25-179B341427F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DataLabelsRange val="1"/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Лист1!$B$2:$B$16</c:f>
              <c:numCache>
                <c:formatCode>#,##0</c:formatCode>
                <c:ptCount val="15"/>
                <c:pt idx="0">
                  <c:v>8713.7515500000009</c:v>
                </c:pt>
                <c:pt idx="1">
                  <c:v>12305.820080000003</c:v>
                </c:pt>
                <c:pt idx="2">
                  <c:v>13893.631809999999</c:v>
                </c:pt>
                <c:pt idx="3">
                  <c:v>13016.727499999999</c:v>
                </c:pt>
                <c:pt idx="4">
                  <c:v>13716.23158</c:v>
                </c:pt>
                <c:pt idx="5">
                  <c:v>11255.493079999998</c:v>
                </c:pt>
                <c:pt idx="6">
                  <c:v>10748.416359999997</c:v>
                </c:pt>
                <c:pt idx="7">
                  <c:v>12125.14817</c:v>
                </c:pt>
                <c:pt idx="8">
                  <c:v>12818.9689</c:v>
                </c:pt>
                <c:pt idx="9">
                  <c:v>17189.857319999999</c:v>
                </c:pt>
                <c:pt idx="10">
                  <c:v>14832.560010000001</c:v>
                </c:pt>
                <c:pt idx="11">
                  <c:v>16679.199800000002</c:v>
                </c:pt>
                <c:pt idx="12">
                  <c:v>9925.0277900000001</c:v>
                </c:pt>
                <c:pt idx="13">
                  <c:v>12568.901169999999</c:v>
                </c:pt>
                <c:pt idx="14">
                  <c:v>11393.523150000001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Лист1!$B$20:$B$35</c15:f>
                <c15:dlblRangeCache>
                  <c:ptCount val="16"/>
                  <c:pt idx="0">
                    <c:v>63%</c:v>
                  </c:pt>
                  <c:pt idx="1">
                    <c:v>70%</c:v>
                  </c:pt>
                  <c:pt idx="2">
                    <c:v>72%</c:v>
                  </c:pt>
                  <c:pt idx="3">
                    <c:v>70%</c:v>
                  </c:pt>
                  <c:pt idx="4">
                    <c:v>72%</c:v>
                  </c:pt>
                  <c:pt idx="5">
                    <c:v>70%</c:v>
                  </c:pt>
                  <c:pt idx="6">
                    <c:v>68%</c:v>
                  </c:pt>
                  <c:pt idx="7">
                    <c:v>71%</c:v>
                  </c:pt>
                  <c:pt idx="8">
                    <c:v>72%</c:v>
                  </c:pt>
                  <c:pt idx="9">
                    <c:v>75%</c:v>
                  </c:pt>
                  <c:pt idx="10">
                    <c:v>74%</c:v>
                  </c:pt>
                  <c:pt idx="11">
                    <c:v>73%</c:v>
                  </c:pt>
                  <c:pt idx="12">
                    <c:v>69%</c:v>
                  </c:pt>
                  <c:pt idx="13">
                    <c:v>71%</c:v>
                  </c:pt>
                  <c:pt idx="14">
                    <c:v>67%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8-B69F-4EFA-AD25-179B341427F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Рег ТВ (Rus0+)</c:v>
                </c:pt>
              </c:strCache>
            </c:strRef>
          </c:tx>
          <c:spPr>
            <a:prstGeom prst="rect">
              <a:avLst/>
            </a:prstGeom>
            <a:solidFill>
              <a:srgbClr val="99CC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AE2984E-37CC-4409-94C9-E12FDABCDEE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B69F-4EFA-AD25-179B341427F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B4BF702-AD90-4CAE-89A8-6CFC3618124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B69F-4EFA-AD25-179B341427FD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C0CD47A9-1A93-49D5-9F4F-56519D53F62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B69F-4EFA-AD25-179B341427FD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4DC09A25-AADD-4B4C-969C-6F890616779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C-B69F-4EFA-AD25-179B341427FD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DF5F7F2-9D57-4986-A674-BD763BDCD4E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B69F-4EFA-AD25-179B341427FD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50667EF0-B497-4FD3-9443-CA257050617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E-B69F-4EFA-AD25-179B341427FD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3B013B5-BEC4-4507-A272-6F36C6F104A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F-B69F-4EFA-AD25-179B341427FD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01D8F50-873C-4DDC-87CD-8E3ABBD7DFA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0-B69F-4EFA-AD25-179B341427FD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2650E9F-CA2B-4B03-9CA4-16746EB6675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B69F-4EFA-AD25-179B341427FD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3E7FD366-1B53-4274-9B00-954314BF702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2-B69F-4EFA-AD25-179B341427FD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61511BB7-ED25-4C46-89CC-88F3806B3D9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3-B69F-4EFA-AD25-179B341427FD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D294B147-2632-4283-AB82-E1B32072A55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4-B69F-4EFA-AD25-179B341427FD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D8FC17C8-9327-4752-8706-8A168DE3330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B69F-4EFA-AD25-179B341427FD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CDD0A769-F17C-4FAA-AEC5-D5527B7C4EB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6-B69F-4EFA-AD25-179B341427FD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3E0BC951-8B51-4A08-8BED-5FCF33F573D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7-B69F-4EFA-AD25-179B341427FD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E1854451-8262-43B3-BA9E-06236B2322E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8-B69F-4EFA-AD25-179B341427FD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19860C8D-8B0B-4B5C-8388-0787E77657B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9-B69F-4EFA-AD25-179B341427FD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A703F77A-7DF7-48E7-9D7D-B0A7DED46FC8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A-B69F-4EFA-AD25-179B341427FD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9D3E3C5F-AA7E-4F7F-A930-896AA311685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B-B69F-4EFA-AD25-179B341427FD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5B0AD213-DF02-44C9-BE19-BB9331E144CA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C-B69F-4EFA-AD25-179B341427FD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fld id="{D5A96FAB-12B9-4D37-82A9-3DEECDF8F4C3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D-B69F-4EFA-AD25-179B341427FD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fld id="{2E91BF28-1FCB-491B-B2AA-D194A6E52A7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E-B69F-4EFA-AD25-179B341427FD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fld id="{225B13B8-84DF-41B4-8A51-84C386776E9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B69F-4EFA-AD25-179B341427FD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fld id="{6514C584-887B-40F3-A623-F5C3E71048A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 xmlns:c14="http://schemas.microsoft.com/office/drawing/2007/8/2/chart" xmlns:c15="http://schemas.microsoft.com/office/drawing/2012/chart" xmlns:mc="http://schemas.openxmlformats.org/markup-compatibility/2006"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0-B69F-4EFA-AD25-179B341427F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Лист1!$A$2:$A$16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Лист1!$C$2:$C$16</c:f>
              <c:numCache>
                <c:formatCode>_-* #\ ##0_-;\-* #\ ##0_-;_-* "-"??_-;_-@_-</c:formatCode>
                <c:ptCount val="15"/>
                <c:pt idx="0">
                  <c:v>5139.3592900000003</c:v>
                </c:pt>
                <c:pt idx="1">
                  <c:v>5369.2652799999996</c:v>
                </c:pt>
                <c:pt idx="2">
                  <c:v>5408.9399099999991</c:v>
                </c:pt>
                <c:pt idx="3">
                  <c:v>5518.8288100000009</c:v>
                </c:pt>
                <c:pt idx="4">
                  <c:v>5420.3683900000015</c:v>
                </c:pt>
                <c:pt idx="5">
                  <c:v>4803.51404</c:v>
                </c:pt>
                <c:pt idx="6">
                  <c:v>5067.3341600000003</c:v>
                </c:pt>
                <c:pt idx="7">
                  <c:v>4884.4270299999998</c:v>
                </c:pt>
                <c:pt idx="8">
                  <c:v>5046.6507300000003</c:v>
                </c:pt>
                <c:pt idx="9">
                  <c:v>5680.6249800000005</c:v>
                </c:pt>
                <c:pt idx="10">
                  <c:v>5269.7544099999996</c:v>
                </c:pt>
                <c:pt idx="11">
                  <c:v>6110.3654399999996</c:v>
                </c:pt>
                <c:pt idx="12" formatCode="#,##0">
                  <c:v>4363.5466200000001</c:v>
                </c:pt>
                <c:pt idx="13" formatCode="#,##0">
                  <c:v>5185.7025499999991</c:v>
                </c:pt>
                <c:pt idx="14" formatCode="#,##0">
                  <c:v>5609.8120300000019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5="http://schemas.microsoft.com/office/drawing/2012/chart" uri="{02D57815-91ED-43cb-92C2-25804820EDAC}">
              <c15:datalabelsRange>
                <c15:f>Лист1!$C$20:$C$34</c15:f>
                <c15:dlblRangeCache>
                  <c:ptCount val="15"/>
                  <c:pt idx="0">
                    <c:v>37%</c:v>
                  </c:pt>
                  <c:pt idx="1">
                    <c:v>30%</c:v>
                  </c:pt>
                  <c:pt idx="2">
                    <c:v>28%</c:v>
                  </c:pt>
                  <c:pt idx="3">
                    <c:v>30%</c:v>
                  </c:pt>
                  <c:pt idx="4">
                    <c:v>28%</c:v>
                  </c:pt>
                  <c:pt idx="5">
                    <c:v>30%</c:v>
                  </c:pt>
                  <c:pt idx="6">
                    <c:v>32%</c:v>
                  </c:pt>
                  <c:pt idx="7">
                    <c:v>29%</c:v>
                  </c:pt>
                  <c:pt idx="8">
                    <c:v>28%</c:v>
                  </c:pt>
                  <c:pt idx="9">
                    <c:v>25%</c:v>
                  </c:pt>
                  <c:pt idx="10">
                    <c:v>26%</c:v>
                  </c:pt>
                  <c:pt idx="11">
                    <c:v>27%</c:v>
                  </c:pt>
                  <c:pt idx="12">
                    <c:v>31%</c:v>
                  </c:pt>
                  <c:pt idx="13">
                    <c:v>29%</c:v>
                  </c:pt>
                  <c:pt idx="14">
                    <c:v>33%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31-B69F-4EFA-AD25-179B341427FD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980634112"/>
        <c:axId val="980634592"/>
      </c:barChart>
      <c:dateAx>
        <c:axId val="980634112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592"/>
        <c:crosses val="autoZero"/>
        <c:auto val="1"/>
        <c:lblOffset val="100"/>
        <c:baseTimeUnit val="months"/>
      </c:dateAx>
      <c:valAx>
        <c:axId val="980634592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112"/>
        <c:crosses val="autoZero"/>
        <c:crossBetween val="between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5689601" y="4162471"/>
      <a:ext cx="6163732" cy="221262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278999999999998E-2"/>
          <c:y val="0.14610300000000001"/>
          <c:w val="0.89731799999999995"/>
          <c:h val="0.458372999999999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ср. AWW</c:v>
                </c:pt>
              </c:strCache>
            </c:strRef>
          </c:tx>
          <c:spPr>
            <a:prstGeom prst="rect">
              <a:avLst/>
            </a:prstGeom>
            <a:solidFill>
              <a:srgbClr val="A6A6A6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ctr">
                  <a:defRPr lang="en-US" sz="900" b="0" i="0" u="none" strike="noStrike">
                    <a:solidFill>
                      <a:schemeClr val="bg1"/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Лист1!$A$2:$A$28</c:f>
              <c:strCache>
                <c:ptCount val="27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ИРКУТСК</c:v>
                </c:pt>
                <c:pt idx="20">
                  <c:v>САРАТОВ</c:v>
                </c:pt>
                <c:pt idx="21">
                  <c:v>СТАВРОПОЛЬ</c:v>
                </c:pt>
                <c:pt idx="22">
                  <c:v>ТВЕРЬ</c:v>
                </c:pt>
                <c:pt idx="23">
                  <c:v>ТОМСК</c:v>
                </c:pt>
                <c:pt idx="24">
                  <c:v>ХАБАРОВСК</c:v>
                </c:pt>
                <c:pt idx="25">
                  <c:v>ЧЕЛЯБИНСК</c:v>
                </c:pt>
                <c:pt idx="26">
                  <c:v>ЯРОСЛАВЛЬ</c:v>
                </c:pt>
              </c:strCache>
            </c:strRef>
          </c:cat>
          <c:val>
            <c:numRef>
              <c:f>Лист1!$B$2:$B$28</c:f>
              <c:numCache>
                <c:formatCode>#\ ##0_ ;\-#\ ##0\ </c:formatCode>
                <c:ptCount val="27"/>
                <c:pt idx="0">
                  <c:v>669.27701392857125</c:v>
                </c:pt>
                <c:pt idx="1">
                  <c:v>643.59186250000016</c:v>
                </c:pt>
                <c:pt idx="2">
                  <c:v>760.40044464285722</c:v>
                </c:pt>
                <c:pt idx="3">
                  <c:v>819.84843571428553</c:v>
                </c:pt>
                <c:pt idx="4">
                  <c:v>907.96939928571408</c:v>
                </c:pt>
                <c:pt idx="5">
                  <c:v>838.29757714285734</c:v>
                </c:pt>
                <c:pt idx="6">
                  <c:v>793.77947964285704</c:v>
                </c:pt>
                <c:pt idx="7">
                  <c:v>740.65539321428582</c:v>
                </c:pt>
                <c:pt idx="8">
                  <c:v>871.49000785714293</c:v>
                </c:pt>
                <c:pt idx="9">
                  <c:v>742.41355214285704</c:v>
                </c:pt>
                <c:pt idx="10">
                  <c:v>966.2521982142855</c:v>
                </c:pt>
                <c:pt idx="11">
                  <c:v>721.90540571428573</c:v>
                </c:pt>
                <c:pt idx="12">
                  <c:v>840.73500678571418</c:v>
                </c:pt>
                <c:pt idx="13">
                  <c:v>862.75610142857124</c:v>
                </c:pt>
                <c:pt idx="14">
                  <c:v>990.81439607142852</c:v>
                </c:pt>
                <c:pt idx="15">
                  <c:v>694.27251214285718</c:v>
                </c:pt>
                <c:pt idx="16">
                  <c:v>710.58610357142857</c:v>
                </c:pt>
                <c:pt idx="17">
                  <c:v>846.99415607142851</c:v>
                </c:pt>
                <c:pt idx="18">
                  <c:v>752.78526607142862</c:v>
                </c:pt>
                <c:pt idx="19">
                  <c:v>876.67776678571408</c:v>
                </c:pt>
                <c:pt idx="20">
                  <c:v>706.35450464285714</c:v>
                </c:pt>
                <c:pt idx="21">
                  <c:v>603.06888750000019</c:v>
                </c:pt>
                <c:pt idx="22">
                  <c:v>733.0905692857142</c:v>
                </c:pt>
                <c:pt idx="23">
                  <c:v>764.33514750000052</c:v>
                </c:pt>
                <c:pt idx="24">
                  <c:v>1264.7321685714285</c:v>
                </c:pt>
                <c:pt idx="25">
                  <c:v>799.55383178571424</c:v>
                </c:pt>
                <c:pt idx="26">
                  <c:v>792.74184928571435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285-4115-ADB1-14F25C5E6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359017344"/>
        <c:axId val="359001536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Лист1!$C$1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ln w="50800" cap="rnd">
              <a:solidFill>
                <a:srgbClr val="C00000"/>
              </a:solidFill>
              <a:round/>
            </a:ln>
            <a:effectLst/>
          </c:spPr>
          <c:invertIfNegative val="0"/>
          <c:cat>
            <c:strRef>
              <c:f>Лист1!$A$2:$A$28</c:f>
              <c:strCache>
                <c:ptCount val="27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ИРКУТСК</c:v>
                </c:pt>
                <c:pt idx="20">
                  <c:v>САРАТОВ</c:v>
                </c:pt>
                <c:pt idx="21">
                  <c:v>СТАВРОПОЛЬ</c:v>
                </c:pt>
                <c:pt idx="22">
                  <c:v>ТВЕРЬ</c:v>
                </c:pt>
                <c:pt idx="23">
                  <c:v>ТОМСК</c:v>
                </c:pt>
                <c:pt idx="24">
                  <c:v>ХАБАРОВСК</c:v>
                </c:pt>
                <c:pt idx="25">
                  <c:v>ЧЕЛЯБИНСК</c:v>
                </c:pt>
                <c:pt idx="26">
                  <c:v>ЯРОСЛАВЛЬ</c:v>
                </c:pt>
              </c:strCache>
            </c:strRef>
          </c:cat>
          <c:val>
            <c:numRef>
              <c:f>Лист1!$C$2:$C$28</c:f>
              <c:numCache>
                <c:formatCode>#\ ##0_ ;\-#\ ##0\ </c:formatCode>
                <c:ptCount val="27"/>
                <c:pt idx="0">
                  <c:v>498.37916857142864</c:v>
                </c:pt>
                <c:pt idx="1">
                  <c:v>491.63922071428573</c:v>
                </c:pt>
                <c:pt idx="2">
                  <c:v>553.48364000000004</c:v>
                </c:pt>
                <c:pt idx="3">
                  <c:v>656.46663928571434</c:v>
                </c:pt>
                <c:pt idx="4">
                  <c:v>697.3935035714286</c:v>
                </c:pt>
                <c:pt idx="5">
                  <c:v>629.997885</c:v>
                </c:pt>
                <c:pt idx="6">
                  <c:v>609.7888264285715</c:v>
                </c:pt>
                <c:pt idx="7">
                  <c:v>555.52757214285714</c:v>
                </c:pt>
                <c:pt idx="8">
                  <c:v>698.28131642857147</c:v>
                </c:pt>
                <c:pt idx="9">
                  <c:v>599.04486571428572</c:v>
                </c:pt>
                <c:pt idx="10">
                  <c:v>723.53868857142857</c:v>
                </c:pt>
                <c:pt idx="11">
                  <c:v>530.18058428571419</c:v>
                </c:pt>
                <c:pt idx="12">
                  <c:v>645.07458999999994</c:v>
                </c:pt>
                <c:pt idx="13">
                  <c:v>694.61568928571432</c:v>
                </c:pt>
                <c:pt idx="14">
                  <c:v>710.95632285714294</c:v>
                </c:pt>
                <c:pt idx="15">
                  <c:v>489.73554357142859</c:v>
                </c:pt>
                <c:pt idx="16">
                  <c:v>561.51531071428576</c:v>
                </c:pt>
                <c:pt idx="17">
                  <c:v>667.09669285714301</c:v>
                </c:pt>
                <c:pt idx="18">
                  <c:v>584.97498285714289</c:v>
                </c:pt>
                <c:pt idx="19">
                  <c:v>596.507385</c:v>
                </c:pt>
                <c:pt idx="20">
                  <c:v>535.9792707142858</c:v>
                </c:pt>
                <c:pt idx="21">
                  <c:v>480.24344285714284</c:v>
                </c:pt>
                <c:pt idx="22">
                  <c:v>611.00210357142862</c:v>
                </c:pt>
                <c:pt idx="23">
                  <c:v>577.27285642857146</c:v>
                </c:pt>
                <c:pt idx="24">
                  <c:v>993.71000071428557</c:v>
                </c:pt>
                <c:pt idx="25">
                  <c:v>640.4577392857143</c:v>
                </c:pt>
                <c:pt idx="26">
                  <c:v>579.47329214285708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285-4115-ADB1-14F25C5E60B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ln>
              <a:solidFill>
                <a:srgbClr val="CC3399"/>
              </a:solidFill>
            </a:ln>
          </c:spPr>
          <c:invertIfNegative val="0"/>
          <c:cat>
            <c:strRef>
              <c:f>Лист1!$A$2:$A$28</c:f>
              <c:strCache>
                <c:ptCount val="27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ИРКУТСК</c:v>
                </c:pt>
                <c:pt idx="20">
                  <c:v>САРАТОВ</c:v>
                </c:pt>
                <c:pt idx="21">
                  <c:v>СТАВРОПОЛЬ</c:v>
                </c:pt>
                <c:pt idx="22">
                  <c:v>ТВЕРЬ</c:v>
                </c:pt>
                <c:pt idx="23">
                  <c:v>ТОМСК</c:v>
                </c:pt>
                <c:pt idx="24">
                  <c:v>ХАБАРОВСК</c:v>
                </c:pt>
                <c:pt idx="25">
                  <c:v>ЧЕЛЯБИНСК</c:v>
                </c:pt>
                <c:pt idx="26">
                  <c:v>ЯРОСЛАВЛЬ</c:v>
                </c:pt>
              </c:strCache>
            </c:strRef>
          </c:cat>
          <c:val>
            <c:numRef>
              <c:f>Лист1!$D$2:$D$28</c:f>
              <c:numCache>
                <c:formatCode>#\ ##0_ ;\-#\ ##0\ </c:formatCode>
                <c:ptCount val="27"/>
                <c:pt idx="0">
                  <c:v>840.17485928571443</c:v>
                </c:pt>
                <c:pt idx="1">
                  <c:v>795.54450428571431</c:v>
                </c:pt>
                <c:pt idx="2">
                  <c:v>967.31724928571418</c:v>
                </c:pt>
                <c:pt idx="3">
                  <c:v>983.23023214285706</c:v>
                </c:pt>
                <c:pt idx="4">
                  <c:v>1118.5452950000001</c:v>
                </c:pt>
                <c:pt idx="5">
                  <c:v>1046.5972692857142</c:v>
                </c:pt>
                <c:pt idx="6">
                  <c:v>977.77013285714293</c:v>
                </c:pt>
                <c:pt idx="7">
                  <c:v>925.78321428571428</c:v>
                </c:pt>
                <c:pt idx="8">
                  <c:v>1044.6986992857142</c:v>
                </c:pt>
                <c:pt idx="9">
                  <c:v>885.78223857142871</c:v>
                </c:pt>
                <c:pt idx="10">
                  <c:v>1208.9657078571431</c:v>
                </c:pt>
                <c:pt idx="11">
                  <c:v>913.63022714285728</c:v>
                </c:pt>
                <c:pt idx="12">
                  <c:v>1036.3954235714284</c:v>
                </c:pt>
                <c:pt idx="13">
                  <c:v>1030.8965135714286</c:v>
                </c:pt>
                <c:pt idx="14">
                  <c:v>1270.6724692857144</c:v>
                </c:pt>
                <c:pt idx="15">
                  <c:v>898.80948071428588</c:v>
                </c:pt>
                <c:pt idx="16">
                  <c:v>859.65689642857137</c:v>
                </c:pt>
                <c:pt idx="17">
                  <c:v>1026.8916192857141</c:v>
                </c:pt>
                <c:pt idx="18">
                  <c:v>920.59554928571436</c:v>
                </c:pt>
                <c:pt idx="19">
                  <c:v>1156.8481485714285</c:v>
                </c:pt>
                <c:pt idx="20">
                  <c:v>876.72973857142858</c:v>
                </c:pt>
                <c:pt idx="21">
                  <c:v>725.89433214285725</c:v>
                </c:pt>
                <c:pt idx="22">
                  <c:v>855.179035</c:v>
                </c:pt>
                <c:pt idx="23">
                  <c:v>951.39743857142855</c:v>
                </c:pt>
                <c:pt idx="24">
                  <c:v>1535.7543364285714</c:v>
                </c:pt>
                <c:pt idx="25">
                  <c:v>958.64992428571441</c:v>
                </c:pt>
                <c:pt idx="26">
                  <c:v>1006.0104064285715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285-4115-ADB1-14F25C5E6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50162736"/>
        <c:axId val="450160240"/>
      </c:bar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0"/>
      </c:catAx>
      <c:valAx>
        <c:axId val="359001536"/>
        <c:scaling>
          <c:orientation val="minMax"/>
          <c:max val="30"/>
        </c:scaling>
        <c:delete val="1"/>
        <c:axPos val="l"/>
        <c:numFmt formatCode="#\ ##0_ ;\-#\ ##0\ " sourceLinked="1"/>
        <c:majorTickMark val="none"/>
        <c:minorTickMark val="none"/>
        <c:tickLblPos val="nextTo"/>
        <c:crossAx val="359017344"/>
        <c:crosses val="autoZero"/>
        <c:crossBetween val="between"/>
        <c:majorUnit val="5"/>
      </c:valAx>
      <c:valAx>
        <c:axId val="450160240"/>
        <c:scaling>
          <c:orientation val="minMax"/>
          <c:min val="0"/>
        </c:scaling>
        <c:delete val="0"/>
        <c:axPos val="r"/>
        <c:numFmt formatCode="#\ ##0_ ;\-#\ ##0\ 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450162736"/>
        <c:crosses val="max"/>
        <c:crossBetween val="between"/>
      </c:valAx>
      <c:catAx>
        <c:axId val="4501627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160240"/>
        <c:crosses val="autoZero"/>
        <c:auto val="1"/>
        <c:lblAlgn val="ctr"/>
        <c:lblOffset val="100"/>
        <c:noMultiLvlLbl val="0"/>
      </c:cat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12259399999999999"/>
          <c:y val="5.2822000000000001E-2"/>
          <c:w val="0.70681947211646667"/>
          <c:h val="0.11835537095606449"/>
        </c:manualLayout>
      </c:layout>
      <c:overlay val="0"/>
      <c:txPr>
        <a:bodyPr/>
        <a:lstStyle/>
        <a:p>
          <a:pPr>
            <a:defRPr sz="900">
              <a:latin typeface="+mn-lt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477176" y="1569156"/>
      <a:ext cx="10795601" cy="404142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278999999999998E-2"/>
          <c:y val="0.14610300000000001"/>
          <c:w val="0.89731799999999995"/>
          <c:h val="0.458372999999999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ср. AWW</c:v>
                </c:pt>
              </c:strCache>
            </c:strRef>
          </c:tx>
          <c:spPr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ctr">
                  <a:defRPr lang="en-US" sz="900" b="0" i="0" u="none" strike="noStrike">
                    <a:solidFill>
                      <a:schemeClr val="bg1"/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Лист1!$A$2:$A$27</c:f>
              <c:strCache>
                <c:ptCount val="26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САРАТОВ</c:v>
                </c:pt>
                <c:pt idx="20">
                  <c:v>СТАВРОПОЛЬ</c:v>
                </c:pt>
                <c:pt idx="21">
                  <c:v>ТВЕРЬ</c:v>
                </c:pt>
                <c:pt idx="22">
                  <c:v>ТОМСК</c:v>
                </c:pt>
                <c:pt idx="23">
                  <c:v>ХАБАРОВСК</c:v>
                </c:pt>
                <c:pt idx="24">
                  <c:v>ЧЕЛЯБИНСК</c:v>
                </c:pt>
                <c:pt idx="25">
                  <c:v>ЯРОСЛАВЛЬ</c:v>
                </c:pt>
              </c:strCache>
            </c:strRef>
          </c:cat>
          <c:val>
            <c:numRef>
              <c:f>Лист1!$B$2:$B$27</c:f>
              <c:numCache>
                <c:formatCode>#\ ##0_ ;\-#\ ##0\ </c:formatCode>
                <c:ptCount val="26"/>
                <c:pt idx="0">
                  <c:v>1266.9973232142859</c:v>
                </c:pt>
                <c:pt idx="1">
                  <c:v>1149.0284067857144</c:v>
                </c:pt>
                <c:pt idx="2">
                  <c:v>1087.6612860714285</c:v>
                </c:pt>
                <c:pt idx="3">
                  <c:v>1024.3758178571429</c:v>
                </c:pt>
                <c:pt idx="4">
                  <c:v>1251.9826742857144</c:v>
                </c:pt>
                <c:pt idx="5">
                  <c:v>938.73217285714259</c:v>
                </c:pt>
                <c:pt idx="6">
                  <c:v>1184.4257889285714</c:v>
                </c:pt>
                <c:pt idx="7">
                  <c:v>716.10783892857137</c:v>
                </c:pt>
                <c:pt idx="8">
                  <c:v>840.74970678571424</c:v>
                </c:pt>
                <c:pt idx="9">
                  <c:v>818.92672464285704</c:v>
                </c:pt>
                <c:pt idx="10">
                  <c:v>1108.1960889285715</c:v>
                </c:pt>
                <c:pt idx="11">
                  <c:v>641.68873964285717</c:v>
                </c:pt>
                <c:pt idx="12">
                  <c:v>1316.0613028571427</c:v>
                </c:pt>
                <c:pt idx="13">
                  <c:v>1098.2399514285717</c:v>
                </c:pt>
                <c:pt idx="14">
                  <c:v>988.65140785714277</c:v>
                </c:pt>
                <c:pt idx="15">
                  <c:v>861.55390964285709</c:v>
                </c:pt>
                <c:pt idx="16">
                  <c:v>465.24950142857142</c:v>
                </c:pt>
                <c:pt idx="17">
                  <c:v>484.41864857142855</c:v>
                </c:pt>
                <c:pt idx="18">
                  <c:v>677.3207082142859</c:v>
                </c:pt>
                <c:pt idx="19">
                  <c:v>719.62666214285696</c:v>
                </c:pt>
                <c:pt idx="20">
                  <c:v>761.33105785714292</c:v>
                </c:pt>
                <c:pt idx="21">
                  <c:v>610.8082121428572</c:v>
                </c:pt>
                <c:pt idx="22">
                  <c:v>292.0167228571429</c:v>
                </c:pt>
                <c:pt idx="23">
                  <c:v>921.46715071428571</c:v>
                </c:pt>
                <c:pt idx="24">
                  <c:v>1016.2608735714286</c:v>
                </c:pt>
                <c:pt idx="25">
                  <c:v>597.94289857142849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26C-43F3-A830-9F7FE6D941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359017344"/>
        <c:axId val="359001536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Лист1!$C$1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ln w="50800" cap="rnd">
              <a:solidFill>
                <a:srgbClr val="C00000"/>
              </a:solidFill>
              <a:round/>
            </a:ln>
            <a:effectLst/>
          </c:spPr>
          <c:invertIfNegative val="0"/>
          <c:cat>
            <c:strRef>
              <c:f>Лист1!$A$2:$A$27</c:f>
              <c:strCache>
                <c:ptCount val="26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САРАТОВ</c:v>
                </c:pt>
                <c:pt idx="20">
                  <c:v>СТАВРОПОЛЬ</c:v>
                </c:pt>
                <c:pt idx="21">
                  <c:v>ТВЕРЬ</c:v>
                </c:pt>
                <c:pt idx="22">
                  <c:v>ТОМСК</c:v>
                </c:pt>
                <c:pt idx="23">
                  <c:v>ХАБАРОВСК</c:v>
                </c:pt>
                <c:pt idx="24">
                  <c:v>ЧЕЛЯБИНСК</c:v>
                </c:pt>
                <c:pt idx="25">
                  <c:v>ЯРОСЛАВЛЬ</c:v>
                </c:pt>
              </c:strCache>
            </c:strRef>
          </c:cat>
          <c:val>
            <c:numRef>
              <c:f>Лист1!$C$2:$C$27</c:f>
              <c:numCache>
                <c:formatCode>#\ ##0_ ;\-#\ ##0\ </c:formatCode>
                <c:ptCount val="26"/>
                <c:pt idx="0">
                  <c:v>1502.4499128571426</c:v>
                </c:pt>
                <c:pt idx="1">
                  <c:v>1375.9275949999999</c:v>
                </c:pt>
                <c:pt idx="2">
                  <c:v>1151.495757857143</c:v>
                </c:pt>
                <c:pt idx="3">
                  <c:v>1418.2325114285718</c:v>
                </c:pt>
                <c:pt idx="4">
                  <c:v>1396.9581778571428</c:v>
                </c:pt>
                <c:pt idx="5">
                  <c:v>1235.7938978571426</c:v>
                </c:pt>
                <c:pt idx="6">
                  <c:v>1230.3130614285712</c:v>
                </c:pt>
                <c:pt idx="7">
                  <c:v>1215.1078742857146</c:v>
                </c:pt>
                <c:pt idx="8">
                  <c:v>1356.2585278571428</c:v>
                </c:pt>
                <c:pt idx="9">
                  <c:v>1121.6410564285713</c:v>
                </c:pt>
                <c:pt idx="10">
                  <c:v>1155.0795114285715</c:v>
                </c:pt>
                <c:pt idx="11">
                  <c:v>934.1318142857142</c:v>
                </c:pt>
                <c:pt idx="12">
                  <c:v>1418.4144121428574</c:v>
                </c:pt>
                <c:pt idx="13">
                  <c:v>1171.9948457142857</c:v>
                </c:pt>
                <c:pt idx="14">
                  <c:v>1113.853985714286</c:v>
                </c:pt>
                <c:pt idx="15">
                  <c:v>1062.5258292857143</c:v>
                </c:pt>
                <c:pt idx="16">
                  <c:v>650.96620642857135</c:v>
                </c:pt>
                <c:pt idx="17">
                  <c:v>484.41864857142855</c:v>
                </c:pt>
                <c:pt idx="18">
                  <c:v>1177.1085992857145</c:v>
                </c:pt>
                <c:pt idx="19">
                  <c:v>1025.4793235714285</c:v>
                </c:pt>
                <c:pt idx="20">
                  <c:v>956.48222499999997</c:v>
                </c:pt>
                <c:pt idx="21">
                  <c:v>1088.1697185714286</c:v>
                </c:pt>
                <c:pt idx="22">
                  <c:v>451.38467428571431</c:v>
                </c:pt>
                <c:pt idx="23">
                  <c:v>921.46715071428571</c:v>
                </c:pt>
                <c:pt idx="24">
                  <c:v>1139.2620435714286</c:v>
                </c:pt>
                <c:pt idx="25">
                  <c:v>882.66320928571429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26C-43F3-A830-9F7FE6D941A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ln>
              <a:solidFill>
                <a:srgbClr val="CC3399"/>
              </a:solidFill>
            </a:ln>
          </c:spPr>
          <c:invertIfNegative val="0"/>
          <c:cat>
            <c:strRef>
              <c:f>Лист1!$A$2:$A$27</c:f>
              <c:strCache>
                <c:ptCount val="26"/>
                <c:pt idx="0">
                  <c:v>МОСКВА</c:v>
                </c:pt>
                <c:pt idx="1">
                  <c:v>САНКТ-ПЕТЕРБУРГ</c:v>
                </c:pt>
                <c:pt idx="2">
                  <c:v>ВОЛГОГРАД</c:v>
                </c:pt>
                <c:pt idx="3">
                  <c:v>ВОРОНЕЖ</c:v>
                </c:pt>
                <c:pt idx="4">
                  <c:v>ЕКАТЕРИНБУРГ</c:v>
                </c:pt>
                <c:pt idx="5">
                  <c:v>КАЗАНЬ</c:v>
                </c:pt>
                <c:pt idx="6">
                  <c:v>КРАСНОДАР</c:v>
                </c:pt>
                <c:pt idx="7">
                  <c:v>КРАСНОЯРСК</c:v>
                </c:pt>
                <c:pt idx="8">
                  <c:v>НИЖНИЙ НОВГОРОД</c:v>
                </c:pt>
                <c:pt idx="9">
                  <c:v>НОВОСИБИРСК</c:v>
                </c:pt>
                <c:pt idx="10">
                  <c:v>ОМСК</c:v>
                </c:pt>
                <c:pt idx="11">
                  <c:v>ПЕРМЬ</c:v>
                </c:pt>
                <c:pt idx="12">
                  <c:v>РОСТОВ-НА-ДОНУ</c:v>
                </c:pt>
                <c:pt idx="13">
                  <c:v>САМАРА</c:v>
                </c:pt>
                <c:pt idx="14">
                  <c:v>ТЮМЕНЬ</c:v>
                </c:pt>
                <c:pt idx="15">
                  <c:v>УФА</c:v>
                </c:pt>
                <c:pt idx="16">
                  <c:v>БАРНАУЛ</c:v>
                </c:pt>
                <c:pt idx="17">
                  <c:v>ВЛАДИВОСТОК</c:v>
                </c:pt>
                <c:pt idx="18">
                  <c:v>КЕМЕРОВО</c:v>
                </c:pt>
                <c:pt idx="19">
                  <c:v>САРАТОВ</c:v>
                </c:pt>
                <c:pt idx="20">
                  <c:v>СТАВРОПОЛЬ</c:v>
                </c:pt>
                <c:pt idx="21">
                  <c:v>ТВЕРЬ</c:v>
                </c:pt>
                <c:pt idx="22">
                  <c:v>ТОМСК</c:v>
                </c:pt>
                <c:pt idx="23">
                  <c:v>ХАБАРОВСК</c:v>
                </c:pt>
                <c:pt idx="24">
                  <c:v>ЧЕЛЯБИНСК</c:v>
                </c:pt>
                <c:pt idx="25">
                  <c:v>ЯРОСЛАВЛЬ</c:v>
                </c:pt>
              </c:strCache>
            </c:strRef>
          </c:cat>
          <c:val>
            <c:numRef>
              <c:f>Лист1!$D$2:$D$27</c:f>
              <c:numCache>
                <c:formatCode>#\ ##0_ ;\-#\ ##0\ </c:formatCode>
                <c:ptCount val="26"/>
                <c:pt idx="0">
                  <c:v>1031.5447335714284</c:v>
                </c:pt>
                <c:pt idx="1">
                  <c:v>922.12921857142851</c:v>
                </c:pt>
                <c:pt idx="2">
                  <c:v>1023.8268142857142</c:v>
                </c:pt>
                <c:pt idx="3">
                  <c:v>630.51912428571438</c:v>
                </c:pt>
                <c:pt idx="4">
                  <c:v>1107.0071707142856</c:v>
                </c:pt>
                <c:pt idx="5">
                  <c:v>641.67044785714279</c:v>
                </c:pt>
                <c:pt idx="6">
                  <c:v>1138.5385164285715</c:v>
                </c:pt>
                <c:pt idx="7">
                  <c:v>217.10780357142852</c:v>
                </c:pt>
                <c:pt idx="8">
                  <c:v>325.24088571428581</c:v>
                </c:pt>
                <c:pt idx="9">
                  <c:v>516.21239285714285</c:v>
                </c:pt>
                <c:pt idx="10">
                  <c:v>1061.3126664285714</c:v>
                </c:pt>
                <c:pt idx="11">
                  <c:v>349.24566499999997</c:v>
                </c:pt>
                <c:pt idx="12">
                  <c:v>1213.7081935714284</c:v>
                </c:pt>
                <c:pt idx="13">
                  <c:v>1024.4850571428572</c:v>
                </c:pt>
                <c:pt idx="14">
                  <c:v>863.44883000000016</c:v>
                </c:pt>
                <c:pt idx="15">
                  <c:v>660.58199000000002</c:v>
                </c:pt>
                <c:pt idx="16">
                  <c:v>279.53279642857149</c:v>
                </c:pt>
                <c:pt idx="18">
                  <c:v>177.53281714285717</c:v>
                </c:pt>
                <c:pt idx="19">
                  <c:v>413.77400071428571</c:v>
                </c:pt>
                <c:pt idx="20">
                  <c:v>566.17989071428565</c:v>
                </c:pt>
                <c:pt idx="21">
                  <c:v>133.44670571428574</c:v>
                </c:pt>
                <c:pt idx="22">
                  <c:v>132.64877142857142</c:v>
                </c:pt>
                <c:pt idx="24">
                  <c:v>893.25970357142864</c:v>
                </c:pt>
                <c:pt idx="25">
                  <c:v>313.22258785714286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26C-43F3-A830-9F7FE6D941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50162736"/>
        <c:axId val="450160240"/>
      </c:bar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0"/>
      </c:catAx>
      <c:valAx>
        <c:axId val="359001536"/>
        <c:scaling>
          <c:orientation val="minMax"/>
          <c:max val="30"/>
        </c:scaling>
        <c:delete val="1"/>
        <c:axPos val="l"/>
        <c:numFmt formatCode="#\ ##0_ ;\-#\ ##0\ " sourceLinked="1"/>
        <c:majorTickMark val="none"/>
        <c:minorTickMark val="none"/>
        <c:tickLblPos val="nextTo"/>
        <c:crossAx val="359017344"/>
        <c:crosses val="autoZero"/>
        <c:crossBetween val="between"/>
        <c:majorUnit val="5"/>
      </c:valAx>
      <c:valAx>
        <c:axId val="450160240"/>
        <c:scaling>
          <c:orientation val="minMax"/>
          <c:min val="0"/>
        </c:scaling>
        <c:delete val="0"/>
        <c:axPos val="r"/>
        <c:numFmt formatCode="#\ ##0_ ;\-#\ ##0\ 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450162736"/>
        <c:crosses val="max"/>
        <c:crossBetween val="between"/>
      </c:valAx>
      <c:catAx>
        <c:axId val="4501627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160240"/>
        <c:crosses val="autoZero"/>
        <c:auto val="1"/>
        <c:lblAlgn val="ctr"/>
        <c:lblOffset val="100"/>
        <c:noMultiLvlLbl val="0"/>
      </c:cat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12259399999999999"/>
          <c:y val="5.2822000000000001E-2"/>
          <c:w val="0.70681947211646667"/>
          <c:h val="0.11835537095606449"/>
        </c:manualLayout>
      </c:layout>
      <c:overlay val="0"/>
    </c:legend>
    <c:plotVisOnly val="1"/>
    <c:dispBlanksAs val="gap"/>
    <c:showDLblsOverMax val="0"/>
  </c:chart>
  <c:spPr>
    <a:xfrm>
      <a:off x="477176" y="1569156"/>
      <a:ext cx="10795601" cy="404142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241535"/>
          <c:w val="0.89731799999999995"/>
          <c:h val="0.500843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ПЯТЕРОЧКА_AWW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/>
                    </a:solidFill>
                    <a:highlight>
                      <a:srgbClr val="00FF99"/>
                    </a:highlight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Лист1!$A$2:$A$32</c:f>
              <c:numCache>
                <c:formatCode>mmm\-yy</c:formatCode>
                <c:ptCount val="19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46025</c:v>
                </c:pt>
                <c:pt idx="13">
                  <c:v>46056</c:v>
                </c:pt>
                <c:pt idx="14">
                  <c:v>46084</c:v>
                </c:pt>
              </c:numCache>
            </c:numRef>
          </c:cat>
          <c:val>
            <c:numRef>
              <c:f>Лист1!$B$2:$B$32</c:f>
              <c:numCache>
                <c:formatCode>_-* #\ ##0_-;\-* #\ ##0_-;_-* "-"??_-;_-@_-</c:formatCode>
                <c:ptCount val="19"/>
                <c:pt idx="0">
                  <c:v>28</c:v>
                </c:pt>
                <c:pt idx="1">
                  <c:v>34.5</c:v>
                </c:pt>
                <c:pt idx="2">
                  <c:v>45</c:v>
                </c:pt>
                <c:pt idx="3">
                  <c:v>42.6</c:v>
                </c:pt>
                <c:pt idx="4">
                  <c:v>47.75</c:v>
                </c:pt>
                <c:pt idx="5">
                  <c:v>43.5</c:v>
                </c:pt>
                <c:pt idx="6">
                  <c:v>40</c:v>
                </c:pt>
                <c:pt idx="7">
                  <c:v>38</c:v>
                </c:pt>
                <c:pt idx="8">
                  <c:v>39.5</c:v>
                </c:pt>
                <c:pt idx="9">
                  <c:v>55</c:v>
                </c:pt>
                <c:pt idx="10">
                  <c:v>45.25</c:v>
                </c:pt>
                <c:pt idx="11">
                  <c:v>42</c:v>
                </c:pt>
                <c:pt idx="12">
                  <c:v>14</c:v>
                </c:pt>
                <c:pt idx="13">
                  <c:v>22.5</c:v>
                </c:pt>
                <c:pt idx="14">
                  <c:v>21.75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B4-48D2-83E1-272FD99383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lineChart>
        <c:grouping val="standard"/>
        <c:varyColors val="0"/>
        <c:ser>
          <c:idx val="1"/>
          <c:order val="1"/>
          <c:tx>
            <c:strRef>
              <c:f>Лист1!#REF!</c:f>
              <c:strCache>
                <c:ptCount val="1"/>
                <c:pt idx="0">
                  <c:v>#REF!</c:v>
                </c:pt>
              </c:strCache>
            </c:strRef>
          </c:tx>
          <c:spPr>
            <a:prstGeom prst="rect">
              <a:avLst/>
            </a:prstGeom>
            <a:ln w="508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dLbls>
            <c:dLbl>
              <c:idx val="2"/>
              <c:layout>
                <c:manualLayout>
                  <c:x val="-3.8827374321528614E-2"/>
                  <c:y val="-0.1754265427274651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424-4AF9-AF35-D06417062B90}"/>
                </c:ext>
              </c:extLst>
            </c:dLbl>
            <c:dLbl>
              <c:idx val="3"/>
              <c:layout>
                <c:manualLayout>
                  <c:x val="-4.1280145914802689E-2"/>
                  <c:y val="-9.546576758015561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2B4-48D2-83E1-272FD9938344}"/>
                </c:ext>
              </c:extLst>
            </c:dLbl>
            <c:dLbl>
              <c:idx val="4"/>
              <c:layout>
                <c:manualLayout>
                  <c:x val="-4.1280145914802731E-2"/>
                  <c:y val="-0.205411833407706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424-4AF9-AF35-D06417062B90}"/>
                </c:ext>
              </c:extLst>
            </c:dLbl>
            <c:dLbl>
              <c:idx val="5"/>
              <c:layout>
                <c:manualLayout>
                  <c:x val="-4.3732917508076806E-2"/>
                  <c:y val="-0.1604338973873446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424-4AF9-AF35-D06417062B90}"/>
                </c:ext>
              </c:extLst>
            </c:dLbl>
            <c:dLbl>
              <c:idx val="6"/>
              <c:layout>
                <c:manualLayout>
                  <c:x val="-3.8827374321528614E-2"/>
                  <c:y val="-0.1304486067071036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424-4AF9-AF35-D06417062B90}"/>
                </c:ext>
              </c:extLst>
            </c:dLbl>
            <c:dLbl>
              <c:idx val="7"/>
              <c:layout>
                <c:manualLayout>
                  <c:x val="-4.3732917508076764E-2"/>
                  <c:y val="-0.1404437036005173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424-4AF9-AF35-D06417062B90}"/>
                </c:ext>
              </c:extLst>
            </c:dLbl>
            <c:dLbl>
              <c:idx val="8"/>
              <c:layout>
                <c:manualLayout>
                  <c:x val="-3.8827374321528704E-2"/>
                  <c:y val="-0.1304486067071035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424-4AF9-AF35-D06417062B90}"/>
                </c:ext>
              </c:extLst>
            </c:dLbl>
            <c:dLbl>
              <c:idx val="9"/>
              <c:layout>
                <c:manualLayout>
                  <c:x val="-4.1280145914802689E-2"/>
                  <c:y val="-0.27037996321489538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424-4AF9-AF35-D06417062B90}"/>
                </c:ext>
              </c:extLst>
            </c:dLbl>
            <c:dLbl>
              <c:idx val="10"/>
              <c:layout>
                <c:manualLayout>
                  <c:x val="-4.1280145914802689E-2"/>
                  <c:y val="-0.1104584129202761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424-4AF9-AF35-D06417062B90}"/>
                </c:ext>
              </c:extLst>
            </c:dLbl>
            <c:dLbl>
              <c:idx val="11"/>
              <c:layout>
                <c:manualLayout>
                  <c:x val="-4.1280145914802689E-2"/>
                  <c:y val="-0.1954167365142926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2B4-48D2-83E1-272FD9938344}"/>
                </c:ext>
              </c:extLst>
            </c:dLbl>
            <c:dLbl>
              <c:idx val="12"/>
              <c:layout>
                <c:manualLayout>
                  <c:x val="-3.8827374321528704E-2"/>
                  <c:y val="-0.1004633160268624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2B4-48D2-83E1-272FD993834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Лист1!$A$2:$A$28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46025</c:v>
                </c:pt>
                <c:pt idx="13">
                  <c:v>46056</c:v>
                </c:pt>
                <c:pt idx="14">
                  <c:v>46084</c:v>
                </c:pt>
              </c:numCache>
            </c:numRef>
          </c:cat>
          <c:val>
            <c:numRef>
              <c:f>Лист1!#REF!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6-D2B4-48D2-83E1-272FD99383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162736"/>
        <c:axId val="450160240"/>
      </c:lineChart>
      <c:dateAx>
        <c:axId val="3590173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Offset val="100"/>
        <c:baseTimeUnit val="months"/>
      </c:dateAx>
      <c:valAx>
        <c:axId val="359001536"/>
        <c:scaling>
          <c:orientation val="minMax"/>
          <c:max val="80"/>
          <c:min val="0"/>
        </c:scaling>
        <c:delete val="0"/>
        <c:axPos val="l"/>
        <c:numFmt formatCode="_-* #\ ##0_-;\-* #\ ##0_-;_-* &quot;-&quot;??_-;_-@_-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20"/>
      </c:valAx>
      <c:valAx>
        <c:axId val="450160240"/>
        <c:scaling>
          <c:orientation val="minMax"/>
          <c:max val="14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450162736"/>
        <c:crosses val="max"/>
        <c:crossBetween val="between"/>
        <c:majorUnit val="20"/>
      </c:valAx>
      <c:dateAx>
        <c:axId val="450162736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450160240"/>
        <c:crosses val="autoZero"/>
        <c:auto val="1"/>
        <c:lblOffset val="100"/>
        <c:baseTimeUnit val="days"/>
      </c:date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"/>
        <c:delete val="1"/>
      </c:legendEntry>
      <c:layout>
        <c:manualLayout>
          <c:xMode val="edge"/>
          <c:yMode val="edge"/>
          <c:x val="0.24647090588000814"/>
          <c:y val="8.7154883864057245E-2"/>
          <c:w val="0.56349300000000002"/>
          <c:h val="0.138243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5ka Sans Design"/>
              <a:cs typeface="5ka Sans Design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918184" y="1373552"/>
      <a:ext cx="5177816" cy="2541246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33742800000000001"/>
          <c:w val="0.87501244811966217"/>
          <c:h val="0.464227526496564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МАГНИТ_AWW</c:v>
                </c:pt>
              </c:strCache>
            </c:strRef>
          </c:tx>
          <c:spPr>
            <a:prstGeom prst="rect">
              <a:avLst/>
            </a:prstGeom>
            <a:solidFill>
              <a:srgbClr val="DC1D0E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ctr">
                  <a:defRPr lang="en-US" sz="8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highlight>
                      <a:srgbClr val="00FFFF"/>
                    </a:highlight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numRef>
              <c:f>Лист1!$A$2:$A$28</c:f>
              <c:numCache>
                <c:formatCode>mmm\-yy</c:formatCode>
                <c:ptCount val="15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45963</c:v>
                </c:pt>
                <c:pt idx="11">
                  <c:v>45994</c:v>
                </c:pt>
                <c:pt idx="12">
                  <c:v>46025</c:v>
                </c:pt>
                <c:pt idx="13">
                  <c:v>46056</c:v>
                </c:pt>
                <c:pt idx="14">
                  <c:v>46084</c:v>
                </c:pt>
              </c:numCache>
            </c:numRef>
          </c:cat>
          <c:val>
            <c:numRef>
              <c:f>Лист1!$B$2:$B$28</c:f>
              <c:numCache>
                <c:formatCode>_-* #\ ##0_-;\-* #\ ##0_-;_-* "-"??_-;_-@_-</c:formatCode>
                <c:ptCount val="15"/>
                <c:pt idx="0">
                  <c:v>22.2</c:v>
                </c:pt>
                <c:pt idx="1">
                  <c:v>34.75</c:v>
                </c:pt>
                <c:pt idx="2">
                  <c:v>34</c:v>
                </c:pt>
                <c:pt idx="3">
                  <c:v>29</c:v>
                </c:pt>
                <c:pt idx="4">
                  <c:v>26.25</c:v>
                </c:pt>
                <c:pt idx="5">
                  <c:v>32</c:v>
                </c:pt>
                <c:pt idx="6">
                  <c:v>35.25</c:v>
                </c:pt>
                <c:pt idx="7">
                  <c:v>33.25</c:v>
                </c:pt>
                <c:pt idx="8">
                  <c:v>31.75</c:v>
                </c:pt>
                <c:pt idx="9">
                  <c:v>40.5</c:v>
                </c:pt>
                <c:pt idx="10">
                  <c:v>41.75</c:v>
                </c:pt>
                <c:pt idx="11">
                  <c:v>43.666666666666664</c:v>
                </c:pt>
                <c:pt idx="12" formatCode="#,##0">
                  <c:v>19.399999999999999</c:v>
                </c:pt>
                <c:pt idx="13" formatCode="#,##0">
                  <c:v>19.75</c:v>
                </c:pt>
                <c:pt idx="14">
                  <c:v>20.5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462-4F1A-9657-F6C3E12346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dateAx>
        <c:axId val="359017344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Offset val="100"/>
        <c:baseTimeUnit val="months"/>
      </c:dateAx>
      <c:valAx>
        <c:axId val="359001536"/>
        <c:scaling>
          <c:orientation val="minMax"/>
          <c:max val="80"/>
        </c:scaling>
        <c:delete val="0"/>
        <c:axPos val="l"/>
        <c:numFmt formatCode="_-* #\ ##0_-;\-* #\ ##0_-;_-* &quot;-&quot;??_-;_-@_-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+mn-lt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20"/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24791828213252115"/>
          <c:y val="8.0212197792737458E-2"/>
          <c:w val="0.55831200000000003"/>
          <c:h val="0.18562000000000001"/>
        </c:manualLayout>
      </c:layout>
      <c:overlay val="0"/>
      <c:txPr>
        <a:bodyPr/>
        <a:lstStyle/>
        <a:p>
          <a:pPr>
            <a:defRPr sz="900">
              <a:latin typeface="+mn-lt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918184" y="3813406"/>
      <a:ext cx="5177815" cy="2485794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241535"/>
          <c:w val="0.89731799999999995"/>
          <c:h val="0.500843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ДИКСИ_AWW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/>
                    </a:solidFill>
                    <a:highlight>
                      <a:srgbClr val="00FF99"/>
                    </a:highlight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Лист1!$A$3:$A$29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ноя-25</c:v>
                </c:pt>
                <c:pt idx="11">
                  <c:v>дек-25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Лист1!$B$3:$B$29</c:f>
              <c:numCache>
                <c:formatCode>#,##0</c:formatCode>
                <c:ptCount val="16"/>
                <c:pt idx="0">
                  <c:v>100</c:v>
                </c:pt>
                <c:pt idx="1">
                  <c:v>100</c:v>
                </c:pt>
                <c:pt idx="2">
                  <c:v>100</c:v>
                </c:pt>
                <c:pt idx="3">
                  <c:v>100</c:v>
                </c:pt>
                <c:pt idx="4">
                  <c:v>100</c:v>
                </c:pt>
                <c:pt idx="5">
                  <c:v>100</c:v>
                </c:pt>
                <c:pt idx="6">
                  <c:v>100</c:v>
                </c:pt>
                <c:pt idx="7">
                  <c:v>100</c:v>
                </c:pt>
                <c:pt idx="8">
                  <c:v>100</c:v>
                </c:pt>
                <c:pt idx="9">
                  <c:v>100</c:v>
                </c:pt>
                <c:pt idx="10">
                  <c:v>100</c:v>
                </c:pt>
                <c:pt idx="11">
                  <c:v>100</c:v>
                </c:pt>
                <c:pt idx="12">
                  <c:v>100</c:v>
                </c:pt>
                <c:pt idx="13">
                  <c:v>100</c:v>
                </c:pt>
                <c:pt idx="1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52A-7640-999F-70DA45454A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lineChart>
        <c:grouping val="standard"/>
        <c:varyColors val="0"/>
        <c:ser>
          <c:idx val="1"/>
          <c:order val="1"/>
          <c:tx>
            <c:strRef>
              <c:f>Лист1!#REF!</c:f>
              <c:strCache>
                <c:ptCount val="1"/>
                <c:pt idx="0">
                  <c:v>#REF!</c:v>
                </c:pt>
              </c:strCache>
            </c:strRef>
          </c:tx>
          <c:spPr>
            <a:prstGeom prst="rect">
              <a:avLst/>
            </a:prstGeom>
            <a:ln w="508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dLbls>
            <c:dLbl>
              <c:idx val="3"/>
              <c:layout>
                <c:manualLayout>
                  <c:x val="-4.5057E-2"/>
                  <c:y val="-7.37850000000000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52A-7640-999F-70DA45454AAC}"/>
                </c:ext>
              </c:extLst>
            </c:dLbl>
            <c:dLbl>
              <c:idx val="11"/>
              <c:layout>
                <c:manualLayout>
                  <c:x val="-5.0748000000000001E-2"/>
                  <c:y val="-5.67230000000000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52A-7640-999F-70DA45454AAC}"/>
                </c:ext>
              </c:extLst>
            </c:dLbl>
            <c:dLbl>
              <c:idx val="12"/>
              <c:layout>
                <c:manualLayout>
                  <c:x val="-4.9574E-2"/>
                  <c:y val="-5.37959999999999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52A-7640-999F-70DA45454AAC}"/>
                </c:ext>
              </c:extLst>
            </c:dLbl>
            <c:dLbl>
              <c:idx val="14"/>
              <c:layout>
                <c:manualLayout>
                  <c:x val="-3.2711999999999998E-2"/>
                  <c:y val="-7.427100000000000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52A-7640-999F-70DA45454AAC}"/>
                </c:ext>
              </c:extLst>
            </c:dLbl>
            <c:dLbl>
              <c:idx val="16"/>
              <c:layout>
                <c:manualLayout>
                  <c:x val="-2.6227E-2"/>
                  <c:y val="-0.1356940000000000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52A-7640-999F-70DA45454AA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Лист1!$A$3:$A$29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ноя-25</c:v>
                </c:pt>
                <c:pt idx="11">
                  <c:v>дек-25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6-B52A-7640-999F-70DA45454A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162736"/>
        <c:axId val="450160240"/>
      </c:line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1"/>
      </c:catAx>
      <c:valAx>
        <c:axId val="359001536"/>
        <c:scaling>
          <c:orientation val="minMax"/>
          <c:max val="120"/>
        </c:scaling>
        <c:delete val="0"/>
        <c:axPos val="l"/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Aptos" panose="020B0004020202020204" pitchFamily="34" charset="0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20"/>
      </c:valAx>
      <c:valAx>
        <c:axId val="450160240"/>
        <c:scaling>
          <c:orientation val="minMax"/>
          <c:min val="-2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Aptos" panose="020B0004020202020204" pitchFamily="34" charset="0"/>
                <a:ea typeface="5ka Sans Design"/>
                <a:cs typeface="5ka Sans Design"/>
              </a:defRPr>
            </a:pPr>
            <a:endParaRPr lang="ru-RU"/>
          </a:p>
        </c:txPr>
        <c:crossAx val="450162736"/>
        <c:crosses val="max"/>
        <c:crossBetween val="between"/>
      </c:valAx>
      <c:catAx>
        <c:axId val="4501627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160240"/>
        <c:crosses val="autoZero"/>
        <c:auto val="1"/>
        <c:lblAlgn val="ctr"/>
        <c:lblOffset val="100"/>
        <c:noMultiLvlLbl val="1"/>
      </c:cat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"/>
        <c:delete val="1"/>
      </c:legendEntry>
      <c:layout>
        <c:manualLayout>
          <c:xMode val="edge"/>
          <c:yMode val="edge"/>
          <c:x val="0.35439300000000001"/>
          <c:y val="5.7168999999999998E-2"/>
          <c:w val="0.56349300000000002"/>
          <c:h val="0.138243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5ka Sans Design"/>
              <a:ea typeface="5ka Sans Design"/>
              <a:cs typeface="5ka Sans Design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6706177" y="1322856"/>
      <a:ext cx="5177816" cy="2541246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 algn="ctr" rtl="0">
              <a:defRPr lang="ru-RU" sz="1200" b="1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Инвестиции (млн. </a:t>
            </a:r>
            <a:r>
              <a:rPr lang="ru-RU" sz="1200" b="1" i="0" u="none" strike="noStrike" kern="1200" spc="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руб</a:t>
            </a: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) и SOS по брендам</a:t>
            </a:r>
          </a:p>
        </c:rich>
      </c:tx>
      <c:layout>
        <c:manualLayout>
          <c:xMode val="edge"/>
          <c:yMode val="edge"/>
          <c:x val="0.13944885615307029"/>
          <c:y val="4.6600187735044075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2.6879E-2"/>
          <c:y val="0.2236375366013286"/>
          <c:w val="0.68690215693270873"/>
          <c:h val="0.591402749044145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САМОКАТ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Sheet1!$B$2:$B$3</c:f>
              <c:numCache>
                <c:formatCode>_-* #\ ##0_-;\-* #\ ##0_-;_-* "-"??_-;_-@_-</c:formatCode>
                <c:ptCount val="2"/>
                <c:pt idx="0">
                  <c:v>356765998.05000108</c:v>
                </c:pt>
                <c:pt idx="1">
                  <c:v>817240898.75000215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2-D25F-495B-AC32-230884550D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КУПЕР</c:v>
                </c:pt>
              </c:strCache>
            </c:strRef>
          </c:tx>
          <c:spPr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Sheet1!$C$2:$C$3</c:f>
              <c:numCache>
                <c:formatCode>_-* #\ ##0_-;\-* #\ ##0_-;_-* "-"??_-;_-@_-</c:formatCode>
                <c:ptCount val="2"/>
                <c:pt idx="0">
                  <c:v>299674912.5</c:v>
                </c:pt>
                <c:pt idx="1">
                  <c:v>230254958.69999999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5-D25F-495B-AC32-230884550D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МАГНИТ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Sheet1!$D$2:$D$3</c:f>
              <c:numCache>
                <c:formatCode>_-* #\ ##0_-;\-* #\ ##0_-;_-* "-"??_-;_-@_-</c:formatCode>
                <c:ptCount val="2"/>
                <c:pt idx="1">
                  <c:v>212568882.15000004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8-D25F-495B-AC32-230884550D4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ПЯТЕРОЧКА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Sheet1!$E$2:$E$3</c:f>
              <c:numCache>
                <c:formatCode>_-* #\ ##0_-;\-* #\ ##0_-;_-* "-"??_-;_-@_-</c:formatCode>
                <c:ptCount val="2"/>
                <c:pt idx="0">
                  <c:v>37518793.600000001</c:v>
                </c:pt>
                <c:pt idx="1">
                  <c:v>100069756.60000001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B-D25F-495B-AC32-230884550D4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OZON FRESH</c:v>
                </c:pt>
              </c:strCache>
            </c:strRef>
          </c:tx>
          <c:spPr>
            <a:prstGeom prst="rect">
              <a:avLst/>
            </a:prstGeom>
            <a:solidFill>
              <a:srgbClr val="DEEBF7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Sheet1!$F$2:$F$3</c:f>
              <c:numCache>
                <c:formatCode>_-* #\ ##0_-;\-* #\ ##0_-;_-* "-"??_-;_-@_-</c:formatCode>
                <c:ptCount val="2"/>
                <c:pt idx="0">
                  <c:v>27955470.400000021</c:v>
                </c:pt>
                <c:pt idx="1">
                  <c:v>57820307.600000016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0E-D25F-495B-AC32-230884550D4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ПЕРЕКРЕСТОК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Sheet1!$G$2:$G$3</c:f>
              <c:numCache>
                <c:formatCode>_-* #\ ##0_-;\-* #\ ##0_-;_-* "-"??_-;_-@_-</c:formatCode>
                <c:ptCount val="2"/>
                <c:pt idx="0">
                  <c:v>1212921.0500000003</c:v>
                </c:pt>
                <c:pt idx="1">
                  <c:v>30504178.650000002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1-D25F-495B-AC32-230884550D4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ЧИЖИК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Sheet1!$H$2:$H$3</c:f>
              <c:numCache>
                <c:formatCode>_-* #\ ##0_-;\-* #\ ##0_-;_-* "-"??_-;_-@_-</c:formatCode>
                <c:ptCount val="2"/>
                <c:pt idx="1">
                  <c:v>7079119.3000000017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4-D25F-495B-AC32-230884550D44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ЛЕНТА</c:v>
                </c:pt>
              </c:strCache>
            </c:strRef>
          </c:tx>
          <c:spPr>
            <a:prstGeom prst="rect">
              <a:avLst/>
            </a:prstGeom>
            <a:solidFill>
              <a:srgbClr val="4472C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Sheet1!$I$2:$I$3</c:f>
              <c:numCache>
                <c:formatCode>_-* #\ ##0_-;\-* #\ ##0_-;_-* "-"??_-;_-@_-</c:formatCode>
                <c:ptCount val="2"/>
                <c:pt idx="0">
                  <c:v>21402486.599999983</c:v>
                </c:pt>
                <c:pt idx="1">
                  <c:v>856967.10000000056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D25F-495B-AC32-230884550D44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ДИКСИ</c:v>
                </c:pt>
              </c:strCache>
            </c:strRef>
          </c:tx>
          <c:spPr>
            <a:prstGeom prst="rect">
              <a:avLst/>
            </a:prstGeom>
            <a:solidFill>
              <a:srgbClr val="00FFCC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Sheet1!$J$2:$J$3</c:f>
              <c:numCache>
                <c:formatCode>_-* #\ ##0_-;\-* #\ ##0_-;_-* "-"??_-;_-@_-</c:formatCode>
                <c:ptCount val="2"/>
                <c:pt idx="0">
                  <c:v>12336853.099999996</c:v>
                </c:pt>
                <c:pt idx="1">
                  <c:v>378110.14999999997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D25F-495B-AC32-230884550D44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ЯНДЕКС.ЛАВКА</c:v>
                </c:pt>
              </c:strCache>
            </c:strRef>
          </c:tx>
          <c:spPr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Sheet1!$K$2:$K$3</c:f>
              <c:numCache>
                <c:formatCode>General</c:formatCode>
                <c:ptCount val="2"/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9-D25F-495B-AC32-230884550D44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АШАН</c:v>
                </c:pt>
              </c:strCache>
            </c:strRef>
          </c:tx>
          <c:spPr>
            <a:solidFill>
              <a:srgbClr val="FF5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Sheet1!$L$2:$L$3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0-BE08-4F42-92DE-0653271F2E6F}"/>
            </c:ext>
          </c:extLst>
        </c:ser>
        <c:ser>
          <c:idx val="11"/>
          <c:order val="11"/>
          <c:tx>
            <c:strRef>
              <c:f>Sheet1!$M$1</c:f>
              <c:strCache>
                <c:ptCount val="1"/>
                <c:pt idx="0">
                  <c:v>ВКУСВИЛЛ</c:v>
                </c:pt>
              </c:strCache>
            </c:strRef>
          </c:tx>
          <c:spPr>
            <a:solidFill>
              <a:srgbClr val="00FF99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Sheet1!$M$2:$M$3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0-41E2-4E31-AEBE-4A01F2104984}"/>
            </c:ext>
          </c:extLst>
        </c:ser>
        <c:ser>
          <c:idx val="12"/>
          <c:order val="12"/>
          <c:tx>
            <c:strRef>
              <c:f>Sheet1!$N$1</c:f>
              <c:strCache>
                <c:ptCount val="1"/>
                <c:pt idx="0">
                  <c:v>other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Sheet1!$N$2:$N$3</c:f>
              <c:numCache>
                <c:formatCode>_-* #\ ##0_-;\-* #\ ##0_-;_-* "-"??_-;_-@_-</c:formatCode>
                <c:ptCount val="2"/>
                <c:pt idx="0">
                  <c:v>215547746.1500001</c:v>
                </c:pt>
                <c:pt idx="1">
                  <c:v>341320.64999999997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1E2-4E31-AEBE-4A01F2104984}"/>
            </c:ext>
          </c:extLst>
        </c:ser>
        <c:ser>
          <c:idx val="13"/>
          <c:order val="13"/>
          <c:tx>
            <c:strRef>
              <c:f>Sheet1!$O$1</c:f>
              <c:strCache>
                <c:ptCount val="1"/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1-2'25</c:v>
                </c:pt>
                <c:pt idx="1">
                  <c:v>1-2'26</c:v>
                </c:pt>
              </c:strCache>
            </c:strRef>
          </c:cat>
          <c:val>
            <c:numRef>
              <c:f>Sheet1!$O$2:$O$3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2-41E2-4E31-AEBE-4A01F210498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2143338335"/>
        <c:axId val="2143344575"/>
      </c:barChart>
      <c:catAx>
        <c:axId val="2143338335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2143344575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3344575"/>
        <c:scaling>
          <c:orientation val="minMax"/>
          <c:max val="800000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 w="12700" cap="flat" cmpd="sng" algn="ctr">
            <a:solidFill>
              <a:srgbClr val="7F7F7F"/>
            </a:solidFill>
            <a:prstDash val="solid"/>
            <a:miter lim="800000"/>
          </a:ln>
          <a:effectLst/>
        </c:spPr>
        <c:txPr>
          <a:bodyPr rot="-60000000" vert="horz"/>
          <a:lstStyle/>
          <a:p>
            <a:pPr>
              <a:defRPr sz="800">
                <a:solidFill>
                  <a:srgbClr val="7F7F7F"/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2143338335"/>
        <c:crosses val="autoZero"/>
        <c:crossBetween val="between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3"/>
        <c:delete val="1"/>
      </c:legendEntry>
      <c:layout>
        <c:manualLayout>
          <c:xMode val="edge"/>
          <c:yMode val="edge"/>
          <c:x val="0.83464255507571949"/>
          <c:y val="5.5478240681129949E-2"/>
          <c:w val="0.15479029547386247"/>
          <c:h val="0.89315247434654665"/>
        </c:manualLayout>
      </c:layout>
      <c:overlay val="0"/>
    </c:legend>
    <c:plotVisOnly val="1"/>
    <c:dispBlanksAs val="gap"/>
    <c:showDLblsOverMax val="0"/>
  </c:chart>
  <c:spPr>
    <a:xfrm>
      <a:off x="636608" y="972274"/>
      <a:ext cx="7211027" cy="299784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ru-RU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b="1"/>
            </a:pPr>
            <a:r>
              <a:rPr lang="en-US" sz="1200" b="1" dirty="0"/>
              <a:t>TRPs, SOV</a:t>
            </a:r>
            <a:endParaRPr lang="ru-RU" sz="1200" b="1" dirty="0"/>
          </a:p>
        </c:rich>
      </c:tx>
      <c:layout>
        <c:manualLayout>
          <c:xMode val="edge"/>
          <c:yMode val="edge"/>
          <c:x val="0.4377519683767408"/>
          <c:y val="6.3874644543274765E-3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9.2758999999999994E-2"/>
          <c:y val="0.18551000000000001"/>
          <c:w val="0.86298799999999998"/>
          <c:h val="0.564662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 САМОКАТ (ДОСТАВКА) </c:v>
                </c:pt>
              </c:strCache>
            </c:strRef>
          </c:tx>
          <c:spPr>
            <a:solidFill>
              <a:srgbClr val="F490E6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1676-4A15-B7D2-68698F1DF41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1676-4A15-B7D2-68698F1DF41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1676-4A15-B7D2-68698F1DF41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1676-4A15-B7D2-68698F1DF41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1676-4A15-B7D2-68698F1DF41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1676-4A15-B7D2-68698F1DF41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1676-4A15-B7D2-68698F1DF41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1676-4A15-B7D2-68698F1DF41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1676-4A15-B7D2-68698F1DF41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1676-4A15-B7D2-68698F1DF41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1676-4A15-B7D2-68698F1DF41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91%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1676-4A15-B7D2-68698F1DF41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1676-4A15-B7D2-68698F1DF41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1676-4A15-B7D2-68698F1DF41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1676-4A15-B7D2-68698F1DF41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1676-4A15-B7D2-68698F1DF41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7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Sheet1!$B$2:$B$37</c:f>
              <c:numCache>
                <c:formatCode>_-* #\ ##0_-;\-* #\ ##0_-;_-* "-"??_-;_-@_-</c:formatCode>
                <c:ptCount val="24"/>
                <c:pt idx="0">
                  <c:v>1245.0835</c:v>
                </c:pt>
                <c:pt idx="1">
                  <c:v>1159.54818</c:v>
                </c:pt>
                <c:pt idx="2">
                  <c:v>5171.0200199999999</c:v>
                </c:pt>
                <c:pt idx="3">
                  <c:v>1648.6742899999999</c:v>
                </c:pt>
                <c:pt idx="4">
                  <c:v>1068.95354</c:v>
                </c:pt>
                <c:pt idx="5">
                  <c:v>1082.5218299999999</c:v>
                </c:pt>
                <c:pt idx="6">
                  <c:v>2316.6065399999998</c:v>
                </c:pt>
                <c:pt idx="7">
                  <c:v>7817.7705799999994</c:v>
                </c:pt>
                <c:pt idx="8">
                  <c:v>5734.3923000000004</c:v>
                </c:pt>
                <c:pt idx="9">
                  <c:v>5433.4206799999993</c:v>
                </c:pt>
                <c:pt idx="10">
                  <c:v>4347.8309200000003</c:v>
                </c:pt>
                <c:pt idx="11">
                  <c:v>4762.7827600000001</c:v>
                </c:pt>
                <c:pt idx="12">
                  <c:v>4664.9920400000001</c:v>
                </c:pt>
                <c:pt idx="13">
                  <c:v>4677.7658599999995</c:v>
                </c:pt>
                <c:pt idx="14">
                  <c:v>3057.4001899999998</c:v>
                </c:pt>
                <c:pt idx="15">
                  <c:v>1504.955500618639</c:v>
                </c:pt>
                <c:pt idx="16">
                  <c:v>975.62003041923901</c:v>
                </c:pt>
                <c:pt idx="17">
                  <c:v>988.39709349301756</c:v>
                </c:pt>
                <c:pt idx="18">
                  <c:v>2114.6039387103615</c:v>
                </c:pt>
                <c:pt idx="19">
                  <c:v>7135.0770793429465</c:v>
                </c:pt>
                <c:pt idx="20">
                  <c:v>5233.1199760747577</c:v>
                </c:pt>
                <c:pt idx="21">
                  <c:v>4958.4131199885187</c:v>
                </c:pt>
                <c:pt idx="22">
                  <c:v>3968.1907317706746</c:v>
                </c:pt>
                <c:pt idx="23">
                  <c:v>4346.9393871719694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18-1676-4A15-B7D2-68698F1DF4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 КУПЕР </c:v>
                </c:pt>
              </c:strCache>
            </c:strRef>
          </c:tx>
          <c:spPr>
            <a:solidFill>
              <a:srgbClr val="01B050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1676-4A15-B7D2-68698F1DF41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1676-4A15-B7D2-68698F1DF41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1676-4A15-B7D2-68698F1DF41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1676-4A15-B7D2-68698F1DF41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1676-4A15-B7D2-68698F1DF41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1676-4A15-B7D2-68698F1DF41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1676-4A15-B7D2-68698F1DF41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1676-4A15-B7D2-68698F1DF41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2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3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4-1676-4A15-B7D2-68698F1DF41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5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6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7-1676-4A15-B7D2-68698F1DF41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8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9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A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Sheet1!$C$2:$C$37</c:f>
              <c:numCache>
                <c:formatCode>_-* #\ ##0_-;\-* #\ ##0_-;_-* "-"??_-;_-@_-</c:formatCode>
                <c:ptCount val="24"/>
                <c:pt idx="0">
                  <c:v>2.2062400000000002</c:v>
                </c:pt>
                <c:pt idx="1">
                  <c:v>3070.7290900000003</c:v>
                </c:pt>
                <c:pt idx="2">
                  <c:v>1428.55243</c:v>
                </c:pt>
                <c:pt idx="3">
                  <c:v>890.44055000000003</c:v>
                </c:pt>
                <c:pt idx="4">
                  <c:v>43.901229999999998</c:v>
                </c:pt>
                <c:pt idx="5">
                  <c:v>0</c:v>
                </c:pt>
                <c:pt idx="6">
                  <c:v>643.27066000000002</c:v>
                </c:pt>
                <c:pt idx="7">
                  <c:v>4694.8052600000001</c:v>
                </c:pt>
                <c:pt idx="8">
                  <c:v>4787.6579099999999</c:v>
                </c:pt>
                <c:pt idx="9">
                  <c:v>2845.4331400000001</c:v>
                </c:pt>
                <c:pt idx="10">
                  <c:v>2452.8579399999999</c:v>
                </c:pt>
                <c:pt idx="11">
                  <c:v>4838.2849700000006</c:v>
                </c:pt>
                <c:pt idx="12">
                  <c:v>0.68067</c:v>
                </c:pt>
                <c:pt idx="13">
                  <c:v>2450.69596</c:v>
                </c:pt>
                <c:pt idx="14">
                  <c:v>2789.55242</c:v>
                </c:pt>
                <c:pt idx="15">
                  <c:v>695.31097027587714</c:v>
                </c:pt>
                <c:pt idx="16">
                  <c:v>0</c:v>
                </c:pt>
                <c:pt idx="17">
                  <c:v>0</c:v>
                </c:pt>
                <c:pt idx="18">
                  <c:v>502.34264481729099</c:v>
                </c:pt>
                <c:pt idx="19">
                  <c:v>3667.9606802755538</c:v>
                </c:pt>
                <c:pt idx="20">
                  <c:v>3740.6167704279778</c:v>
                </c:pt>
                <c:pt idx="21">
                  <c:v>2222.65136003918</c:v>
                </c:pt>
                <c:pt idx="22">
                  <c:v>1916.402033805311</c:v>
                </c:pt>
                <c:pt idx="23">
                  <c:v>3779.6791844884192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2B-1676-4A15-B7D2-68698F1DF4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 МАГНИТ </c:v>
                </c:pt>
              </c:strCache>
            </c:strRef>
          </c:tx>
          <c:spPr>
            <a:solidFill>
              <a:srgbClr val="CC3399"/>
            </a:solidFill>
          </c:spPr>
          <c:invertIfNegative val="0"/>
          <c:dLbls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C-1676-4A15-B7D2-68698F1DF41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D-1676-4A15-B7D2-68698F1DF41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E-1676-4A15-B7D2-68698F1DF41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F-1676-4A15-B7D2-68698F1DF41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0-1676-4A15-B7D2-68698F1DF41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1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2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3-1676-4A15-B7D2-68698F1DF41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4-1676-4A15-B7D2-68698F1DF41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5-1676-4A15-B7D2-68698F1DF41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6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7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8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9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A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Sheet1!$D$2:$D$37</c:f>
              <c:numCache>
                <c:formatCode>_-* #\ ##0_-;\-* #\ ##0_-;_-* "-"??_-;_-@_-</c:formatCode>
                <c:ptCount val="2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742.70092999999997</c:v>
                </c:pt>
                <c:pt idx="4">
                  <c:v>4158.8161799999998</c:v>
                </c:pt>
                <c:pt idx="5">
                  <c:v>77.23254</c:v>
                </c:pt>
                <c:pt idx="6">
                  <c:v>0</c:v>
                </c:pt>
                <c:pt idx="7">
                  <c:v>436.43454000000003</c:v>
                </c:pt>
                <c:pt idx="8">
                  <c:v>555.95582000000002</c:v>
                </c:pt>
                <c:pt idx="9">
                  <c:v>0</c:v>
                </c:pt>
                <c:pt idx="10">
                  <c:v>1997.4484499999999</c:v>
                </c:pt>
                <c:pt idx="11">
                  <c:v>58.408789999999996</c:v>
                </c:pt>
                <c:pt idx="12">
                  <c:v>12.010429999999999</c:v>
                </c:pt>
                <c:pt idx="13">
                  <c:v>2714.1551900000004</c:v>
                </c:pt>
                <c:pt idx="14">
                  <c:v>848.35046</c:v>
                </c:pt>
                <c:pt idx="15">
                  <c:v>1374.0462767186555</c:v>
                </c:pt>
                <c:pt idx="16">
                  <c:v>5556.1586524510758</c:v>
                </c:pt>
                <c:pt idx="17">
                  <c:v>2402.899527302734</c:v>
                </c:pt>
                <c:pt idx="18">
                  <c:v>434.30133651283177</c:v>
                </c:pt>
                <c:pt idx="19">
                  <c:v>1037.5376461656906</c:v>
                </c:pt>
                <c:pt idx="20">
                  <c:v>913.25291502225082</c:v>
                </c:pt>
                <c:pt idx="21">
                  <c:v>242.3394516093831</c:v>
                </c:pt>
                <c:pt idx="22">
                  <c:v>1972.8926478444628</c:v>
                </c:pt>
                <c:pt idx="23">
                  <c:v>639.51803059269696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3B-1676-4A15-B7D2-68698F1DF41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 ЯНДЕКС.ЛАВКА </c:v>
                </c:pt>
              </c:strCache>
            </c:strRef>
          </c:tx>
          <c:spPr>
            <a:solidFill>
              <a:srgbClr val="FFFE01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29%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C-1676-4A15-B7D2-68698F1DF412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D-1676-4A15-B7D2-68698F1DF41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E-1676-4A15-B7D2-68698F1DF41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3F-1676-4A15-B7D2-68698F1DF41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0-1676-4A15-B7D2-68698F1DF41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1-1676-4A15-B7D2-68698F1DF41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2-1676-4A15-B7D2-68698F1DF41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3-1676-4A15-B7D2-68698F1DF41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4-1676-4A15-B7D2-68698F1DF41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5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6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7-1676-4A15-B7D2-68698F1DF41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8-1676-4A15-B7D2-68698F1DF41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9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A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B-1676-4A15-B7D2-68698F1DF41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C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D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4E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Sheet1!$E$2:$E$37</c:f>
              <c:numCache>
                <c:formatCode>_-* #\ ##0_-;\-* #\ ##0_-;_-* "-"??_-;_-@_-</c:formatCode>
                <c:ptCount val="24"/>
                <c:pt idx="0">
                  <c:v>768.81991000000005</c:v>
                </c:pt>
                <c:pt idx="1">
                  <c:v>699.44439</c:v>
                </c:pt>
                <c:pt idx="2">
                  <c:v>534.80448999999999</c:v>
                </c:pt>
                <c:pt idx="3">
                  <c:v>605.63778000000002</c:v>
                </c:pt>
                <c:pt idx="4">
                  <c:v>43.497630000000001</c:v>
                </c:pt>
                <c:pt idx="5">
                  <c:v>340.88065999999998</c:v>
                </c:pt>
                <c:pt idx="6">
                  <c:v>738.20496000000003</c:v>
                </c:pt>
                <c:pt idx="7">
                  <c:v>667.08374000000003</c:v>
                </c:pt>
                <c:pt idx="8">
                  <c:v>660.44095000000004</c:v>
                </c:pt>
                <c:pt idx="9">
                  <c:v>785.47428000000002</c:v>
                </c:pt>
                <c:pt idx="10">
                  <c:v>771.50013999999999</c:v>
                </c:pt>
                <c:pt idx="11">
                  <c:v>944.49481000000003</c:v>
                </c:pt>
                <c:pt idx="12">
                  <c:v>0.84038999999999997</c:v>
                </c:pt>
                <c:pt idx="13">
                  <c:v>0</c:v>
                </c:pt>
                <c:pt idx="14">
                  <c:v>0</c:v>
                </c:pt>
                <c:pt idx="15">
                  <c:v>603.06425485862064</c:v>
                </c:pt>
                <c:pt idx="16">
                  <c:v>42.791688051024238</c:v>
                </c:pt>
                <c:pt idx="17">
                  <c:v>339.34803779998288</c:v>
                </c:pt>
                <c:pt idx="18">
                  <c:v>734.42478561990436</c:v>
                </c:pt>
                <c:pt idx="19">
                  <c:v>663.76874255891084</c:v>
                </c:pt>
                <c:pt idx="20">
                  <c:v>656.80265380641856</c:v>
                </c:pt>
                <c:pt idx="21">
                  <c:v>781.19709581520976</c:v>
                </c:pt>
                <c:pt idx="22">
                  <c:v>768.26007384629565</c:v>
                </c:pt>
                <c:pt idx="23">
                  <c:v>939.42682605039238</c:v>
                </c:pt>
              </c:numCache>
            </c:numRef>
          </c:val>
          <c:extLst xmlns:c14="http://schemas.microsoft.com/office/drawing/2007/8/2/chart" xmlns:c15="http://schemas.microsoft.com/office/drawing/2012/chart" xmlns:mc="http://schemas.openxmlformats.org/markup-compatibility/2006">
            <c:ext xmlns:c16="http://schemas.microsoft.com/office/drawing/2014/chart" uri="{C3380CC4-5D6E-409C-BE32-E72D297353CC}">
              <c16:uniqueId val="{0000004F-1676-4A15-B7D2-68698F1DF41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 ПЯТЕРОЧКА 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0-1676-4A15-B7D2-68698F1DF412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1-1676-4A15-B7D2-68698F1DF412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2-1676-4A15-B7D2-68698F1DF41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3-1676-4A15-B7D2-68698F1DF412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4-1676-4A15-B7D2-68698F1DF412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5-1676-4A15-B7D2-68698F1DF412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6-1676-4A15-B7D2-68698F1DF412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7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8-1676-4A15-B7D2-68698F1DF41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9-1676-4A15-B7D2-68698F1DF412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A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B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C-1676-4A15-B7D2-68698F1DF41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D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E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5F-1676-4A15-B7D2-68698F1DF41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0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1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2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Sheet1!$F$2:$F$37</c:f>
              <c:numCache>
                <c:formatCode>_-* #\ ##0_-;\-* #\ ##0_-;_-* "-"??_-;_-@_-</c:formatCode>
                <c:ptCount val="24"/>
                <c:pt idx="0">
                  <c:v>0</c:v>
                </c:pt>
                <c:pt idx="1">
                  <c:v>766</c:v>
                </c:pt>
                <c:pt idx="2">
                  <c:v>814</c:v>
                </c:pt>
                <c:pt idx="3">
                  <c:v>815</c:v>
                </c:pt>
                <c:pt idx="4">
                  <c:v>544</c:v>
                </c:pt>
                <c:pt idx="5">
                  <c:v>7</c:v>
                </c:pt>
                <c:pt idx="6">
                  <c:v>0</c:v>
                </c:pt>
                <c:pt idx="7">
                  <c:v>602</c:v>
                </c:pt>
                <c:pt idx="8">
                  <c:v>618</c:v>
                </c:pt>
                <c:pt idx="9">
                  <c:v>723</c:v>
                </c:pt>
                <c:pt idx="10">
                  <c:v>426</c:v>
                </c:pt>
                <c:pt idx="11">
                  <c:v>784</c:v>
                </c:pt>
                <c:pt idx="12">
                  <c:v>205</c:v>
                </c:pt>
                <c:pt idx="13">
                  <c:v>1076</c:v>
                </c:pt>
                <c:pt idx="14">
                  <c:v>445</c:v>
                </c:pt>
                <c:pt idx="15">
                  <c:v>414.98352911440725</c:v>
                </c:pt>
                <c:pt idx="16">
                  <c:v>248.30929739790008</c:v>
                </c:pt>
                <c:pt idx="17">
                  <c:v>3.4626356542166832</c:v>
                </c:pt>
                <c:pt idx="18">
                  <c:v>0</c:v>
                </c:pt>
                <c:pt idx="19">
                  <c:v>476.58815206880263</c:v>
                </c:pt>
                <c:pt idx="20">
                  <c:v>526.41636760902747</c:v>
                </c:pt>
                <c:pt idx="21">
                  <c:v>371.98924720189007</c:v>
                </c:pt>
                <c:pt idx="22">
                  <c:v>446.63795841174397</c:v>
                </c:pt>
                <c:pt idx="23">
                  <c:v>585.94673418676757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3-1676-4A15-B7D2-68698F1DF41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 ПЕРЕКРЕСТОК </c:v>
                </c:pt>
              </c:strCache>
            </c:strRef>
          </c:tx>
          <c:spPr>
            <a:solidFill>
              <a:srgbClr val="92D050"/>
            </a:solidFill>
          </c:spPr>
          <c:invertIfNegative val="0"/>
          <c:dLbls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4-1676-4A15-B7D2-68698F1DF412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5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6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7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8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Sheet1!$G$2:$G$37</c:f>
              <c:numCache>
                <c:formatCode>_-* #\ ##0_-;\-* #\ ##0_-;_-* "-"??_-;_-@_-</c:formatCode>
                <c:ptCount val="24"/>
                <c:pt idx="0">
                  <c:v>17</c:v>
                </c:pt>
                <c:pt idx="1">
                  <c:v>17</c:v>
                </c:pt>
                <c:pt idx="2">
                  <c:v>164</c:v>
                </c:pt>
                <c:pt idx="3">
                  <c:v>348</c:v>
                </c:pt>
                <c:pt idx="4">
                  <c:v>384</c:v>
                </c:pt>
                <c:pt idx="5">
                  <c:v>23</c:v>
                </c:pt>
                <c:pt idx="6">
                  <c:v>0</c:v>
                </c:pt>
                <c:pt idx="7">
                  <c:v>182</c:v>
                </c:pt>
                <c:pt idx="8">
                  <c:v>237</c:v>
                </c:pt>
                <c:pt idx="9">
                  <c:v>0</c:v>
                </c:pt>
                <c:pt idx="10">
                  <c:v>106</c:v>
                </c:pt>
                <c:pt idx="11">
                  <c:v>474</c:v>
                </c:pt>
                <c:pt idx="12">
                  <c:v>0</c:v>
                </c:pt>
                <c:pt idx="13">
                  <c:v>161</c:v>
                </c:pt>
                <c:pt idx="14">
                  <c:v>845</c:v>
                </c:pt>
                <c:pt idx="15">
                  <c:v>150.36871847871998</c:v>
                </c:pt>
                <c:pt idx="16">
                  <c:v>38.078806870589005</c:v>
                </c:pt>
                <c:pt idx="17">
                  <c:v>3.7533394981387573</c:v>
                </c:pt>
                <c:pt idx="18">
                  <c:v>14.866567322463197</c:v>
                </c:pt>
                <c:pt idx="19">
                  <c:v>190.08714744033341</c:v>
                </c:pt>
                <c:pt idx="20">
                  <c:v>561.87433123424535</c:v>
                </c:pt>
                <c:pt idx="21">
                  <c:v>148.53182894223914</c:v>
                </c:pt>
                <c:pt idx="22">
                  <c:v>182.46044851777802</c:v>
                </c:pt>
                <c:pt idx="23">
                  <c:v>126.8714637650552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9-1676-4A15-B7D2-68698F1DF412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 ЧИЖИК (СУПЕРМАРКЕТ) </c:v>
                </c:pt>
              </c:strCache>
            </c:strRef>
          </c:tx>
          <c:spPr>
            <a:solidFill>
              <a:srgbClr val="FFDB00"/>
            </a:solidFill>
          </c:spPr>
          <c:invertIfNegative val="0"/>
          <c:dLbls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A-1676-4A15-B7D2-68698F1DF41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B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Sheet1!$H$2:$H$37</c:f>
              <c:numCache>
                <c:formatCode>_-* #\ ##0_-;\-* #\ ##0_-;_-* "-"??_-;_-@_-</c:formatCode>
                <c:ptCount val="2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60</c:v>
                </c:pt>
                <c:pt idx="14">
                  <c:v>0</c:v>
                </c:pt>
                <c:pt idx="15">
                  <c:v>554.38995991006345</c:v>
                </c:pt>
                <c:pt idx="16">
                  <c:v>537.60526719152335</c:v>
                </c:pt>
                <c:pt idx="17">
                  <c:v>0</c:v>
                </c:pt>
                <c:pt idx="18">
                  <c:v>0</c:v>
                </c:pt>
                <c:pt idx="19">
                  <c:v>0.10042407777302742</c:v>
                </c:pt>
                <c:pt idx="20">
                  <c:v>-0.19039857983284492</c:v>
                </c:pt>
                <c:pt idx="21">
                  <c:v>5.9495468073237134E-2</c:v>
                </c:pt>
                <c:pt idx="22">
                  <c:v>0.18621413153141475</c:v>
                </c:pt>
                <c:pt idx="23">
                  <c:v>0.11792490945276768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6C-1676-4A15-B7D2-68698F1DF412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 OZON FRESH </c:v>
                </c:pt>
              </c:strCache>
            </c:strRef>
          </c:tx>
          <c:spPr>
            <a:solidFill>
              <a:srgbClr val="DEEBF7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D-1676-4A15-B7D2-68698F1DF41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E-1676-4A15-B7D2-68698F1DF412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6F-1676-4A15-B7D2-68698F1DF412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0-1676-4A15-B7D2-68698F1DF412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1-1676-4A15-B7D2-68698F1DF412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2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Sheet1!$I$2:$I$37</c:f>
              <c:numCache>
                <c:formatCode>_-* #\ ##0_-;\-* #\ ##0_-;_-* "-"??_-;_-@_-</c:formatCode>
                <c:ptCount val="24"/>
                <c:pt idx="0">
                  <c:v>97.728830000000002</c:v>
                </c:pt>
                <c:pt idx="1">
                  <c:v>140.01379</c:v>
                </c:pt>
                <c:pt idx="2">
                  <c:v>196.58172000000002</c:v>
                </c:pt>
                <c:pt idx="3">
                  <c:v>113.51826</c:v>
                </c:pt>
                <c:pt idx="4">
                  <c:v>162.20657</c:v>
                </c:pt>
                <c:pt idx="5">
                  <c:v>192.79437999999999</c:v>
                </c:pt>
                <c:pt idx="6">
                  <c:v>206.17079000000001</c:v>
                </c:pt>
                <c:pt idx="7">
                  <c:v>148.51820000000001</c:v>
                </c:pt>
                <c:pt idx="8">
                  <c:v>125.73392</c:v>
                </c:pt>
                <c:pt idx="9">
                  <c:v>158.13604000000001</c:v>
                </c:pt>
                <c:pt idx="10">
                  <c:v>147.18906999999999</c:v>
                </c:pt>
                <c:pt idx="11">
                  <c:v>382.87663999999995</c:v>
                </c:pt>
                <c:pt idx="12">
                  <c:v>184.06992</c:v>
                </c:pt>
                <c:pt idx="13">
                  <c:v>279.24928</c:v>
                </c:pt>
                <c:pt idx="14">
                  <c:v>275.04417000000001</c:v>
                </c:pt>
                <c:pt idx="15">
                  <c:v>72.018603597750399</c:v>
                </c:pt>
                <c:pt idx="16">
                  <c:v>102.34222616522423</c:v>
                </c:pt>
                <c:pt idx="17">
                  <c:v>121.92623240671779</c:v>
                </c:pt>
                <c:pt idx="18">
                  <c:v>130.1388801854086</c:v>
                </c:pt>
                <c:pt idx="19">
                  <c:v>94.129578386533424</c:v>
                </c:pt>
                <c:pt idx="20">
                  <c:v>79.599509239618854</c:v>
                </c:pt>
                <c:pt idx="21">
                  <c:v>99.815257617934748</c:v>
                </c:pt>
                <c:pt idx="22">
                  <c:v>92.866094112888661</c:v>
                </c:pt>
                <c:pt idx="23">
                  <c:v>241.95723840296844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3-1676-4A15-B7D2-68698F1DF412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 ЛЕНТА </c:v>
                </c:pt>
              </c:strCache>
            </c:strRef>
          </c:tx>
          <c:spPr>
            <a:solidFill>
              <a:srgbClr val="4472C4"/>
            </a:solidFill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4-1676-4A15-B7D2-68698F1DF412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5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Sheet1!$J$2:$J$37</c:f>
              <c:numCache>
                <c:formatCode>_-* #\ ##0_-;\-* #\ ##0_-;_-* "-"??_-;_-@_-</c:formatCode>
                <c:ptCount val="24"/>
                <c:pt idx="0">
                  <c:v>261.26305000000002</c:v>
                </c:pt>
                <c:pt idx="1">
                  <c:v>54.863500000000002</c:v>
                </c:pt>
                <c:pt idx="2">
                  <c:v>54.61797</c:v>
                </c:pt>
                <c:pt idx="3">
                  <c:v>92.844160000000002</c:v>
                </c:pt>
                <c:pt idx="4">
                  <c:v>51.23695</c:v>
                </c:pt>
                <c:pt idx="5">
                  <c:v>57.405889999999999</c:v>
                </c:pt>
                <c:pt idx="6">
                  <c:v>60.388440000000003</c:v>
                </c:pt>
                <c:pt idx="7">
                  <c:v>6.9685199999999998</c:v>
                </c:pt>
                <c:pt idx="8">
                  <c:v>0</c:v>
                </c:pt>
                <c:pt idx="9">
                  <c:v>122.52889999999999</c:v>
                </c:pt>
                <c:pt idx="10">
                  <c:v>49.231029999999997</c:v>
                </c:pt>
                <c:pt idx="11">
                  <c:v>34.411819999999999</c:v>
                </c:pt>
                <c:pt idx="12">
                  <c:v>9.8045600000000004</c:v>
                </c:pt>
                <c:pt idx="13">
                  <c:v>2.0758200000000002</c:v>
                </c:pt>
                <c:pt idx="14">
                  <c:v>0</c:v>
                </c:pt>
                <c:pt idx="15">
                  <c:v>39.613662899064593</c:v>
                </c:pt>
                <c:pt idx="16">
                  <c:v>21.606688414594373</c:v>
                </c:pt>
                <c:pt idx="17">
                  <c:v>24.494334633318715</c:v>
                </c:pt>
                <c:pt idx="18">
                  <c:v>25.664907255532086</c:v>
                </c:pt>
                <c:pt idx="19">
                  <c:v>2.8357824510616183</c:v>
                </c:pt>
                <c:pt idx="20">
                  <c:v>9.4737315566433153</c:v>
                </c:pt>
                <c:pt idx="21">
                  <c:v>51.907120474879548</c:v>
                </c:pt>
                <c:pt idx="22">
                  <c:v>39.485229360441281</c:v>
                </c:pt>
                <c:pt idx="23">
                  <c:v>309.73074701754376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76-1676-4A15-B7D2-68698F1DF412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 Другие 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7-1676-4A15-B7D2-68698F1DF412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8-1676-4A15-B7D2-68698F1DF412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9-1676-4A15-B7D2-68698F1DF412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A-1676-4A15-B7D2-68698F1DF412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B-1676-4A15-B7D2-68698F1DF412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C-1676-4A15-B7D2-68698F1DF412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D-1676-4A15-B7D2-68698F1DF412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E-1676-4A15-B7D2-68698F1DF412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7F-1676-4A15-B7D2-68698F1DF412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80-1676-4A15-B7D2-68698F1DF41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Sheet1!$K$2:$K$37</c:f>
              <c:numCache>
                <c:formatCode>_-* #\ ##0_-;\-* #\ ##0_-;_-* "-"??_-;_-@_-</c:formatCode>
                <c:ptCount val="24"/>
                <c:pt idx="0">
                  <c:v>271.03271999999998</c:v>
                </c:pt>
                <c:pt idx="1">
                  <c:v>0</c:v>
                </c:pt>
                <c:pt idx="2">
                  <c:v>6.3058100000000001</c:v>
                </c:pt>
                <c:pt idx="3">
                  <c:v>0</c:v>
                </c:pt>
                <c:pt idx="4">
                  <c:v>10.85346</c:v>
                </c:pt>
                <c:pt idx="5">
                  <c:v>15.20912</c:v>
                </c:pt>
                <c:pt idx="6">
                  <c:v>12.469290000000001</c:v>
                </c:pt>
                <c:pt idx="7">
                  <c:v>1.1721200000000001</c:v>
                </c:pt>
                <c:pt idx="8">
                  <c:v>32.224730000000001</c:v>
                </c:pt>
                <c:pt idx="9">
                  <c:v>34.522950000000002</c:v>
                </c:pt>
                <c:pt idx="10">
                  <c:v>0</c:v>
                </c:pt>
                <c:pt idx="11">
                  <c:v>149</c:v>
                </c:pt>
                <c:pt idx="12">
                  <c:v>63.354730000000004</c:v>
                </c:pt>
                <c:pt idx="13">
                  <c:v>1.4706399999999999</c:v>
                </c:pt>
                <c:pt idx="14">
                  <c:v>103.30797</c:v>
                </c:pt>
                <c:pt idx="15">
                  <c:v>516.98013425311831</c:v>
                </c:pt>
                <c:pt idx="16">
                  <c:v>551.30670517749866</c:v>
                </c:pt>
                <c:pt idx="17">
                  <c:v>374.23652489669189</c:v>
                </c:pt>
                <c:pt idx="18">
                  <c:v>417.63003162487519</c:v>
                </c:pt>
                <c:pt idx="19">
                  <c:v>486.97601373185478</c:v>
                </c:pt>
                <c:pt idx="20">
                  <c:v>540.38027900612826</c:v>
                </c:pt>
                <c:pt idx="21">
                  <c:v>567.76301848181356</c:v>
                </c:pt>
                <c:pt idx="22">
                  <c:v>598.7707295751552</c:v>
                </c:pt>
                <c:pt idx="23">
                  <c:v>643.17163467347439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1-1676-4A15-B7D2-68698F1DF412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 Тотал </c:v>
                </c:pt>
              </c:strCache>
            </c:strRef>
          </c:tx>
          <c:spPr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Sheet1!$L$2:$L$37</c:f>
              <c:numCache>
                <c:formatCode>_-* #\ ##0_-;\-* #\ ##0_-;_-* "-"??_-;_-@_-</c:formatCode>
                <c:ptCount val="24"/>
                <c:pt idx="0">
                  <c:v>2663.1342500000001</c:v>
                </c:pt>
                <c:pt idx="1">
                  <c:v>5907.5989500000005</c:v>
                </c:pt>
                <c:pt idx="2">
                  <c:v>8369.8824399999994</c:v>
                </c:pt>
                <c:pt idx="3">
                  <c:v>5256.8159699999997</c:v>
                </c:pt>
                <c:pt idx="4">
                  <c:v>6467.4655600000006</c:v>
                </c:pt>
                <c:pt idx="5">
                  <c:v>1796.0444199999999</c:v>
                </c:pt>
                <c:pt idx="6">
                  <c:v>3977.1106800000002</c:v>
                </c:pt>
                <c:pt idx="7">
                  <c:v>14556.75296</c:v>
                </c:pt>
                <c:pt idx="8">
                  <c:v>12751.405630000001</c:v>
                </c:pt>
                <c:pt idx="9">
                  <c:v>10102.51599</c:v>
                </c:pt>
                <c:pt idx="10">
                  <c:v>10298.057550000001</c:v>
                </c:pt>
                <c:pt idx="11">
                  <c:v>12428.25979</c:v>
                </c:pt>
                <c:pt idx="12">
                  <c:v>5140.7527399999999</c:v>
                </c:pt>
                <c:pt idx="13">
                  <c:v>11422.41275</c:v>
                </c:pt>
                <c:pt idx="14">
                  <c:v>8363.655209999999</c:v>
                </c:pt>
                <c:pt idx="15">
                  <c:v>5925.7316107249162</c:v>
                </c:pt>
                <c:pt idx="16">
                  <c:v>8073.8193621386681</c:v>
                </c:pt>
                <c:pt idx="17">
                  <c:v>4258.5177256848183</c:v>
                </c:pt>
                <c:pt idx="18">
                  <c:v>4373.9730920486672</c:v>
                </c:pt>
                <c:pt idx="19">
                  <c:v>13755.061246499461</c:v>
                </c:pt>
                <c:pt idx="20">
                  <c:v>12261.346135397236</c:v>
                </c:pt>
                <c:pt idx="21">
                  <c:v>9444.6669956391233</c:v>
                </c:pt>
                <c:pt idx="22">
                  <c:v>9986.1521613762852</c:v>
                </c:pt>
                <c:pt idx="23">
                  <c:v>11613.35917125874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82-1676-4A15-B7D2-68698F1DF412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vert="horz"/>
          <a:lstStyle/>
          <a:p>
            <a:pPr>
              <a:defRPr sz="800"/>
            </a:pPr>
            <a:endParaRPr lang="ru-RU"/>
          </a:p>
        </c:txPr>
        <c:crossAx val="2143344575"/>
        <c:crosses val="autoZero"/>
        <c:auto val="1"/>
        <c:lblOffset val="100"/>
        <c:baseTimeUnit val="months"/>
      </c:dateAx>
      <c:valAx>
        <c:axId val="2143344575"/>
        <c:scaling>
          <c:orientation val="minMax"/>
          <c:max val="15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vert="horz"/>
          <a:lstStyle/>
          <a:p>
            <a:pPr>
              <a:defRPr sz="800">
                <a:solidFill>
                  <a:schemeClr val="bg1">
                    <a:lumMod val="50000"/>
                  </a:schemeClr>
                </a:solidFill>
              </a:defRPr>
            </a:pPr>
            <a:endParaRPr lang="ru-RU"/>
          </a:p>
        </c:txPr>
        <c:crossAx val="2143338335"/>
        <c:crosses val="autoZero"/>
        <c:crossBetween val="between"/>
        <c:majorUnit val="2000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5971822" y="4017959"/>
      <a:ext cx="5726165" cy="2556570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5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b="1" dirty="0"/>
              <a:t>Инвестиции, млн </a:t>
            </a:r>
            <a:r>
              <a:rPr lang="ru-RU" b="1" dirty="0" err="1"/>
              <a:t>руб</a:t>
            </a:r>
            <a:endParaRPr lang="ru-RU" b="1" dirty="0"/>
          </a:p>
        </c:rich>
      </c:tx>
      <c:layout>
        <c:manualLayout>
          <c:xMode val="edge"/>
          <c:yMode val="edge"/>
          <c:x val="0.21523200000000001"/>
          <c:y val="4.1161000000000003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9735000000000003E-2"/>
          <c:y val="0.175209"/>
          <c:w val="0.60496799999999995"/>
          <c:h val="0.574964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 САМОКАТ  </c:v>
                </c:pt>
              </c:strCache>
            </c:strRef>
          </c:tx>
          <c:spPr>
            <a:prstGeom prst="rect">
              <a:avLst/>
            </a:prstGeom>
            <a:solidFill>
              <a:srgbClr val="F490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0-0AA5-49E8-A9C9-921CE65A8D6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1-0AA5-49E8-A9C9-921CE65A8D6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2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3-0AA5-49E8-A9C9-921CE65A8D6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4-0AA5-49E8-A9C9-921CE65A8D6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72%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5-0AA5-49E8-A9C9-921CE65A8D6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6-0AA5-49E8-A9C9-921CE65A8D6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7-0AA5-49E8-A9C9-921CE65A8D6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8-0AA5-49E8-A9C9-921CE65A8D6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9-0AA5-49E8-A9C9-921CE65A8D6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A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B-0AA5-49E8-A9C9-921CE65A8D6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92%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C-0AA5-49E8-A9C9-921CE65A8D6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D-0AA5-49E8-A9C9-921CE65A8D6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E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0F-0AA5-49E8-A9C9-921CE65A8D6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0-0AA5-49E8-A9C9-921CE65A8D6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1-0AA5-49E8-A9C9-921CE65A8D6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2-0AA5-49E8-A9C9-921CE65A8D6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3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4-0AA5-49E8-A9C9-921CE65A8D6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5-0AA5-49E8-A9C9-921CE65A8D6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6-0AA5-49E8-A9C9-921CE65A8D6C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38%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7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>
                    <a:solidFill>
                      <a:schemeClr val="tx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Sheet1!$B$2:$B$37</c:f>
              <c:numCache>
                <c:formatCode>_-* #\ ##0_-;\-* #\ ##0_-;_-* "-"??_-;_-@_-</c:formatCode>
                <c:ptCount val="24"/>
                <c:pt idx="0">
                  <c:v>154584600.50000012</c:v>
                </c:pt>
                <c:pt idx="1">
                  <c:v>202181397.54999983</c:v>
                </c:pt>
                <c:pt idx="2">
                  <c:v>641743581.74999952</c:v>
                </c:pt>
                <c:pt idx="3">
                  <c:v>368787171.50000018</c:v>
                </c:pt>
                <c:pt idx="4">
                  <c:v>194003833.09999987</c:v>
                </c:pt>
                <c:pt idx="5">
                  <c:v>181585952.8999992</c:v>
                </c:pt>
                <c:pt idx="6">
                  <c:v>256187949.05000067</c:v>
                </c:pt>
                <c:pt idx="7">
                  <c:v>780870417.8499999</c:v>
                </c:pt>
                <c:pt idx="8">
                  <c:v>1058656508.5000006</c:v>
                </c:pt>
                <c:pt idx="9">
                  <c:v>868321275.00000107</c:v>
                </c:pt>
                <c:pt idx="10">
                  <c:v>759644295.20000005</c:v>
                </c:pt>
                <c:pt idx="11">
                  <c:v>597109418.34999955</c:v>
                </c:pt>
                <c:pt idx="12">
                  <c:v>315981630.5</c:v>
                </c:pt>
                <c:pt idx="13">
                  <c:v>501259268.24999863</c:v>
                </c:pt>
                <c:pt idx="14">
                  <c:v>714536416.41993344</c:v>
                </c:pt>
                <c:pt idx="15">
                  <c:v>410618620.02058697</c:v>
                </c:pt>
                <c:pt idx="16">
                  <c:v>216009645.62354949</c:v>
                </c:pt>
                <c:pt idx="17">
                  <c:v>202183207.97777787</c:v>
                </c:pt>
                <c:pt idx="18">
                  <c:v>285247292.29854912</c:v>
                </c:pt>
                <c:pt idx="19">
                  <c:v>869444379.22908044</c:v>
                </c:pt>
                <c:pt idx="20">
                  <c:v>1178739685.6240234</c:v>
                </c:pt>
                <c:pt idx="21">
                  <c:v>966814768.05387425</c:v>
                </c:pt>
                <c:pt idx="22">
                  <c:v>845810582.11113846</c:v>
                </c:pt>
                <c:pt idx="23">
                  <c:v>664839409.58931112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Sheet1!$N$2:$N$25</c15:f>
                <c15:dlblRangeCache>
                  <c:ptCount val="12"/>
                  <c:pt idx="0">
                    <c:v>54%</c:v>
                  </c:pt>
                  <c:pt idx="1">
                    <c:v>30%</c:v>
                  </c:pt>
                  <c:pt idx="2">
                    <c:v>66%</c:v>
                  </c:pt>
                  <c:pt idx="3">
                    <c:v>51%</c:v>
                  </c:pt>
                  <c:pt idx="4">
                    <c:v>41%</c:v>
                  </c:pt>
                  <c:pt idx="5">
                    <c:v>72%</c:v>
                  </c:pt>
                  <c:pt idx="6">
                    <c:v>68%</c:v>
                  </c:pt>
                  <c:pt idx="7">
                    <c:v>65%</c:v>
                  </c:pt>
                  <c:pt idx="8">
                    <c:v>58%</c:v>
                  </c:pt>
                  <c:pt idx="9">
                    <c:v>54%</c:v>
                  </c:pt>
                  <c:pt idx="10">
                    <c:v>51%</c:v>
                  </c:pt>
                  <c:pt idx="11">
                    <c:v>38%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8-0AA5-49E8-A9C9-921CE65A8D6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 КУПЕР </c:v>
                </c:pt>
              </c:strCache>
            </c:strRef>
          </c:tx>
          <c:spPr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0AA5-49E8-A9C9-921CE65A8D6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A-0AA5-49E8-A9C9-921CE65A8D6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B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C-0AA5-49E8-A9C9-921CE65A8D6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0AA5-49E8-A9C9-921CE65A8D6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0AA5-49E8-A9C9-921CE65A8D6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1F-0AA5-49E8-A9C9-921CE65A8D6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0-0AA5-49E8-A9C9-921CE65A8D6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1-0AA5-49E8-A9C9-921CE65A8D6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2-0AA5-49E8-A9C9-921CE65A8D6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3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4-0AA5-49E8-A9C9-921CE65A8D6C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0AA5-49E8-A9C9-921CE65A8D6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6-0AA5-49E8-A9C9-921CE65A8D6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7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8-0AA5-49E8-A9C9-921CE65A8D6C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0AA5-49E8-A9C9-921CE65A8D6C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A-0AA5-49E8-A9C9-921CE65A8D6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B-0AA5-49E8-A9C9-921CE65A8D6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C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D-0AA5-49E8-A9C9-921CE65A8D6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E-0AA5-49E8-A9C9-921CE65A8D6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2F-0AA5-49E8-A9C9-921CE65A8D6C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0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Sheet1!$C$2:$C$37</c:f>
              <c:numCache>
                <c:formatCode>_-* #\ ##0_-;\-* #\ ##0_-;_-* "-"??_-;_-@_-</c:formatCode>
                <c:ptCount val="24"/>
                <c:pt idx="1">
                  <c:v>299674912.5</c:v>
                </c:pt>
                <c:pt idx="2">
                  <c:v>116628036.60000001</c:v>
                </c:pt>
                <c:pt idx="3">
                  <c:v>88925894.099999994</c:v>
                </c:pt>
                <c:pt idx="6">
                  <c:v>29949516.90000001</c:v>
                </c:pt>
                <c:pt idx="7">
                  <c:v>257308407.30000001</c:v>
                </c:pt>
                <c:pt idx="8">
                  <c:v>426407548.50000024</c:v>
                </c:pt>
                <c:pt idx="9">
                  <c:v>329102733.99999994</c:v>
                </c:pt>
                <c:pt idx="10">
                  <c:v>281182523.90000004</c:v>
                </c:pt>
                <c:pt idx="11">
                  <c:v>512705320.69999987</c:v>
                </c:pt>
                <c:pt idx="13">
                  <c:v>230254958.69999999</c:v>
                </c:pt>
                <c:pt idx="14">
                  <c:v>111160852.82410578</c:v>
                </c:pt>
                <c:pt idx="15">
                  <c:v>84757306.343114033</c:v>
                </c:pt>
                <c:pt idx="16">
                  <c:v>0</c:v>
                </c:pt>
                <c:pt idx="17">
                  <c:v>0</c:v>
                </c:pt>
                <c:pt idx="18">
                  <c:v>28545570.493415728</c:v>
                </c:pt>
                <c:pt idx="19">
                  <c:v>245246536.1513285</c:v>
                </c:pt>
                <c:pt idx="20">
                  <c:v>406418800.51932794</c:v>
                </c:pt>
                <c:pt idx="21">
                  <c:v>313675353.23993289</c:v>
                </c:pt>
                <c:pt idx="22">
                  <c:v>268001503.47346678</c:v>
                </c:pt>
                <c:pt idx="23">
                  <c:v>488671183.68747908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Sheet1!$O$2:$O$25</c15:f>
                <c15:dlblRangeCache>
                  <c:ptCount val="12"/>
                  <c:pt idx="0">
                    <c:v>0%</c:v>
                  </c:pt>
                  <c:pt idx="1">
                    <c:v>44%</c:v>
                  </c:pt>
                  <c:pt idx="2">
                    <c:v>12%</c:v>
                  </c:pt>
                  <c:pt idx="3">
                    <c:v>12%</c:v>
                  </c:pt>
                  <c:pt idx="4">
                    <c:v>0%</c:v>
                  </c:pt>
                  <c:pt idx="5">
                    <c:v>0%</c:v>
                  </c:pt>
                  <c:pt idx="6">
                    <c:v>8%</c:v>
                  </c:pt>
                  <c:pt idx="7">
                    <c:v>22%</c:v>
                  </c:pt>
                  <c:pt idx="8">
                    <c:v>23%</c:v>
                  </c:pt>
                  <c:pt idx="9">
                    <c:v>21%</c:v>
                  </c:pt>
                  <c:pt idx="10">
                    <c:v>19%</c:v>
                  </c:pt>
                  <c:pt idx="11">
                    <c:v>32%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31-0AA5-49E8-A9C9-921CE65A8D6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 ЯНДЕКС.ЛАВКА </c:v>
                </c:pt>
              </c:strCache>
            </c:strRef>
          </c:tx>
          <c:spPr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2-0AA5-49E8-A9C9-921CE65A8D6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3-0AA5-49E8-A9C9-921CE65A8D6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4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5-0AA5-49E8-A9C9-921CE65A8D6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5435134-821F-4092-8D81-AC450DCB2A3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6-0AA5-49E8-A9C9-921CE65A8D6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7-0AA5-49E8-A9C9-921CE65A8D6C}"/>
                </c:ext>
              </c:extLst>
            </c:dLbl>
            <c:dLbl>
              <c:idx val="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8-0AA5-49E8-A9C9-921CE65A8D6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9-0AA5-49E8-A9C9-921CE65A8D6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A-0AA5-49E8-A9C9-921CE65A8D6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B-0AA5-49E8-A9C9-921CE65A8D6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C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3D-0AA5-49E8-A9C9-921CE65A8D6C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E-0AA5-49E8-A9C9-921CE65A8D6C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F-0AA5-49E8-A9C9-921CE65A8D6C}"/>
                </c:ext>
              </c:extLst>
            </c:dLbl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12%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0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1-0AA5-49E8-A9C9-921CE65A8D6C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2-0AA5-49E8-A9C9-921CE65A8D6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3-0AA5-49E8-A9C9-921CE65A8D6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20%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4-0AA5-49E8-A9C9-921CE65A8D6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5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6-0AA5-49E8-A9C9-921CE65A8D6C}"/>
                </c:ext>
              </c:extLst>
            </c:dLbl>
            <c:dLbl>
              <c:idx val="2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7-0AA5-49E8-A9C9-921CE65A8D6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8-0AA5-49E8-A9C9-921CE65A8D6C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9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Sheet1!$D$2:$D$37</c:f>
              <c:numCache>
                <c:formatCode>_-* #\ ##0_-;\-* #\ ##0_-;_-* "-"??_-;_-@_-</c:formatCode>
                <c:ptCount val="24"/>
                <c:pt idx="0">
                  <c:v>99049639.150000066</c:v>
                </c:pt>
                <c:pt idx="1">
                  <c:v>116498106.99999999</c:v>
                </c:pt>
                <c:pt idx="2">
                  <c:v>114207970.8000001</c:v>
                </c:pt>
                <c:pt idx="3">
                  <c:v>125248390.3</c:v>
                </c:pt>
                <c:pt idx="4">
                  <c:v>6588255.3000000007</c:v>
                </c:pt>
                <c:pt idx="5">
                  <c:v>45588887.300000012</c:v>
                </c:pt>
                <c:pt idx="6">
                  <c:v>74380194.899999961</c:v>
                </c:pt>
                <c:pt idx="7">
                  <c:v>81524550.799999997</c:v>
                </c:pt>
                <c:pt idx="8">
                  <c:v>158551012.39999995</c:v>
                </c:pt>
                <c:pt idx="9">
                  <c:v>263668705.85000017</c:v>
                </c:pt>
                <c:pt idx="10">
                  <c:v>196438272.25000024</c:v>
                </c:pt>
                <c:pt idx="11">
                  <c:v>261644349.99999994</c:v>
                </c:pt>
                <c:pt idx="14">
                  <c:v>138658727.17407414</c:v>
                </c:pt>
                <c:pt idx="15">
                  <c:v>152062787.36894992</c:v>
                </c:pt>
                <c:pt idx="16">
                  <c:v>7998733.2565044351</c:v>
                </c:pt>
                <c:pt idx="17">
                  <c:v>55349000.967455335</c:v>
                </c:pt>
                <c:pt idx="18">
                  <c:v>90304232.529044703</c:v>
                </c:pt>
                <c:pt idx="19">
                  <c:v>98978121.826205656</c:v>
                </c:pt>
                <c:pt idx="20">
                  <c:v>192495159.6420871</c:v>
                </c:pt>
                <c:pt idx="21">
                  <c:v>320117474.22445536</c:v>
                </c:pt>
                <c:pt idx="22">
                  <c:v>238493693.63332793</c:v>
                </c:pt>
                <c:pt idx="23">
                  <c:v>317659724.52850837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Sheet1!$P$2:$P$25</c15:f>
                <c15:dlblRangeCache>
                  <c:ptCount val="12"/>
                  <c:pt idx="0">
                    <c:v>34%</c:v>
                  </c:pt>
                  <c:pt idx="1">
                    <c:v>17%</c:v>
                  </c:pt>
                  <c:pt idx="2">
                    <c:v>12%</c:v>
                  </c:pt>
                  <c:pt idx="3">
                    <c:v>17%</c:v>
                  </c:pt>
                  <c:pt idx="4">
                    <c:v>1%</c:v>
                  </c:pt>
                  <c:pt idx="5">
                    <c:v>18%</c:v>
                  </c:pt>
                  <c:pt idx="6">
                    <c:v>20%</c:v>
                  </c:pt>
                  <c:pt idx="7">
                    <c:v>7%</c:v>
                  </c:pt>
                  <c:pt idx="8">
                    <c:v>9%</c:v>
                  </c:pt>
                  <c:pt idx="9">
                    <c:v>16%</c:v>
                  </c:pt>
                  <c:pt idx="10">
                    <c:v>13%</c:v>
                  </c:pt>
                  <c:pt idx="11">
                    <c:v>16%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4A-0AA5-49E8-A9C9-921CE65A8D6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 OZON FRESH </c:v>
                </c:pt>
              </c:strCache>
            </c:strRef>
          </c:tx>
          <c:spPr>
            <a:prstGeom prst="rect">
              <a:avLst/>
            </a:prstGeom>
            <a:solidFill>
              <a:srgbClr val="DEEBF7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7DDBB3D-854C-457B-9B03-C109F8877F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B-0AA5-49E8-A9C9-921CE65A8D6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4C-0AA5-49E8-A9C9-921CE65A8D6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C5F0C07-48AB-4267-94D1-449C2057DFB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D-0AA5-49E8-A9C9-921CE65A8D6C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9A13EF5-AFBB-4D5E-915D-0BC05AB928C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E-0AA5-49E8-A9C9-921CE65A8D6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907C9E4-9713-446D-9152-455209F934C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4F-0AA5-49E8-A9C9-921CE65A8D6C}"/>
                </c:ext>
              </c:extLst>
            </c:dLbl>
            <c:dLbl>
              <c:idx val="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0-0AA5-49E8-A9C9-921CE65A8D6C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F6402837-1CC2-4576-8C52-0C21A16057A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1-0AA5-49E8-A9C9-921CE65A8D6C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654AC03E-95AC-4AF2-BC11-5E023EF7D2B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2-0AA5-49E8-A9C9-921CE65A8D6C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9FC5D80E-E316-4916-BC52-370CECF50C7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3-0AA5-49E8-A9C9-921CE65A8D6C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0F17B531-E432-4494-8332-825E4F2428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4-0AA5-49E8-A9C9-921CE65A8D6C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EEF3C831-4578-4131-974C-36F37922329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5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6-0AA5-49E8-A9C9-921CE65A8D6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7-0AA5-49E8-A9C9-921CE65A8D6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58-0AA5-49E8-A9C9-921CE65A8D6C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9-0AA5-49E8-A9C9-921CE65A8D6C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A-0AA5-49E8-A9C9-921CE65A8D6C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B-0AA5-49E8-A9C9-921CE65A8D6C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C-0AA5-49E8-A9C9-921CE65A8D6C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D-0AA5-49E8-A9C9-921CE65A8D6C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E-0AA5-49E8-A9C9-921CE65A8D6C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5F-0AA5-49E8-A9C9-921CE65A8D6C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0-0AA5-49E8-A9C9-921CE65A8D6C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1-0AA5-49E8-A9C9-921CE65A8D6C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2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Sheet1!$E$2:$E$37</c:f>
              <c:numCache>
                <c:formatCode>_-* #\ ##0_-;\-* #\ ##0_-;_-* "-"??_-;_-@_-</c:formatCode>
                <c:ptCount val="24"/>
                <c:pt idx="0">
                  <c:v>5947141.7499999963</c:v>
                </c:pt>
                <c:pt idx="1">
                  <c:v>22008328.649999999</c:v>
                </c:pt>
                <c:pt idx="2">
                  <c:v>25124540.09999999</c:v>
                </c:pt>
                <c:pt idx="3">
                  <c:v>11260927.149999993</c:v>
                </c:pt>
                <c:pt idx="4">
                  <c:v>7922313.8499999987</c:v>
                </c:pt>
                <c:pt idx="5">
                  <c:v>13251872.150000004</c:v>
                </c:pt>
                <c:pt idx="6">
                  <c:v>10263768.900000002</c:v>
                </c:pt>
                <c:pt idx="7">
                  <c:v>7825297.6999999983</c:v>
                </c:pt>
                <c:pt idx="8">
                  <c:v>13228516.400000002</c:v>
                </c:pt>
                <c:pt idx="9">
                  <c:v>28469283.150000028</c:v>
                </c:pt>
                <c:pt idx="10">
                  <c:v>34262215.900000021</c:v>
                </c:pt>
                <c:pt idx="11">
                  <c:v>53500245.649999984</c:v>
                </c:pt>
                <c:pt idx="12">
                  <c:v>14722473.699999999</c:v>
                </c:pt>
                <c:pt idx="13">
                  <c:v>43097833.900000036</c:v>
                </c:pt>
                <c:pt idx="14">
                  <c:v>19364121.392333101</c:v>
                </c:pt>
                <c:pt idx="15">
                  <c:v>8679082.6600173097</c:v>
                </c:pt>
                <c:pt idx="16">
                  <c:v>6105928.5658152942</c:v>
                </c:pt>
                <c:pt idx="17">
                  <c:v>10213554.555304216</c:v>
                </c:pt>
                <c:pt idx="18">
                  <c:v>7910547.4620191474</c:v>
                </c:pt>
                <c:pt idx="19">
                  <c:v>6031155.7541284133</c:v>
                </c:pt>
                <c:pt idx="20">
                  <c:v>10195553.685381465</c:v>
                </c:pt>
                <c:pt idx="21">
                  <c:v>21941999.840598237</c:v>
                </c:pt>
                <c:pt idx="22">
                  <c:v>26406760.291621257</c:v>
                </c:pt>
                <c:pt idx="23">
                  <c:v>41233998.599092409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Sheet1!$Q$2:$Q$25</c15:f>
                <c15:dlblRangeCache>
                  <c:ptCount val="12"/>
                  <c:pt idx="0">
                    <c:v>2%</c:v>
                  </c:pt>
                  <c:pt idx="1">
                    <c:v>3%</c:v>
                  </c:pt>
                  <c:pt idx="2">
                    <c:v>3%</c:v>
                  </c:pt>
                  <c:pt idx="3">
                    <c:v>2%</c:v>
                  </c:pt>
                  <c:pt idx="4">
                    <c:v>2%</c:v>
                  </c:pt>
                  <c:pt idx="5">
                    <c:v>5%</c:v>
                  </c:pt>
                  <c:pt idx="6">
                    <c:v>3%</c:v>
                  </c:pt>
                  <c:pt idx="7">
                    <c:v>1%</c:v>
                  </c:pt>
                  <c:pt idx="8">
                    <c:v>1%</c:v>
                  </c:pt>
                  <c:pt idx="9">
                    <c:v>2%</c:v>
                  </c:pt>
                  <c:pt idx="10">
                    <c:v>2%</c:v>
                  </c:pt>
                  <c:pt idx="11">
                    <c:v>3%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63-0AA5-49E8-A9C9-921CE65A8D6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 МАГНИТ </c:v>
                </c:pt>
              </c:strCache>
            </c:strRef>
          </c:tx>
          <c:spPr>
            <a:prstGeom prst="rect">
              <a:avLst/>
            </a:prstGeom>
            <a:solidFill>
              <a:srgbClr val="CC3399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4-0AA5-49E8-A9C9-921CE65A8D6C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5-0AA5-49E8-A9C9-921CE65A8D6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6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7-0AA5-49E8-A9C9-921CE65A8D6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41%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8-0AA5-49E8-A9C9-921CE65A8D6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19CE776C-CBC1-4EF5-92E6-C3946BF23E8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9-0AA5-49E8-A9C9-921CE65A8D6C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A-0AA5-49E8-A9C9-921CE65A8D6C}"/>
                </c:ext>
              </c:extLst>
            </c:dLbl>
            <c:dLbl>
              <c:idx val="7"/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500">
                        <a:solidFill>
                          <a:schemeClr val="bg1"/>
                        </a:solidFill>
                      </a:defRPr>
                    </a:pPr>
                    <a:fld id="{058E0B88-0C23-4D2D-B1AE-0AE9BD9ACF07}" type="CELLRANGE">
                      <a:rPr lang="en-US"/>
                      <a:pPr>
                        <a:defRPr sz="500">
                          <a:solidFill>
                            <a:schemeClr val="bg1"/>
                          </a:solidFill>
                        </a:defRPr>
                      </a:pPr>
                      <a:t>[ДИАПАЗОН ЯЧЕЕК]</a:t>
                    </a:fld>
                    <a:endParaRPr lang="ru-RU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2.2247951890993791E-2"/>
                      <c:h val="3.6596776398052089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6B-0AA5-49E8-A9C9-921CE65A8D6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2.2247951890993791E-2"/>
                      <c:h val="3.6596776398052089E-2"/>
                    </c:manualLayout>
                  </c15:layout>
                  <c15:showDataLabelsRange val="1"/>
                </c:ext>
                <c:ext xmlns:c16="http://schemas.microsoft.com/office/drawing/2014/chart" uri="{C3380CC4-5D6E-409C-BE32-E72D297353CC}">
                  <c16:uniqueId val="{0000006C-0AA5-49E8-A9C9-921CE65A8D6C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D-0AA5-49E8-A9C9-921CE65A8D6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6E-0AA5-49E8-A9C9-921CE65A8D6C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7DFE0032-AD82-429D-8802-95909086626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6F-0AA5-49E8-A9C9-921CE65A8D6C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0-0AA5-49E8-A9C9-921CE65A8D6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19%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1-0AA5-49E8-A9C9-921CE65A8D6C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2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3-0AA5-49E8-A9C9-921CE65A8D6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4-0AA5-49E8-A9C9-921CE65A8D6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5-0AA5-49E8-A9C9-921CE65A8D6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6-0AA5-49E8-A9C9-921CE65A8D6C}"/>
                </c:ext>
              </c:extLst>
            </c:dLbl>
            <c:dLbl>
              <c:idx val="1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7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8-0AA5-49E8-A9C9-921CE65A8D6C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9-0AA5-49E8-A9C9-921CE65A8D6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9%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A-0AA5-49E8-A9C9-921CE65A8D6C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B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Sheet1!$F$2:$F$37</c:f>
              <c:numCache>
                <c:formatCode>General</c:formatCode>
                <c:ptCount val="24"/>
                <c:pt idx="3" formatCode="_-* #\ ##0_-;\-* #\ ##0_-;_-* &quot;-&quot;??_-;_-@_-">
                  <c:v>40135625.899999969</c:v>
                </c:pt>
                <c:pt idx="4" formatCode="_-* #\ ##0_-;\-* #\ ##0_-;_-* &quot;-&quot;??_-;_-@_-">
                  <c:v>193667378.64999974</c:v>
                </c:pt>
                <c:pt idx="5" formatCode="_-* #\ ##0_-;\-* #\ ##0_-;_-* &quot;-&quot;??_-;_-@_-">
                  <c:v>3421370.9999999995</c:v>
                </c:pt>
                <c:pt idx="7" formatCode="_-* #\ ##0_-;\-* #\ ##0_-;_-* &quot;-&quot;??_-;_-@_-">
                  <c:v>20050836.899999995</c:v>
                </c:pt>
                <c:pt idx="8" formatCode="_-* #\ ##0_-;\-* #\ ##0_-;_-* &quot;-&quot;??_-;_-@_-">
                  <c:v>57739624.199999996</c:v>
                </c:pt>
                <c:pt idx="10" formatCode="_-* #\ ##0_-;\-* #\ ##0_-;_-* &quot;-&quot;??_-;_-@_-">
                  <c:v>128168160.79999998</c:v>
                </c:pt>
                <c:pt idx="11" formatCode="_-* #\ ##0_-;\-* #\ ##0_-;_-* &quot;-&quot;??_-;_-@_-">
                  <c:v>4607690.0499999989</c:v>
                </c:pt>
                <c:pt idx="12" formatCode="_-* #\ ##0_-;\-* #\ ##0_-;_-* &quot;-&quot;??_-;_-@_-">
                  <c:v>565382.94999999984</c:v>
                </c:pt>
                <c:pt idx="13" formatCode="_-* #\ ##0_-;\-* #\ ##0_-;_-* &quot;-&quot;??_-;_-@_-">
                  <c:v>212003499.20000002</c:v>
                </c:pt>
                <c:pt idx="14" formatCode="_-* #\ ##0_-;\-* #\ ##0_-;_-* &quot;-&quot;??_-;_-@_-">
                  <c:v>31359648.780928135</c:v>
                </c:pt>
                <c:pt idx="15" formatCode="_-* #\ ##0_-;\-* #\ ##0_-;_-* &quot;-&quot;??_-;_-@_-">
                  <c:v>69341641.011498809</c:v>
                </c:pt>
                <c:pt idx="16" formatCode="_-* #\ ##0_-;\-* #\ ##0_-;_-* &quot;-&quot;??_-;_-@_-">
                  <c:v>158063128.03666669</c:v>
                </c:pt>
                <c:pt idx="17" formatCode="_-* #\ ##0_-;\-* #\ ##0_-;_-* &quot;-&quot;??_-;_-@_-">
                  <c:v>93085846.294670165</c:v>
                </c:pt>
                <c:pt idx="18" formatCode="_-* #\ ##0_-;\-* #\ ##0_-;_-* &quot;-&quot;??_-;_-@_-">
                  <c:v>26689569.676201224</c:v>
                </c:pt>
                <c:pt idx="19" formatCode="_-* #\ ##0_-;\-* #\ ##0_-;_-* &quot;-&quot;??_-;_-@_-">
                  <c:v>83092294.245052159</c:v>
                </c:pt>
                <c:pt idx="20" formatCode="_-* #\ ##0_-;\-* #\ ##0_-;_-* &quot;-&quot;??_-;_-@_-">
                  <c:v>147668493.93370628</c:v>
                </c:pt>
                <c:pt idx="21" formatCode="_-* #\ ##0_-;\-* #\ ##0_-;_-* &quot;-&quot;??_-;_-@_-">
                  <c:v>24503871.493198752</c:v>
                </c:pt>
                <c:pt idx="22" formatCode="_-* #\ ##0_-;\-* #\ ##0_-;_-* &quot;-&quot;??_-;_-@_-">
                  <c:v>144224503.62877131</c:v>
                </c:pt>
                <c:pt idx="23" formatCode="_-* #\ ##0_-;\-* #\ ##0_-;_-* &quot;-&quot;??_-;_-@_-">
                  <c:v>68248943.051345229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Sheet1!$R$2:$R$25</c15:f>
                <c15:dlblRangeCache>
                  <c:ptCount val="12"/>
                  <c:pt idx="0">
                    <c:v>0%</c:v>
                  </c:pt>
                  <c:pt idx="1">
                    <c:v>0%</c:v>
                  </c:pt>
                  <c:pt idx="2">
                    <c:v>0%</c:v>
                  </c:pt>
                  <c:pt idx="3">
                    <c:v>6%</c:v>
                  </c:pt>
                  <c:pt idx="4">
                    <c:v>41%</c:v>
                  </c:pt>
                  <c:pt idx="5">
                    <c:v>1%</c:v>
                  </c:pt>
                  <c:pt idx="6">
                    <c:v>0%</c:v>
                  </c:pt>
                  <c:pt idx="7">
                    <c:v>2%</c:v>
                  </c:pt>
                  <c:pt idx="8">
                    <c:v>3%</c:v>
                  </c:pt>
                  <c:pt idx="9">
                    <c:v>0%</c:v>
                  </c:pt>
                  <c:pt idx="10">
                    <c:v>9%</c:v>
                  </c:pt>
                  <c:pt idx="11">
                    <c:v>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7C-0AA5-49E8-A9C9-921CE65A8D6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 ПЯТЕРОЧКА 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7D-0AA5-49E8-A9C9-921CE65A8D6C}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E-0AA5-49E8-A9C9-921CE65A8D6C}"/>
                </c:ext>
              </c:extLst>
            </c:dLbl>
            <c:dLbl>
              <c:idx val="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7F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0-0AA5-49E8-A9C9-921CE65A8D6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1-0AA5-49E8-A9C9-921CE65A8D6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F9CDC3B9-B9DD-4E37-A6FC-34F35053CCD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2-0AA5-49E8-A9C9-921CE65A8D6C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3-0AA5-49E8-A9C9-921CE65A8D6C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A287242E-B3EF-43D2-A52F-807FDD5E84F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4-0AA5-49E8-A9C9-921CE65A8D6C}"/>
                </c:ext>
              </c:extLst>
            </c:dLbl>
            <c:dLbl>
              <c:idx val="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5-0AA5-49E8-A9C9-921CE65A8D6C}"/>
                </c:ext>
              </c:extLst>
            </c:dLbl>
            <c:dLbl>
              <c:idx val="9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6-0AA5-49E8-A9C9-921CE65A8D6C}"/>
                </c:ext>
              </c:extLst>
            </c:dLbl>
            <c:dLbl>
              <c:idx val="1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7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8-0AA5-49E8-A9C9-921CE65A8D6C}"/>
                </c:ext>
              </c:extLst>
            </c:dLbl>
            <c:dLbl>
              <c:idx val="1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9-0AA5-49E8-A9C9-921CE65A8D6C}"/>
                </c:ext>
              </c:extLst>
            </c:dLbl>
            <c:dLbl>
              <c:idx val="1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A-0AA5-49E8-A9C9-921CE65A8D6C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B-0AA5-49E8-A9C9-921CE65A8D6C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C-0AA5-49E8-A9C9-921CE65A8D6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8D-0AA5-49E8-A9C9-921CE65A8D6C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E-0AA5-49E8-A9C9-921CE65A8D6C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8F-0AA5-49E8-A9C9-921CE65A8D6C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0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91-0AA5-49E8-A9C9-921CE65A8D6C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2-0AA5-49E8-A9C9-921CE65A8D6C}"/>
                </c:ext>
              </c:extLst>
            </c:dLbl>
            <c:dLbl>
              <c:idx val="22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93-0AA5-49E8-A9C9-921CE65A8D6C}"/>
                </c:ext>
              </c:extLst>
            </c:dLbl>
            <c:dLbl>
              <c:idx val="2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94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Sheet1!$G$2:$G$37</c:f>
              <c:numCache>
                <c:formatCode>_-* #\ ##0_-;\-* #\ ##0_-;_-* "-"??_-;_-@_-</c:formatCode>
                <c:ptCount val="24"/>
                <c:pt idx="1">
                  <c:v>37518793.600000001</c:v>
                </c:pt>
                <c:pt idx="2">
                  <c:v>45904878.000000007</c:v>
                </c:pt>
                <c:pt idx="3">
                  <c:v>35918823.899999999</c:v>
                </c:pt>
                <c:pt idx="4">
                  <c:v>26015881.800000004</c:v>
                </c:pt>
                <c:pt idx="5">
                  <c:v>766517.40000000014</c:v>
                </c:pt>
                <c:pt idx="7">
                  <c:v>25053800.099999994</c:v>
                </c:pt>
                <c:pt idx="8">
                  <c:v>66878824.700000003</c:v>
                </c:pt>
                <c:pt idx="9">
                  <c:v>83367912.899999976</c:v>
                </c:pt>
                <c:pt idx="10">
                  <c:v>62937315.049999975</c:v>
                </c:pt>
                <c:pt idx="11">
                  <c:v>67742185.649999991</c:v>
                </c:pt>
                <c:pt idx="12">
                  <c:v>11371598.899999999</c:v>
                </c:pt>
                <c:pt idx="13">
                  <c:v>88698157.700000048</c:v>
                </c:pt>
                <c:pt idx="14">
                  <c:v>16972339.1823048</c:v>
                </c:pt>
                <c:pt idx="15">
                  <c:v>22312857.387075186</c:v>
                </c:pt>
                <c:pt idx="16">
                  <c:v>14487467.102486432</c:v>
                </c:pt>
                <c:pt idx="17">
                  <c:v>462583.99773669243</c:v>
                </c:pt>
                <c:pt idx="18">
                  <c:v>0</c:v>
                </c:pt>
                <c:pt idx="19">
                  <c:v>28998567.738459945</c:v>
                </c:pt>
                <c:pt idx="20">
                  <c:v>72364370.84474647</c:v>
                </c:pt>
                <c:pt idx="21">
                  <c:v>50384017.728132725</c:v>
                </c:pt>
                <c:pt idx="22">
                  <c:v>76163925.655866146</c:v>
                </c:pt>
                <c:pt idx="23">
                  <c:v>67296780.623542666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Sheet1!$S$2:$S$25</c15:f>
                <c15:dlblRangeCache>
                  <c:ptCount val="12"/>
                  <c:pt idx="0">
                    <c:v>0%</c:v>
                  </c:pt>
                  <c:pt idx="1">
                    <c:v>5%</c:v>
                  </c:pt>
                  <c:pt idx="2">
                    <c:v>5%</c:v>
                  </c:pt>
                  <c:pt idx="3">
                    <c:v>5%</c:v>
                  </c:pt>
                  <c:pt idx="4">
                    <c:v>6%</c:v>
                  </c:pt>
                  <c:pt idx="5">
                    <c:v>0%</c:v>
                  </c:pt>
                  <c:pt idx="6">
                    <c:v>0%</c:v>
                  </c:pt>
                  <c:pt idx="7">
                    <c:v>2%</c:v>
                  </c:pt>
                  <c:pt idx="8">
                    <c:v>4%</c:v>
                  </c:pt>
                  <c:pt idx="9">
                    <c:v>5%</c:v>
                  </c:pt>
                  <c:pt idx="10">
                    <c:v>4%</c:v>
                  </c:pt>
                  <c:pt idx="11">
                    <c:v>4%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95-0AA5-49E8-A9C9-921CE65A8D6C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 ПЕРЕКРЕСТОК </c:v>
                </c:pt>
              </c:strCache>
            </c:strRef>
          </c:tx>
          <c:spPr>
            <a:prstGeom prst="rect">
              <a:avLst/>
            </a:prstGeom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F085F79-9299-495A-82A8-1ADF53809FF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6-0AA5-49E8-A9C9-921CE65A8D6C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F746721-26C4-4AE7-9342-DBADCAF5EC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7-0AA5-49E8-A9C9-921CE65A8D6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C90F9CEE-73BB-4F77-9418-6F17E69EFD0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8-0AA5-49E8-A9C9-921CE65A8D6C}"/>
                </c:ext>
              </c:extLst>
            </c:dLbl>
            <c:dLbl>
              <c:idx val="3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99-0AA5-49E8-A9C9-921CE65A8D6C}"/>
                </c:ext>
              </c:extLst>
            </c:dLbl>
            <c:dLbl>
              <c:idx val="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9A-0AA5-49E8-A9C9-921CE65A8D6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112B22A9-AE91-4728-A0A8-74CDC3F294A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B-0AA5-49E8-A9C9-921CE65A8D6C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C-0AA5-49E8-A9C9-921CE65A8D6C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F0100CC0-BA0D-4193-BB7B-7E131838418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D-0AA5-49E8-A9C9-921CE65A8D6C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2671835F-AC1F-4457-8C0B-15A536E66FF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E-0AA5-49E8-A9C9-921CE65A8D6C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9F-0AA5-49E8-A9C9-921CE65A8D6C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3075DF5D-765C-45DF-9DC9-ADF37D5BD4A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0-0AA5-49E8-A9C9-921CE65A8D6C}"/>
                </c:ext>
              </c:extLst>
            </c:dLbl>
            <c:dLbl>
              <c:idx val="11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A1-0AA5-49E8-A9C9-921CE65A8D6C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2-0AA5-49E8-A9C9-921CE65A8D6C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3-0AA5-49E8-A9C9-921CE65A8D6C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4-0AA5-49E8-A9C9-921CE65A8D6C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5-0AA5-49E8-A9C9-921CE65A8D6C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6-0AA5-49E8-A9C9-921CE65A8D6C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7-0AA5-49E8-A9C9-921CE65A8D6C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8-0AA5-49E8-A9C9-921CE65A8D6C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9-0AA5-49E8-A9C9-921CE65A8D6C}"/>
                </c:ext>
              </c:extLst>
            </c:dLbl>
            <c:dLbl>
              <c:idx val="2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>
                        <a:solidFill>
                          <a:schemeClr val="tx1"/>
                        </a:solidFill>
                      </a:defRPr>
                    </a:pPr>
                    <a:r>
                      <a:rPr lang="en-US"/>
                      <a:t>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1"/>
                </c:ext>
                <c:ext xmlns:c16="http://schemas.microsoft.com/office/drawing/2014/chart" uri="{C3380CC4-5D6E-409C-BE32-E72D297353CC}">
                  <c16:uniqueId val="{000000AA-0AA5-49E8-A9C9-921CE65A8D6C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B-0AA5-49E8-A9C9-921CE65A8D6C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C-0AA5-49E8-A9C9-921CE65A8D6C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AD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500">
                    <a:solidFill>
                      <a:schemeClr val="tx1"/>
                    </a:solidFill>
                  </a:defRPr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Sheet1!$H$2:$H$37</c:f>
              <c:numCache>
                <c:formatCode>_-* #\ ##0_-;\-* #\ ##0_-;_-* "-"??_-;_-@_-</c:formatCode>
                <c:ptCount val="24"/>
                <c:pt idx="0">
                  <c:v>417106.25</c:v>
                </c:pt>
                <c:pt idx="1">
                  <c:v>795814.79999999993</c:v>
                </c:pt>
                <c:pt idx="2">
                  <c:v>23582383</c:v>
                </c:pt>
                <c:pt idx="3">
                  <c:v>43804721.399999999</c:v>
                </c:pt>
                <c:pt idx="4">
                  <c:v>38360075.600000009</c:v>
                </c:pt>
                <c:pt idx="5">
                  <c:v>1897456.0000000002</c:v>
                </c:pt>
                <c:pt idx="7">
                  <c:v>23308649.100000001</c:v>
                </c:pt>
                <c:pt idx="8">
                  <c:v>39366223.600000031</c:v>
                </c:pt>
                <c:pt idx="10">
                  <c:v>17874863.050000001</c:v>
                </c:pt>
                <c:pt idx="11">
                  <c:v>58084116.199999988</c:v>
                </c:pt>
                <c:pt idx="13">
                  <c:v>30504178.650000002</c:v>
                </c:pt>
                <c:pt idx="14">
                  <c:v>19684407.368339688</c:v>
                </c:pt>
                <c:pt idx="15">
                  <c:v>23055332.784721196</c:v>
                </c:pt>
                <c:pt idx="16">
                  <c:v>4650919.4099887423</c:v>
                </c:pt>
                <c:pt idx="17">
                  <c:v>384343.4841209054</c:v>
                </c:pt>
                <c:pt idx="18">
                  <c:v>761806.62852251157</c:v>
                </c:pt>
                <c:pt idx="19">
                  <c:v>21168851.499639641</c:v>
                </c:pt>
                <c:pt idx="20">
                  <c:v>95368475.339270189</c:v>
                </c:pt>
                <c:pt idx="21">
                  <c:v>21158220.481676005</c:v>
                </c:pt>
                <c:pt idx="22">
                  <c:v>23576759.633578274</c:v>
                </c:pt>
                <c:pt idx="23">
                  <c:v>17348238.033428099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Sheet1!$T$2:$T$25</c15:f>
                <c15:dlblRangeCache>
                  <c:ptCount val="12"/>
                  <c:pt idx="0">
                    <c:v>0%</c:v>
                  </c:pt>
                  <c:pt idx="1">
                    <c:v>0%</c:v>
                  </c:pt>
                  <c:pt idx="2">
                    <c:v>2%</c:v>
                  </c:pt>
                  <c:pt idx="3">
                    <c:v>6%</c:v>
                  </c:pt>
                  <c:pt idx="4">
                    <c:v>8%</c:v>
                  </c:pt>
                  <c:pt idx="5">
                    <c:v>1%</c:v>
                  </c:pt>
                  <c:pt idx="6">
                    <c:v>0%</c:v>
                  </c:pt>
                  <c:pt idx="7">
                    <c:v>2%</c:v>
                  </c:pt>
                  <c:pt idx="8">
                    <c:v>2%</c:v>
                  </c:pt>
                  <c:pt idx="9">
                    <c:v>0%</c:v>
                  </c:pt>
                  <c:pt idx="10">
                    <c:v>1%</c:v>
                  </c:pt>
                  <c:pt idx="11">
                    <c:v>4%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AE-0AA5-49E8-A9C9-921CE65A8D6C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 ЛЕНТА </c:v>
                </c:pt>
              </c:strCache>
            </c:strRef>
          </c:tx>
          <c:spPr>
            <a:prstGeom prst="rect">
              <a:avLst/>
            </a:prstGeom>
            <a:solidFill>
              <a:srgbClr val="4472C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6%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AF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Sheet1!$I$2:$I$37</c:f>
              <c:numCache>
                <c:formatCode>_-* #\ ##0_-;\-* #\ ##0_-;_-* "-"??_-;_-@_-</c:formatCode>
                <c:ptCount val="24"/>
                <c:pt idx="0">
                  <c:v>16543869</c:v>
                </c:pt>
                <c:pt idx="1">
                  <c:v>4858618</c:v>
                </c:pt>
                <c:pt idx="2">
                  <c:v>6253106</c:v>
                </c:pt>
                <c:pt idx="3">
                  <c:v>12920112</c:v>
                </c:pt>
                <c:pt idx="4">
                  <c:v>3690831</c:v>
                </c:pt>
                <c:pt idx="5">
                  <c:v>4917460</c:v>
                </c:pt>
                <c:pt idx="6">
                  <c:v>3862343</c:v>
                </c:pt>
                <c:pt idx="7">
                  <c:v>570266</c:v>
                </c:pt>
                <c:pt idx="9">
                  <c:v>20524863</c:v>
                </c:pt>
                <c:pt idx="10">
                  <c:v>6939871</c:v>
                </c:pt>
                <c:pt idx="11">
                  <c:v>4735851</c:v>
                </c:pt>
                <c:pt idx="12">
                  <c:v>641621</c:v>
                </c:pt>
                <c:pt idx="13">
                  <c:v>215346</c:v>
                </c:pt>
                <c:pt idx="14">
                  <c:v>3238318.2460672185</c:v>
                </c:pt>
                <c:pt idx="15">
                  <c:v>6690984.4371027201</c:v>
                </c:pt>
                <c:pt idx="16">
                  <c:v>1911383.6478729993</c:v>
                </c:pt>
                <c:pt idx="17">
                  <c:v>2546622.7493710518</c:v>
                </c:pt>
                <c:pt idx="18">
                  <c:v>2000205.6006601616</c:v>
                </c:pt>
                <c:pt idx="19">
                  <c:v>295324.67386066914</c:v>
                </c:pt>
                <c:pt idx="20">
                  <c:v>2325309.9773247242</c:v>
                </c:pt>
                <c:pt idx="21">
                  <c:v>10629284.758991897</c:v>
                </c:pt>
                <c:pt idx="22">
                  <c:v>6288123.6371535361</c:v>
                </c:pt>
                <c:pt idx="23">
                  <c:v>52015947.663796186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B0-0AA5-49E8-A9C9-921CE65A8D6C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 ЧИЖИК </c:v>
                </c:pt>
              </c:strCache>
            </c:strRef>
          </c:tx>
          <c:spPr>
            <a:prstGeom prst="rect">
              <a:avLst/>
            </a:prstGeom>
            <a:solidFill>
              <a:srgbClr val="FFDB00"/>
            </a:solidFill>
            <a:ln>
              <a:noFill/>
            </a:ln>
            <a:effectLst/>
          </c:spPr>
          <c:invertIfNegative val="0"/>
          <c:dLbls>
            <c:dLbl>
              <c:idx val="14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7%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1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2-0AA5-49E8-A9C9-921CE65A8D6C}"/>
                </c:ext>
              </c:extLst>
            </c:dLbl>
            <c:dLbl>
              <c:idx val="16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13%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3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Sheet1!$J$2:$J$37</c:f>
              <c:numCache>
                <c:formatCode>General</c:formatCode>
                <c:ptCount val="24"/>
                <c:pt idx="13" formatCode="_-* #\ ##0_-;\-* #\ ##0_-;_-* &quot;-&quot;??_-;_-@_-">
                  <c:v>7079119.3000000017</c:v>
                </c:pt>
                <c:pt idx="14" formatCode="_-* #\ ##0_-;\-* #\ ##0_-;_-* &quot;-&quot;??_-;_-@_-">
                  <c:v>77407579.782201514</c:v>
                </c:pt>
                <c:pt idx="15" formatCode="_-* #\ ##0_-;\-* #\ ##0_-;_-* &quot;-&quot;??_-;_-@_-">
                  <c:v>92985189.99142763</c:v>
                </c:pt>
                <c:pt idx="16" formatCode="_-* #\ ##0_-;\-* #\ ##0_-;_-* &quot;-&quot;??_-;_-@_-">
                  <c:v>62122056.752681725</c:v>
                </c:pt>
                <c:pt idx="17" formatCode="_-* #\ ##0_-;\-* #\ ##0_-;_-* &quot;-&quot;??_-;_-@_-">
                  <c:v>0</c:v>
                </c:pt>
                <c:pt idx="18" formatCode="_-* #\ ##0_-;\-* #\ ##0_-;_-* &quot;-&quot;??_-;_-@_-">
                  <c:v>0</c:v>
                </c:pt>
                <c:pt idx="19" formatCode="_-* #\ ##0_-;\-* #\ ##0_-;_-* &quot;-&quot;??_-;_-@_-">
                  <c:v>0</c:v>
                </c:pt>
                <c:pt idx="20" formatCode="_-* #\ ##0_-;\-* #\ ##0_-;_-* &quot;-&quot;??_-;_-@_-">
                  <c:v>0</c:v>
                </c:pt>
                <c:pt idx="21" formatCode="_-* #\ ##0_-;\-* #\ ##0_-;_-* &quot;-&quot;??_-;_-@_-">
                  <c:v>0</c:v>
                </c:pt>
                <c:pt idx="22" formatCode="_-* #\ ##0_-;\-* #\ ##0_-;_-* &quot;-&quot;??_-;_-@_-">
                  <c:v>0</c:v>
                </c:pt>
                <c:pt idx="23" formatCode="_-* #\ ##0_-;\-* #\ ##0_-;_-* &quot;-&quot;??_-;_-@_-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B4-0AA5-49E8-A9C9-921CE65A8D6C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 Другие </c:v>
                </c:pt>
              </c:strCache>
            </c:strRef>
          </c:tx>
          <c:spPr>
            <a:prstGeom prst="rect">
              <a:avLst/>
            </a:prstGeom>
            <a:solidFill>
              <a:srgbClr val="80808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5-0AA5-49E8-A9C9-921CE65A8D6C}"/>
                </c:ext>
              </c:extLst>
            </c:dLbl>
            <c:dLbl>
              <c:idx val="15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6-0AA5-49E8-A9C9-921CE65A8D6C}"/>
                </c:ext>
              </c:extLst>
            </c:dLbl>
            <c:dLbl>
              <c:idx val="17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8%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7-0AA5-49E8-A9C9-921CE65A8D6C}"/>
                </c:ext>
              </c:extLst>
            </c:dLbl>
            <c:dLbl>
              <c:idx val="18"/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500" b="0"/>
                    </a:pPr>
                    <a:r>
                      <a:rPr lang="en-US"/>
                      <a:t>4%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B8-0AA5-49E8-A9C9-921CE65A8D6C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Sheet1!$K$2:$K$37</c:f>
              <c:numCache>
                <c:formatCode>_-* #\ ##0_-;\-* #\ ##0_-;_-* "-"??_-;_-@_-</c:formatCode>
                <c:ptCount val="24"/>
                <c:pt idx="0">
                  <c:v>12336853</c:v>
                </c:pt>
                <c:pt idx="1">
                  <c:v>0</c:v>
                </c:pt>
                <c:pt idx="2">
                  <c:v>1385969.7500000002</c:v>
                </c:pt>
                <c:pt idx="3">
                  <c:v>0</c:v>
                </c:pt>
                <c:pt idx="4">
                  <c:v>1036530.4</c:v>
                </c:pt>
                <c:pt idx="5">
                  <c:v>2254551.7499999995</c:v>
                </c:pt>
                <c:pt idx="6">
                  <c:v>1254417.4500000002</c:v>
                </c:pt>
                <c:pt idx="7">
                  <c:v>137667.75</c:v>
                </c:pt>
                <c:pt idx="8">
                  <c:v>9013094.2000000011</c:v>
                </c:pt>
                <c:pt idx="9">
                  <c:v>9009188.6500000022</c:v>
                </c:pt>
                <c:pt idx="10">
                  <c:v>0</c:v>
                </c:pt>
                <c:pt idx="11">
                  <c:v>28063630</c:v>
                </c:pt>
                <c:pt idx="12">
                  <c:v>634771.9</c:v>
                </c:pt>
                <c:pt idx="13">
                  <c:v>84658.75</c:v>
                </c:pt>
                <c:pt idx="14">
                  <c:v>31807466.507598322</c:v>
                </c:pt>
                <c:pt idx="15">
                  <c:v>35770325.667277068</c:v>
                </c:pt>
                <c:pt idx="16">
                  <c:v>5229610.3032031655</c:v>
                </c:pt>
                <c:pt idx="17">
                  <c:v>31869835.563864745</c:v>
                </c:pt>
                <c:pt idx="18">
                  <c:v>19942395.846826222</c:v>
                </c:pt>
                <c:pt idx="19">
                  <c:v>90942.936954855919</c:v>
                </c:pt>
                <c:pt idx="20">
                  <c:v>10235370.639764935</c:v>
                </c:pt>
                <c:pt idx="21">
                  <c:v>10230935.453477621</c:v>
                </c:pt>
                <c:pt idx="22">
                  <c:v>13193402.837326067</c:v>
                </c:pt>
                <c:pt idx="23">
                  <c:v>29828778.366361372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B9-0AA5-49E8-A9C9-921CE65A8D6C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 Тотал </c:v>
                </c:pt>
              </c:strCache>
            </c:strRef>
          </c:tx>
          <c:spPr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Sheet1!$A$2:$A$37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  <c:pt idx="15">
                  <c:v>46113</c:v>
                </c:pt>
                <c:pt idx="16">
                  <c:v>46143</c:v>
                </c:pt>
                <c:pt idx="17">
                  <c:v>46174</c:v>
                </c:pt>
                <c:pt idx="18">
                  <c:v>46204</c:v>
                </c:pt>
                <c:pt idx="19">
                  <c:v>46235</c:v>
                </c:pt>
                <c:pt idx="20">
                  <c:v>46266</c:v>
                </c:pt>
                <c:pt idx="21">
                  <c:v>46296</c:v>
                </c:pt>
                <c:pt idx="22">
                  <c:v>46327</c:v>
                </c:pt>
                <c:pt idx="23">
                  <c:v>46357</c:v>
                </c:pt>
              </c:numCache>
            </c:numRef>
          </c:cat>
          <c:val>
            <c:numRef>
              <c:f>Sheet1!$L$2:$L$37</c:f>
              <c:numCache>
                <c:formatCode>_-* #\ ##0_-;\-* #\ ##0_-;_-* "-"??_-;_-@_-</c:formatCode>
                <c:ptCount val="24"/>
                <c:pt idx="0">
                  <c:v>288879209.65000021</c:v>
                </c:pt>
                <c:pt idx="1">
                  <c:v>683535972.09999979</c:v>
                </c:pt>
                <c:pt idx="2">
                  <c:v>974830465.99999964</c:v>
                </c:pt>
                <c:pt idx="3">
                  <c:v>727001666.25</c:v>
                </c:pt>
                <c:pt idx="4">
                  <c:v>471285099.69999963</c:v>
                </c:pt>
                <c:pt idx="5">
                  <c:v>253684068.49999923</c:v>
                </c:pt>
                <c:pt idx="6">
                  <c:v>375898190.20000064</c:v>
                </c:pt>
                <c:pt idx="7">
                  <c:v>1196649893.4999998</c:v>
                </c:pt>
                <c:pt idx="8">
                  <c:v>1829841352.5000012</c:v>
                </c:pt>
                <c:pt idx="9">
                  <c:v>1602463962.5500011</c:v>
                </c:pt>
                <c:pt idx="10">
                  <c:v>1487447517.1500003</c:v>
                </c:pt>
                <c:pt idx="11">
                  <c:v>1588192807.5999997</c:v>
                </c:pt>
                <c:pt idx="12">
                  <c:v>343917478.94999993</c:v>
                </c:pt>
                <c:pt idx="13">
                  <c:v>1113197020.4499989</c:v>
                </c:pt>
                <c:pt idx="14">
                  <c:v>1164189877.6778862</c:v>
                </c:pt>
                <c:pt idx="15">
                  <c:v>906274127.67177069</c:v>
                </c:pt>
                <c:pt idx="16">
                  <c:v>476578872.69876903</c:v>
                </c:pt>
                <c:pt idx="17">
                  <c:v>396094995.59030104</c:v>
                </c:pt>
                <c:pt idx="18">
                  <c:v>461401620.53523874</c:v>
                </c:pt>
                <c:pt idx="19">
                  <c:v>1353346174.0547109</c:v>
                </c:pt>
                <c:pt idx="20">
                  <c:v>2115811220.2056327</c:v>
                </c:pt>
                <c:pt idx="21">
                  <c:v>1739455925.2743378</c:v>
                </c:pt>
                <c:pt idx="22">
                  <c:v>1642159254.9022498</c:v>
                </c:pt>
                <c:pt idx="23">
                  <c:v>1747143004.1428647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BA-0AA5-49E8-A9C9-921CE65A8D6C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30"/>
        <c:overlap val="100"/>
        <c:axId val="2143338335"/>
        <c:axId val="2143344575"/>
      </c:barChart>
      <c:dateAx>
        <c:axId val="2143338335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54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44575"/>
        <c:crosses val="autoZero"/>
        <c:auto val="1"/>
        <c:lblOffset val="100"/>
        <c:baseTimeUnit val="months"/>
        <c:majorUnit val="1"/>
      </c:dateAx>
      <c:valAx>
        <c:axId val="2143344575"/>
        <c:scaling>
          <c:orientation val="minMax"/>
          <c:max val="25000000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bg1">
                    <a:lumMod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2143338335"/>
        <c:crosses val="autoZero"/>
        <c:crossBetween val="between"/>
        <c:majorUnit val="500000000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0.67773097167820395"/>
          <c:y val="0.19738"/>
          <c:w val="0.17249005712533907"/>
          <c:h val="0.74430499999999999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200371" y="4017958"/>
      <a:ext cx="7306740" cy="2465627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000">
          <a:solidFill>
            <a:schemeClr val="tx1">
              <a:lumMod val="65000"/>
              <a:lumOff val="35000"/>
            </a:schemeClr>
          </a:solidFill>
        </a:defRPr>
      </a:pPr>
      <a:endParaRPr lang="ru-RU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/>
              <a:t>Динамика медиа инвестиций в продвижение Доставки</a:t>
            </a:r>
          </a:p>
        </c:rich>
      </c:tx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6.0224130562383918E-2"/>
          <c:y val="0.18679799999999999"/>
          <c:w val="0.92282991020980665"/>
          <c:h val="0.470090999999999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1-2'25</c:v>
                </c:pt>
              </c:strCache>
            </c:strRef>
          </c:tx>
          <c:spPr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Лист1!$A$2:$A$13</c:f>
              <c:strCache>
                <c:ptCount val="12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  <c:pt idx="10">
                  <c:v>METRO</c:v>
                </c:pt>
                <c:pt idx="11">
                  <c:v>Другие</c:v>
                </c:pt>
              </c:strCache>
            </c:strRef>
          </c:cat>
          <c:val>
            <c:numRef>
              <c:f>Лист1!$B$2:$B$13</c:f>
              <c:numCache>
                <c:formatCode>#,##0</c:formatCode>
                <c:ptCount val="12"/>
                <c:pt idx="0">
                  <c:v>826747889.59395242</c:v>
                </c:pt>
                <c:pt idx="1">
                  <c:v>530756438.16567183</c:v>
                </c:pt>
                <c:pt idx="2">
                  <c:v>508038703.21537673</c:v>
                </c:pt>
                <c:pt idx="3">
                  <c:v>524044874.82529819</c:v>
                </c:pt>
                <c:pt idx="4">
                  <c:v>248143321.43833226</c:v>
                </c:pt>
                <c:pt idx="5">
                  <c:v>0</c:v>
                </c:pt>
                <c:pt idx="6">
                  <c:v>132791313.19613431</c:v>
                </c:pt>
                <c:pt idx="7">
                  <c:v>68136376.066554889</c:v>
                </c:pt>
                <c:pt idx="8">
                  <c:v>116076306.55013499</c:v>
                </c:pt>
                <c:pt idx="9">
                  <c:v>106627882.34924462</c:v>
                </c:pt>
                <c:pt idx="10">
                  <c:v>31420084.701847706</c:v>
                </c:pt>
                <c:pt idx="11">
                  <c:v>42665058.039999999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CAD-40B8-ABD7-4D120FCF106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1-2'26</c:v>
                </c:pt>
              </c:strCache>
            </c:strRef>
          </c:tx>
          <c:spPr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</c:spPr>
          <c:invertIfNegative val="0"/>
          <c:cat>
            <c:strRef>
              <c:f>Лист1!$A$2:$A$13</c:f>
              <c:strCache>
                <c:ptCount val="12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  <c:pt idx="10">
                  <c:v>METRO</c:v>
                </c:pt>
                <c:pt idx="11">
                  <c:v>Другие</c:v>
                </c:pt>
              </c:strCache>
            </c:strRef>
          </c:cat>
          <c:val>
            <c:numRef>
              <c:f>Лист1!$C$2:$C$13</c:f>
              <c:numCache>
                <c:formatCode>#,##0</c:formatCode>
                <c:ptCount val="12"/>
                <c:pt idx="0">
                  <c:v>1428973407.9921982</c:v>
                </c:pt>
                <c:pt idx="1">
                  <c:v>1191896158.894311</c:v>
                </c:pt>
                <c:pt idx="2">
                  <c:v>510421721.6455906</c:v>
                </c:pt>
                <c:pt idx="3">
                  <c:v>489148700.21450043</c:v>
                </c:pt>
                <c:pt idx="4">
                  <c:v>282906515.26070487</c:v>
                </c:pt>
                <c:pt idx="5">
                  <c:v>274201449.92332488</c:v>
                </c:pt>
                <c:pt idx="6">
                  <c:v>154134953.19459918</c:v>
                </c:pt>
                <c:pt idx="7">
                  <c:v>45308316.23619134</c:v>
                </c:pt>
                <c:pt idx="8">
                  <c:v>42907693.679203682</c:v>
                </c:pt>
                <c:pt idx="9">
                  <c:v>28371419.202298671</c:v>
                </c:pt>
                <c:pt idx="10">
                  <c:v>23124236.465137355</c:v>
                </c:pt>
                <c:pt idx="11">
                  <c:v>24361428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CAD-40B8-ABD7-4D120FCF10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overlap val="-27"/>
        <c:axId val="1475338416"/>
        <c:axId val="1475336496"/>
      </c:barChart>
      <c:catAx>
        <c:axId val="1475338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 bwMode="auto"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475336496"/>
        <c:crosses val="autoZero"/>
        <c:auto val="1"/>
        <c:lblAlgn val="ctr"/>
        <c:lblOffset val="100"/>
        <c:noMultiLvlLbl val="0"/>
      </c:catAx>
      <c:valAx>
        <c:axId val="1475336496"/>
        <c:scaling>
          <c:orientation val="minMax"/>
        </c:scaling>
        <c:delete val="0"/>
        <c:axPos val="l"/>
        <c:majorGridlines>
          <c:spPr bwMode="auto"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1475338416"/>
        <c:crosses val="autoZero"/>
        <c:crossBetween val="between"/>
        <c:dispUnits>
          <c:builtInUnit val="millions"/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74872902970736699"/>
          <c:y val="0.2231563759352419"/>
          <c:w val="0.204099"/>
          <c:h val="8.9458999999999997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 bwMode="auto">
    <a:xfrm>
      <a:off x="466193" y="976745"/>
      <a:ext cx="7494471" cy="2905126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/>
              <a:t>Медиа Микс, </a:t>
            </a:r>
            <a:r>
              <a:rPr lang="en-GB" sz="1200" b="1" dirty="0"/>
              <a:t>{jan_current_month_1}</a:t>
            </a:r>
            <a:endParaRPr lang="ru-RU" sz="1200" b="1" dirty="0"/>
          </a:p>
        </c:rich>
      </c:tx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6.9606000000000001E-2"/>
          <c:y val="0.15298900000000001"/>
          <c:w val="0.93800300000000003"/>
          <c:h val="0.48898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Рег.ТВ</c:v>
                </c:pt>
              </c:strCache>
            </c:strRef>
          </c:tx>
          <c:spPr>
            <a:prstGeom prst="rect">
              <a:avLst/>
            </a:prstGeom>
            <a:solidFill>
              <a:srgbClr val="A9D08E"/>
            </a:solidFill>
            <a:ln>
              <a:noFill/>
              <a:round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4A55175-03F0-4B6E-9484-2160E021F8E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0890D2F-F64A-4470-AD82-769D95C81EF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3DF3E9B6-549F-1340-AF03-3BE813017DC5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56A9227-B57A-7A4F-90B1-2B17A68391A7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A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C1205D6-C14A-4E11-A7E3-ED7AFB039E5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4501FB08-0272-C84D-B48B-C238FA116247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AAAC348E-5319-1142-A367-98C0F1CBF7AD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D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5EC43063-EFED-6041-8F60-096BA7AE935F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E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844CDFE3-D072-489F-AC30-AE8F4566037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BD5458E8-D059-4C17-8368-AC5D041612E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Sheet1!$B$2:$B$11</c:f>
              <c:numCache>
                <c:formatCode>_-* #\ ##0_-;\-* #\ ##0_-;_-* "-"??_-;_-@_-</c:formatCode>
                <c:ptCount val="10"/>
                <c:pt idx="0">
                  <c:v>90000691.55000037</c:v>
                </c:pt>
                <c:pt idx="1">
                  <c:v>57820307.600000016</c:v>
                </c:pt>
                <c:pt idx="2">
                  <c:v>0</c:v>
                </c:pt>
                <c:pt idx="3">
                  <c:v>0</c:v>
                </c:pt>
                <c:pt idx="4">
                  <c:v>36963361.599999972</c:v>
                </c:pt>
                <c:pt idx="5">
                  <c:v>930245.24999999988</c:v>
                </c:pt>
                <c:pt idx="6">
                  <c:v>0</c:v>
                </c:pt>
                <c:pt idx="7">
                  <c:v>0</c:v>
                </c:pt>
                <c:pt idx="8">
                  <c:v>30504178.650000002</c:v>
                </c:pt>
                <c:pt idx="9">
                  <c:v>856967.10000000056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Sheet1!$B$15:$B$25</c15:f>
                <c15:dlblRangeCache>
                  <c:ptCount val="11"/>
                  <c:pt idx="0">
                    <c:v>6%</c:v>
                  </c:pt>
                  <c:pt idx="1">
                    <c:v>5%</c:v>
                  </c:pt>
                  <c:pt idx="4">
                    <c:v>13%</c:v>
                  </c:pt>
                  <c:pt idx="8">
                    <c:v>71%</c:v>
                  </c:pt>
                  <c:pt idx="9">
                    <c:v>3%</c:v>
                  </c:pt>
                  <c:pt idx="10">
                    <c:v>16%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C086-457F-84E5-88D4768A4F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Интернет</c:v>
                </c:pt>
              </c:strCache>
            </c:strRef>
          </c:tx>
          <c:spPr>
            <a:prstGeom prst="rect">
              <a:avLst/>
            </a:prstGeom>
            <a:solidFill>
              <a:srgbClr val="BF8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19F55CB-CBF2-4D5F-8710-BB65D0E6A4DF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1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5CD883C-884D-4566-A3D5-F893638F761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2509C91-D154-4FEB-97B8-0121FA6FFE2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1BBB183-7DAD-4A28-970E-0D19FDE0CC0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B7208382-48E5-41D8-A9E0-9C34761A3EA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18D1352B-5B88-475D-9930-E3F8EE2CC1C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CE022B8-B6BE-4251-BB50-3BE67AF29B6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035FEEF7-EE7C-4FEF-9D42-968E38022AB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FEF5B628-37C6-4DFE-873D-B54311041CF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71BCF115-7295-4EA5-91F9-4CC96D12090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Sheet1!$C$2:$C$11</c:f>
              <c:numCache>
                <c:formatCode>_-* #\ ##0_-;\-* #\ ##0_-;_-* "-"??_-;_-@_-</c:formatCode>
                <c:ptCount val="10"/>
                <c:pt idx="0">
                  <c:v>351251827.74219632</c:v>
                </c:pt>
                <c:pt idx="1">
                  <c:v>952787220.54431069</c:v>
                </c:pt>
                <c:pt idx="2">
                  <c:v>95688684.845590696</c:v>
                </c:pt>
                <c:pt idx="3">
                  <c:v>340032508.21450043</c:v>
                </c:pt>
                <c:pt idx="4">
                  <c:v>162081962.16070479</c:v>
                </c:pt>
                <c:pt idx="5">
                  <c:v>7096508.7733248761</c:v>
                </c:pt>
                <c:pt idx="6">
                  <c:v>132499697.54459918</c:v>
                </c:pt>
                <c:pt idx="7">
                  <c:v>38017361.23619134</c:v>
                </c:pt>
                <c:pt idx="8">
                  <c:v>6459148.0292036738</c:v>
                </c:pt>
                <c:pt idx="9">
                  <c:v>336219.10229865718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Sheet1!$C$15:$C$25</c15:f>
                <c15:dlblRangeCache>
                  <c:ptCount val="11"/>
                  <c:pt idx="0">
                    <c:v>25%</c:v>
                  </c:pt>
                  <c:pt idx="1">
                    <c:v>80%</c:v>
                  </c:pt>
                  <c:pt idx="2">
                    <c:v>19%</c:v>
                  </c:pt>
                  <c:pt idx="3">
                    <c:v>70%</c:v>
                  </c:pt>
                  <c:pt idx="4">
                    <c:v>57%</c:v>
                  </c:pt>
                  <c:pt idx="5">
                    <c:v>3%</c:v>
                  </c:pt>
                  <c:pt idx="6">
                    <c:v>86%</c:v>
                  </c:pt>
                  <c:pt idx="7">
                    <c:v>84%</c:v>
                  </c:pt>
                  <c:pt idx="8">
                    <c:v>15%</c:v>
                  </c:pt>
                  <c:pt idx="9">
                    <c:v>1%</c:v>
                  </c:pt>
                  <c:pt idx="10">
                    <c:v>60%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C086-457F-84E5-88D4768A4F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ООН</c:v>
                </c:pt>
              </c:strCache>
            </c:strRef>
          </c:tx>
          <c:spPr>
            <a:prstGeom prst="rect">
              <a:avLst/>
            </a:prstGeom>
            <a:solidFill>
              <a:srgbClr val="F4B08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25161D5-7CA0-4297-914F-C90040170586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B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34CC862A-5E6E-4F69-8145-E9C1DCD4E14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1FFA411-801C-452E-B60A-B86181E14F6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40337D3-10EE-45F6-8C4A-D464467F6FA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08702A9A-6C90-4EC5-99AA-A5A969B7CF0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6DE95BA3-3E25-47E2-9E40-7BBCB0A1241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68190C3A-4512-47BE-B2CC-3AC0A18264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46982F8D-EB79-4665-8ACB-A68226C72C6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8261439F-74C1-47CE-B548-7730E2EDEDC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6EEF45F8-D223-4E06-BE7C-0383DFD2E72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Sheet1!$D$2:$D$11</c:f>
              <c:numCache>
                <c:formatCode>_-* #\ ##0_-;\-* #\ ##0_-;_-* "-"??_-;_-@_-</c:formatCode>
                <c:ptCount val="10"/>
                <c:pt idx="0">
                  <c:v>218891919</c:v>
                </c:pt>
                <c:pt idx="1">
                  <c:v>112605986</c:v>
                </c:pt>
                <c:pt idx="2">
                  <c:v>128073026</c:v>
                </c:pt>
                <c:pt idx="3">
                  <c:v>149116192</c:v>
                </c:pt>
                <c:pt idx="4">
                  <c:v>10163544</c:v>
                </c:pt>
                <c:pt idx="5">
                  <c:v>11143709</c:v>
                </c:pt>
                <c:pt idx="6">
                  <c:v>4936946</c:v>
                </c:pt>
                <c:pt idx="7">
                  <c:v>7290955</c:v>
                </c:pt>
                <c:pt idx="8">
                  <c:v>5944367</c:v>
                </c:pt>
                <c:pt idx="9">
                  <c:v>19204293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Sheet1!$D$15:$D$25</c15:f>
                <c15:dlblRangeCache>
                  <c:ptCount val="11"/>
                  <c:pt idx="0">
                    <c:v>15%</c:v>
                  </c:pt>
                  <c:pt idx="1">
                    <c:v>9%</c:v>
                  </c:pt>
                  <c:pt idx="2">
                    <c:v>25%</c:v>
                  </c:pt>
                  <c:pt idx="3">
                    <c:v>30%</c:v>
                  </c:pt>
                  <c:pt idx="4">
                    <c:v>4%</c:v>
                  </c:pt>
                  <c:pt idx="5">
                    <c:v>4%</c:v>
                  </c:pt>
                  <c:pt idx="6">
                    <c:v>3%</c:v>
                  </c:pt>
                  <c:pt idx="7">
                    <c:v>16%</c:v>
                  </c:pt>
                  <c:pt idx="8">
                    <c:v>14%</c:v>
                  </c:pt>
                  <c:pt idx="9">
                    <c:v>68%</c:v>
                  </c:pt>
                  <c:pt idx="10">
                    <c:v>17%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C086-457F-84E5-88D4768A4F5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Радио</c:v>
                </c:pt>
              </c:strCache>
            </c:strRef>
          </c:tx>
          <c:spPr>
            <a:prstGeom prst="rect">
              <a:avLst/>
            </a:prstGeom>
            <a:solidFill>
              <a:srgbClr val="9BC2E6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0B22F05-5C2E-4D33-9047-9889AF22E41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5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09D78B21-B6CB-43B1-AF0C-328511074CC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903F46F-9858-4C4D-884E-6BE4519E0A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5DC04BE-78A8-F24E-94C5-90BD654F80E0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8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E37F63A-E462-4FCF-895C-B51CA6A81A9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F7E9592-A604-48CB-8561-B7171BA597D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A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FDF10E79-A36E-BA4F-927D-6226BB91C8AC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B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93ED6B27-25BD-4048-9849-42160E229128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C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461DB610-E45D-2249-937B-3058405512D8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D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38FEF216-8298-478A-B72E-B96FA0AFB7E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E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Sheet1!$E$2:$E$11</c:f>
              <c:numCache>
                <c:formatCode>_-* #\ ##0_-;\-* #\ ##0_-;_-* "-"??_-;_-@_-</c:formatCode>
                <c:ptCount val="10"/>
                <c:pt idx="0">
                  <c:v>41588762.5</c:v>
                </c:pt>
                <c:pt idx="1">
                  <c:v>15957381.5</c:v>
                </c:pt>
                <c:pt idx="2">
                  <c:v>51015784.5</c:v>
                </c:pt>
                <c:pt idx="3">
                  <c:v>0</c:v>
                </c:pt>
                <c:pt idx="4">
                  <c:v>10591252.5</c:v>
                </c:pt>
                <c:pt idx="5">
                  <c:v>43392350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7973940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Sheet1!$E$15:$E$24</c15:f>
                <c15:dlblRangeCache>
                  <c:ptCount val="10"/>
                  <c:pt idx="0">
                    <c:v>3%</c:v>
                  </c:pt>
                  <c:pt idx="1">
                    <c:v>1%</c:v>
                  </c:pt>
                  <c:pt idx="2">
                    <c:v>10%</c:v>
                  </c:pt>
                  <c:pt idx="4">
                    <c:v>4%</c:v>
                  </c:pt>
                  <c:pt idx="5">
                    <c:v>16%</c:v>
                  </c:pt>
                  <c:pt idx="9">
                    <c:v>28%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3-C086-457F-84E5-88D4768A4F5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Пресса</c:v>
                </c:pt>
              </c:strCache>
            </c:strRef>
          </c:tx>
          <c:spPr>
            <a:prstGeom prst="rect">
              <a:avLst/>
            </a:prstGeom>
            <a:solidFill>
              <a:srgbClr val="806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Sheet1!$F$2:$F$11</c:f>
              <c:numCache>
                <c:formatCode>_-* #\ ##0_-;\-* #\ ##0_-;_-* "-"??_-;_-@_-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1466439.75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6="http://schemas.microsoft.com/office/drawing/2014/chart" uri="{C3380CC4-5D6E-409C-BE32-E72D297353CC}">
              <c16:uniqueId val="{00000004-C086-457F-84E5-88D4768A4F5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Нац.ТВ</c:v>
                </c:pt>
              </c:strCache>
            </c:strRef>
          </c:tx>
          <c:spPr>
            <a:solidFill>
              <a:srgbClr val="B5E6A2"/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75446DE-FC8A-4A4C-B12D-AFF73272DD64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F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1B4F12C-7299-4221-98A7-D5FE878FE70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0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A2085EC8-E080-479C-BA66-5A686EA83EA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1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97F364DB-1AC1-2A48-999A-3581C4C0649E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2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DF5A640-DAE7-4DAE-BE02-2B73682C177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3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3290F17-E54B-4062-86AA-694ADD60E04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4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15283DCB-E891-CE4E-B336-3EADF52653B3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5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725310DF-3772-0F44-BA9A-8A18739280C9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6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75A290AC-7CBE-3B48-A943-2865AEFAEBE5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7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0DD0978A-8E32-D044-ACE8-CDC5492B5E82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8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Sheet1!$G$2:$G$11</c:f>
              <c:numCache>
                <c:formatCode>_-* #\ ##0_-;\-* #\ ##0_-;_-* "-"??_-;_-@_-</c:formatCode>
                <c:ptCount val="10"/>
                <c:pt idx="0">
                  <c:v>727240207.20000052</c:v>
                </c:pt>
                <c:pt idx="1">
                  <c:v>0</c:v>
                </c:pt>
                <c:pt idx="2">
                  <c:v>230254958.69999999</c:v>
                </c:pt>
                <c:pt idx="3">
                  <c:v>0</c:v>
                </c:pt>
                <c:pt idx="4">
                  <c:v>63106394.999999993</c:v>
                </c:pt>
                <c:pt idx="5">
                  <c:v>211638636.90000001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Sheet1!$G$15:$G$25</c15:f>
                <c15:dlblRangeCache>
                  <c:ptCount val="11"/>
                  <c:pt idx="0">
                    <c:v>51%</c:v>
                  </c:pt>
                  <c:pt idx="2">
                    <c:v>45%</c:v>
                  </c:pt>
                  <c:pt idx="4">
                    <c:v>22%</c:v>
                  </c:pt>
                  <c:pt idx="5">
                    <c:v>77%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5-C086-457F-84E5-88D4768A4F51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ТВ Спонс.</c:v>
                </c:pt>
              </c:strCache>
            </c:strRef>
          </c:tx>
          <c:spPr>
            <a:solidFill>
              <a:srgbClr val="99CC00"/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406DE1C-6885-41B6-81E0-1702DAE7154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9-C086-457F-84E5-88D4768A4F5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623848B6-1C12-47C2-8791-2DF7FBBAFA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A-C086-457F-84E5-88D4768A4F5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6DC24E5-1828-4EF0-A195-5E946C8258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B-C086-457F-84E5-88D4768A4F5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ABDE4E2-E5D5-5F4F-9C0A-367B895A4848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C-C086-457F-84E5-88D4768A4F5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92E3611-80F9-AC4B-BFEA-CF54DB60102E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D-C086-457F-84E5-88D4768A4F5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F017DBC-1E20-B240-860F-8BA72E0F3023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3E-C086-457F-84E5-88D4768A4F5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CC27B97-3E2B-4CA7-A74A-7974EE055E9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F-C086-457F-84E5-88D4768A4F51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2D515E36-2C3D-9A44-958E-5CB3A5081947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0-C086-457F-84E5-88D4768A4F51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0175485-843D-5944-87EE-EF65CD3BF5F6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1-C086-457F-84E5-88D4768A4F51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921A69F8-F2EA-0D4B-A3F6-CB3B16361524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42-C086-457F-84E5-88D4768A4F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</c:ext>
            </c:extLst>
          </c:dLbls>
          <c:cat>
            <c:strRef>
              <c:f>Sheet1!$A$2:$A$11</c:f>
              <c:strCache>
                <c:ptCount val="10"/>
                <c:pt idx="0">
                  <c:v>САМОКАТ</c:v>
                </c:pt>
                <c:pt idx="1">
                  <c:v>OZON FRESH</c:v>
                </c:pt>
                <c:pt idx="2">
                  <c:v>КУПЕР</c:v>
                </c:pt>
                <c:pt idx="3">
                  <c:v>ЯНДЕКС.ЛАВКА</c:v>
                </c:pt>
                <c:pt idx="4">
                  <c:v>ПЯТЕРОЧКА</c:v>
                </c:pt>
                <c:pt idx="5">
                  <c:v>МАГНИТ</c:v>
                </c:pt>
                <c:pt idx="6">
                  <c:v>ВКУСВИЛЛ</c:v>
                </c:pt>
                <c:pt idx="7">
                  <c:v>АШАН</c:v>
                </c:pt>
                <c:pt idx="8">
                  <c:v>ПЕРЕКРЕСТОК</c:v>
                </c:pt>
                <c:pt idx="9">
                  <c:v>ЛЕНТА</c:v>
                </c:pt>
              </c:strCache>
            </c:strRef>
          </c:cat>
          <c:val>
            <c:numRef>
              <c:f>Sheet1!$H$2:$H$11</c:f>
              <c:numCache>
                <c:formatCode>_-* #\ ##0_-;\-* #\ ##0_-;_-* "-"??_-;_-@_-</c:formatCode>
                <c:ptCount val="10"/>
                <c:pt idx="0">
                  <c:v>0</c:v>
                </c:pt>
                <c:pt idx="1">
                  <c:v>52725263.25</c:v>
                </c:pt>
                <c:pt idx="2">
                  <c:v>3922827.85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16698309.65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Sheet1!$H$15:$H$25</c15:f>
                <c15:dlblRangeCache>
                  <c:ptCount val="11"/>
                  <c:pt idx="1">
                    <c:v>4%</c:v>
                  </c:pt>
                  <c:pt idx="2">
                    <c:v>1%</c:v>
                  </c:pt>
                  <c:pt idx="6">
                    <c:v>11%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6-C086-457F-84E5-88D4768A4F5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322483696"/>
        <c:axId val="322483216"/>
      </c:barChart>
      <c:catAx>
        <c:axId val="322483696"/>
        <c:scaling>
          <c:orientation val="minMax"/>
        </c:scaling>
        <c:delete val="0"/>
        <c:axPos val="b"/>
        <c:numFmt formatCode="General" sourceLinked="1"/>
        <c:majorTickMark val="cross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216"/>
        <c:crosses val="autoZero"/>
        <c:auto val="1"/>
        <c:lblAlgn val="ctr"/>
        <c:lblOffset val="100"/>
        <c:noMultiLvlLbl val="0"/>
      </c:catAx>
      <c:valAx>
        <c:axId val="322483216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cross"/>
        <c:minorTickMark val="none"/>
        <c:tickLblPos val="nextTo"/>
        <c:spPr>
          <a:prstGeom prst="rect">
            <a:avLst/>
          </a:prstGeom>
          <a:noFill/>
          <a:ln>
            <a:solidFill>
              <a:schemeClr val="accent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>
                    <a:lumMod val="50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322483696"/>
        <c:crosses val="autoZero"/>
        <c:crossBetween val="between"/>
        <c:dispUnits>
          <c:builtInUnit val="millions"/>
          <c:dispUnitsLbl>
            <c:spPr>
              <a:prstGeom prst="rect">
                <a:avLst/>
              </a:prstGeom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</c:dispUnitsLbl>
        </c:dispUnits>
      </c:valAx>
      <c:spPr>
        <a:prstGeom prst="rect">
          <a:avLst/>
        </a:prstGeom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6.7730000000000004E-3"/>
          <c:y val="0.85618899999999998"/>
          <c:w val="0.96244009102083117"/>
          <c:h val="8.6957407424104752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418756" y="3603078"/>
      <a:ext cx="7129357" cy="299448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 sz="1100"/>
      </a:pPr>
      <a:endParaRPr lang="ru-RU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Нац. и Рег. ТВ SOV, {current_month}</a:t>
            </a:r>
          </a:p>
        </c:rich>
      </c:tx>
      <c:layout>
        <c:manualLayout>
          <c:xMode val="edge"/>
          <c:yMode val="edge"/>
          <c:x val="7.3346999999999996E-2"/>
          <c:y val="8.0356999999999998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3199999999999997E-2"/>
          <c:y val="0.240874"/>
          <c:w val="0.311278"/>
          <c:h val="0.504283000000000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Нац. ТВ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3FA83FA2-131A-49DB-A269-45EA845B075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689B-44AB-8ED0-ECB1806A7A2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684B85B4-F287-4773-8093-2DB9C2DB4BD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689B-44AB-8ED0-ECB1806A7A2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2073F41-BD5F-4586-87C9-5AFE00E0569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689B-44AB-8ED0-ECB1806A7A2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B75A1030-CC01-5D47-81C7-6B39E8E2121B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3-689B-44AB-8ED0-ECB1806A7A2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689B-44AB-8ED0-ECB1806A7A2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23FA4199-5EAD-4C88-9072-4F97F5089A5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689B-44AB-8ED0-ECB1806A7A2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BF0B2DD0-5FD8-497F-AA05-A0306849734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14CB-4071-911C-1C944F7A806B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4CB-4071-911C-1C944F7A806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Лист1!$A$2:$A$9</c:f>
              <c:strCache>
                <c:ptCount val="8"/>
                <c:pt idx="0">
                  <c:v>САМОКАТ</c:v>
                </c:pt>
                <c:pt idx="1">
                  <c:v>КУПЕР</c:v>
                </c:pt>
                <c:pt idx="2">
                  <c:v>МАГНИТ</c:v>
                </c:pt>
                <c:pt idx="3">
                  <c:v>ПЯТЕРОЧКА</c:v>
                </c:pt>
                <c:pt idx="4">
                  <c:v>ПЕРЕКРЕСТОК</c:v>
                </c:pt>
                <c:pt idx="5">
                  <c:v>OZON FRESH</c:v>
                </c:pt>
                <c:pt idx="6">
                  <c:v>ВКУСВИЛЛ</c:v>
                </c:pt>
                <c:pt idx="7">
                  <c:v>МОНЕТКА</c:v>
                </c:pt>
              </c:strCache>
            </c:strRef>
          </c:cat>
          <c:val>
            <c:numRef>
              <c:f>Лист1!$B$2:$B$9</c:f>
              <c:numCache>
                <c:formatCode>_-* #\ ##0_-;\-* #\ ##0_-;_-* "-"??_-;_-@_-</c:formatCode>
                <c:ptCount val="8"/>
                <c:pt idx="0">
                  <c:v>2829.5509499999998</c:v>
                </c:pt>
                <c:pt idx="1">
                  <c:v>2789.55242</c:v>
                </c:pt>
                <c:pt idx="2">
                  <c:v>848.35046</c:v>
                </c:pt>
                <c:pt idx="3">
                  <c:v>0</c:v>
                </c:pt>
                <c:pt idx="5">
                  <c:v>7.59335</c:v>
                </c:pt>
                <c:pt idx="6">
                  <c:v>99.012500000000003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Лист1!$B$14:$B$21</c15:f>
                <c15:dlblRangeCache>
                  <c:ptCount val="8"/>
                  <c:pt idx="0">
                    <c:v>93%</c:v>
                  </c:pt>
                  <c:pt idx="1">
                    <c:v>100%</c:v>
                  </c:pt>
                  <c:pt idx="2">
                    <c:v>100%</c:v>
                  </c:pt>
                  <c:pt idx="5">
                    <c:v>4%</c:v>
                  </c:pt>
                  <c:pt idx="6">
                    <c:v>100%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6-689B-44AB-8ED0-ECB1806A7A2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Рег ТВ</c:v>
                </c:pt>
              </c:strCache>
            </c:strRef>
          </c:tx>
          <c:spPr>
            <a:prstGeom prst="rect">
              <a:avLst/>
            </a:prstGeom>
            <a:solidFill>
              <a:srgbClr val="99CC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4E6C5A8-8EA6-48DF-B4A8-22B326F08E0D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689B-44AB-8ED0-ECB1806A7A2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6C2CF06-377C-C543-808E-AF9C917361D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8-689B-44AB-8ED0-ECB1806A7A2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33246F0-9E0C-7A42-9922-093A6C350A8D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689B-44AB-8ED0-ECB1806A7A21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EB403B5-0E44-4165-848E-C0C60488AEA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689B-44AB-8ED0-ECB1806A7A21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F9BB6C2-CB59-490F-926F-6C0F9E843DF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689B-44AB-8ED0-ECB1806A7A21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FC4D3BE2-FDC2-44A2-A0FF-91B6809604B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689B-44AB-8ED0-ECB1806A7A21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08FA28DD-F8B5-7F48-AF60-B05DDE8E1506}" type="CELLRANGE">
                      <a:rPr lang="en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14CB-4071-911C-1C944F7A806B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4CC14680-C005-42E2-8ABC-524CD242A75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14CB-4071-911C-1C944F7A806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Лист1!$A$2:$A$9</c:f>
              <c:strCache>
                <c:ptCount val="8"/>
                <c:pt idx="0">
                  <c:v>САМОКАТ</c:v>
                </c:pt>
                <c:pt idx="1">
                  <c:v>КУПЕР</c:v>
                </c:pt>
                <c:pt idx="2">
                  <c:v>МАГНИТ</c:v>
                </c:pt>
                <c:pt idx="3">
                  <c:v>ПЯТЕРОЧКА</c:v>
                </c:pt>
                <c:pt idx="4">
                  <c:v>ПЕРЕКРЕСТОК</c:v>
                </c:pt>
                <c:pt idx="5">
                  <c:v>OZON FRESH</c:v>
                </c:pt>
                <c:pt idx="6">
                  <c:v>ВКУСВИЛЛ</c:v>
                </c:pt>
                <c:pt idx="7">
                  <c:v>МОНЕТКА</c:v>
                </c:pt>
              </c:strCache>
            </c:strRef>
          </c:cat>
          <c:val>
            <c:numRef>
              <c:f>Лист1!$C$2:$C$9</c:f>
              <c:numCache>
                <c:formatCode>_-* #\ ##0_-;\-* #\ ##0_-;_-* "-"??_-;_-@_-</c:formatCode>
                <c:ptCount val="8"/>
                <c:pt idx="0">
                  <c:v>227.84924000000001</c:v>
                </c:pt>
                <c:pt idx="1">
                  <c:v>0</c:v>
                </c:pt>
                <c:pt idx="2">
                  <c:v>0</c:v>
                </c:pt>
                <c:pt idx="3">
                  <c:v>445.25364999999999</c:v>
                </c:pt>
                <c:pt idx="4">
                  <c:v>214.51481999999999</c:v>
                </c:pt>
                <c:pt idx="5">
                  <c:v>184.31691000000001</c:v>
                </c:pt>
                <c:pt idx="6">
                  <c:v>0</c:v>
                </c:pt>
                <c:pt idx="7">
                  <c:v>4.2954699999999999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Лист1!$C$14:$C$21</c15:f>
                <c15:dlblRangeCache>
                  <c:ptCount val="8"/>
                  <c:pt idx="0">
                    <c:v>7%</c:v>
                  </c:pt>
                  <c:pt idx="3">
                    <c:v>100%</c:v>
                  </c:pt>
                  <c:pt idx="4">
                    <c:v>100%</c:v>
                  </c:pt>
                  <c:pt idx="5">
                    <c:v>96%</c:v>
                  </c:pt>
                  <c:pt idx="7">
                    <c:v>100%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D-689B-44AB-8ED0-ECB1806A7A2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980634112"/>
        <c:axId val="980634592"/>
      </c:barChart>
      <c:catAx>
        <c:axId val="980634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592"/>
        <c:crosses val="autoZero"/>
        <c:auto val="1"/>
        <c:lblAlgn val="ctr"/>
        <c:lblOffset val="100"/>
        <c:noMultiLvlLbl val="0"/>
      </c:catAx>
      <c:valAx>
        <c:axId val="980634592"/>
        <c:scaling>
          <c:orientation val="minMax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112"/>
        <c:crosses val="autoZero"/>
        <c:crossBetween val="between"/>
      </c:valAx>
      <c:spPr>
        <a:prstGeom prst="rect">
          <a:avLst/>
        </a:prstGeom>
        <a:noFill/>
        <a:ln>
          <a:noFill/>
          <a:bevel/>
        </a:ln>
        <a:effectLst/>
      </c:spPr>
    </c:plotArea>
    <c:legend>
      <c:legendPos val="b"/>
      <c:layout>
        <c:manualLayout>
          <c:xMode val="edge"/>
          <c:yMode val="edge"/>
          <c:x val="0.37569000000000002"/>
          <c:y val="0.18248300000000001"/>
          <c:w val="7.8615000000000004E-2"/>
          <c:h val="0.61255199999999999"/>
        </c:manualLayout>
      </c:layout>
      <c:overlay val="0"/>
      <c:spPr>
        <a:prstGeom prst="rect">
          <a:avLst/>
        </a:prstGeom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338667" y="4104000"/>
      <a:ext cx="11130843" cy="221262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rPr>
              <a:t>Нац. и Рег. ТВ SOV, {ly_first_month} - {cur_month},</a:t>
            </a:r>
          </a:p>
        </c:rich>
      </c:tx>
      <c:layout>
        <c:manualLayout>
          <c:xMode val="edge"/>
          <c:yMode val="edge"/>
          <c:x val="0.24180399999999999"/>
          <c:y val="5.7397999999999998E-2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5.3199999999999997E-2"/>
          <c:y val="0.21148"/>
          <c:w val="0.91142999999999996"/>
          <c:h val="0.4985430000000000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Нац ТВ</c:v>
                </c:pt>
              </c:strCache>
            </c:strRef>
          </c:tx>
          <c:spPr>
            <a:prstGeom prst="rect">
              <a:avLst/>
            </a:prstGeom>
            <a:solidFill>
              <a:srgbClr val="B5E6A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1509A8EB-AFA9-45C9-83D6-497CD78B27B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1D34-48D0-A08A-A7DF59998288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637246C2-F3B2-47BC-9097-E85BC4C9631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1D34-48D0-A08A-A7DF59998288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384AA35-502C-4028-8D0E-EC1B17EDD18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1D34-48D0-A08A-A7DF59998288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6EBAB7EB-D1D3-4E72-8B7E-2B61436A258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1D34-48D0-A08A-A7DF59998288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3AB344D2-DC5C-49D6-8F9C-DD8B9F0DEC8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1D34-48D0-A08A-A7DF59998288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9CD6360-F396-49F8-8051-D055479958D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1D34-48D0-A08A-A7DF59998288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C0E35419-9348-492B-9D46-22BA96D5C4F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1D34-48D0-A08A-A7DF59998288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BCF503D0-4A19-4D14-9EB0-B8D27BF40E5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1D34-48D0-A08A-A7DF59998288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AEA36642-C537-46C6-B26B-D4E39E61C4D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1D34-48D0-A08A-A7DF59998288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4B171438-FC5F-4E1B-8888-D8CDF7DD983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1D34-48D0-A08A-A7DF59998288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15818D5E-EBA9-41B7-AE22-8537F50439E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1D34-48D0-A08A-A7DF59998288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CF3E4331-742D-4436-9AB0-4190AF4959C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1D34-48D0-A08A-A7DF59998288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0B247AB-7BAC-4DDA-9A1A-A0674A0FEE1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1D34-48D0-A08A-A7DF59998288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E9B420AE-0680-41C5-A94D-10026FDC82E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1D34-48D0-A08A-A7DF59998288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DF394C11-9833-4B13-8EFC-45887EB014D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1D34-48D0-A08A-A7DF59998288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1D34-48D0-A08A-A7DF59998288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1D34-48D0-A08A-A7DF59998288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1D34-48D0-A08A-A7DF59998288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1D34-48D0-A08A-A7DF59998288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1D34-48D0-A08A-A7DF59998288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1D34-48D0-A08A-A7DF59998288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1D34-48D0-A08A-A7DF59998288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1D34-48D0-A08A-A7DF59998288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1D34-48D0-A08A-A7DF5999828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 b="1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Лист1!$A$2:$A$25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Лист1!$B$2:$B$25</c:f>
              <c:numCache>
                <c:formatCode>#,##0</c:formatCode>
                <c:ptCount val="24"/>
                <c:pt idx="0">
                  <c:v>206.96269000000001</c:v>
                </c:pt>
                <c:pt idx="1">
                  <c:v>3834.1135600000002</c:v>
                </c:pt>
                <c:pt idx="2">
                  <c:v>5710.4824800000006</c:v>
                </c:pt>
                <c:pt idx="3">
                  <c:v>2407.6513199999999</c:v>
                </c:pt>
                <c:pt idx="4">
                  <c:v>4652.1134899999997</c:v>
                </c:pt>
                <c:pt idx="5">
                  <c:v>157.3262</c:v>
                </c:pt>
                <c:pt idx="6">
                  <c:v>1689.8188700000001</c:v>
                </c:pt>
                <c:pt idx="7">
                  <c:v>12203.603060000001</c:v>
                </c:pt>
                <c:pt idx="8">
                  <c:v>10125.356429999998</c:v>
                </c:pt>
                <c:pt idx="9">
                  <c:v>7922.6153600000007</c:v>
                </c:pt>
                <c:pt idx="10">
                  <c:v>8222.5638099999996</c:v>
                </c:pt>
                <c:pt idx="11">
                  <c:v>9470.0634400000017</c:v>
                </c:pt>
                <c:pt idx="12">
                  <c:v>4669.8732200000004</c:v>
                </c:pt>
                <c:pt idx="13">
                  <c:v>10476.097879999999</c:v>
                </c:pt>
                <c:pt idx="14">
                  <c:v>7204.1202199999989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Лист1!$B$27:$B$50</c15:f>
                <c15:dlblRangeCache>
                  <c:ptCount val="24"/>
                  <c:pt idx="0">
                    <c:v>8%</c:v>
                  </c:pt>
                  <c:pt idx="1">
                    <c:v>66%</c:v>
                  </c:pt>
                  <c:pt idx="2">
                    <c:v>69%</c:v>
                  </c:pt>
                  <c:pt idx="3">
                    <c:v>47%</c:v>
                  </c:pt>
                  <c:pt idx="4">
                    <c:v>73%</c:v>
                  </c:pt>
                  <c:pt idx="5">
                    <c:v>9%</c:v>
                  </c:pt>
                  <c:pt idx="6">
                    <c:v>43%</c:v>
                  </c:pt>
                  <c:pt idx="7">
                    <c:v>84%</c:v>
                  </c:pt>
                  <c:pt idx="8">
                    <c:v>80%</c:v>
                  </c:pt>
                  <c:pt idx="9">
                    <c:v>77%</c:v>
                  </c:pt>
                  <c:pt idx="10">
                    <c:v>75%</c:v>
                  </c:pt>
                  <c:pt idx="11">
                    <c:v>73%</c:v>
                  </c:pt>
                  <c:pt idx="12">
                    <c:v>93%</c:v>
                  </c:pt>
                  <c:pt idx="13">
                    <c:v>93%</c:v>
                  </c:pt>
                  <c:pt idx="14">
                    <c:v>87%</c:v>
                  </c:pt>
                  <c:pt idx="15">
                    <c:v>#ДЕЛ/0!</c:v>
                  </c:pt>
                  <c:pt idx="16">
                    <c:v>#ДЕЛ/0!</c:v>
                  </c:pt>
                  <c:pt idx="17">
                    <c:v>#ДЕЛ/0!</c:v>
                  </c:pt>
                  <c:pt idx="18">
                    <c:v>#ДЕЛ/0!</c:v>
                  </c:pt>
                  <c:pt idx="19">
                    <c:v>#ДЕЛ/0!</c:v>
                  </c:pt>
                  <c:pt idx="20">
                    <c:v>#ДЕЛ/0!</c:v>
                  </c:pt>
                  <c:pt idx="21">
                    <c:v>#ДЕЛ/0!</c:v>
                  </c:pt>
                  <c:pt idx="22">
                    <c:v>#ДЕЛ/0!</c:v>
                  </c:pt>
                  <c:pt idx="23">
                    <c:v>#ДЕЛ/0!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8-1D34-48D0-A08A-A7DF5999828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Рег ТВ (Rus0+)</c:v>
                </c:pt>
              </c:strCache>
            </c:strRef>
          </c:tx>
          <c:spPr>
            <a:prstGeom prst="rect">
              <a:avLst/>
            </a:prstGeom>
            <a:solidFill>
              <a:srgbClr val="99CC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C7BC508F-7665-46C2-9251-A4EF1244FB4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1D34-48D0-A08A-A7DF59998288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C8EAABF-AC40-48DF-AAE6-7767A503B10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A-1D34-48D0-A08A-A7DF59998288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C147E78-BF6E-44D4-870B-9BE0931447F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1D34-48D0-A08A-A7DF59998288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8E0637C7-C3A1-439E-8051-F75CD278EF8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1D34-48D0-A08A-A7DF59998288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A3877AD1-DFBE-40B5-AF3A-2D53F2CEDF7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1D34-48D0-A08A-A7DF59998288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5806EA50-7734-471F-9EB0-611DCAD623E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1D34-48D0-A08A-A7DF59998288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CE3982C6-A35D-459C-9E69-FC18079451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1D34-48D0-A08A-A7DF59998288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D75F355B-9172-46B4-8E5B-D52A6AD51CD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1D34-48D0-A08A-A7DF59998288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A36A6CD5-3EA9-4DB7-9E9D-9229EDA2B8F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1-1D34-48D0-A08A-A7DF59998288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483F34D8-3156-43F3-A35C-1B36FE9CF1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1D34-48D0-A08A-A7DF59998288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F00CA5BF-919A-457B-A2FE-9A1CED14D09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1D34-48D0-A08A-A7DF59998288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0AD52228-A92C-4FA9-9005-3F54AD91284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1D34-48D0-A08A-A7DF59998288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7ED1F111-4E06-46F7-A78F-8E082310D12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1D34-48D0-A08A-A7DF59998288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63FFF8D6-7F1E-4154-9F6E-96B661F68E4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1D34-48D0-A08A-A7DF59998288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82E916CA-AB69-4388-8FC3-067348ECDEF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1D34-48D0-A08A-A7DF59998288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8-1D34-48D0-A08A-A7DF59998288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9-1D34-48D0-A08A-A7DF59998288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A-1D34-48D0-A08A-A7DF59998288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B-1D34-48D0-A08A-A7DF59998288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C-1D34-48D0-A08A-A7DF59998288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D-1D34-48D0-A08A-A7DF59998288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E-1D34-48D0-A08A-A7DF59998288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F-1D34-48D0-A08A-A7DF59998288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endParaRPr lang="ru-RU"/>
                  </a:p>
                </c:rich>
              </c:tx>
              <c:dLblPos val="ctr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30-1D34-48D0-A08A-A7DF5999828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 b="1"/>
                </a:pPr>
                <a:endParaRPr lang="ru-RU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numRef>
              <c:f>Лист1!$A$2:$A$25</c:f>
              <c:numCache>
                <c:formatCode>mmm\-yy</c:formatCode>
                <c:ptCount val="24"/>
                <c:pt idx="0">
                  <c:v>45658</c:v>
                </c:pt>
                <c:pt idx="1">
                  <c:v>45689</c:v>
                </c:pt>
                <c:pt idx="2">
                  <c:v>45717</c:v>
                </c:pt>
                <c:pt idx="3">
                  <c:v>45748</c:v>
                </c:pt>
                <c:pt idx="4">
                  <c:v>45778</c:v>
                </c:pt>
                <c:pt idx="5">
                  <c:v>45809</c:v>
                </c:pt>
                <c:pt idx="6">
                  <c:v>45839</c:v>
                </c:pt>
                <c:pt idx="7">
                  <c:v>45870</c:v>
                </c:pt>
                <c:pt idx="8">
                  <c:v>45901</c:v>
                </c:pt>
                <c:pt idx="9">
                  <c:v>45931</c:v>
                </c:pt>
                <c:pt idx="10">
                  <c:v>45962</c:v>
                </c:pt>
                <c:pt idx="11">
                  <c:v>45992</c:v>
                </c:pt>
                <c:pt idx="12">
                  <c:v>46023</c:v>
                </c:pt>
                <c:pt idx="13">
                  <c:v>46054</c:v>
                </c:pt>
                <c:pt idx="14">
                  <c:v>46082</c:v>
                </c:pt>
              </c:numCache>
            </c:numRef>
          </c:cat>
          <c:val>
            <c:numRef>
              <c:f>Лист1!$C$2:$C$25</c:f>
              <c:numCache>
                <c:formatCode>_-* #\ ##0_-;\-* #\ ##0_-;_-* "-"??_-;_-@_-</c:formatCode>
                <c:ptCount val="24"/>
                <c:pt idx="0">
                  <c:v>2397.37219</c:v>
                </c:pt>
                <c:pt idx="1">
                  <c:v>1990.3452499999999</c:v>
                </c:pt>
                <c:pt idx="2">
                  <c:v>2585.07998</c:v>
                </c:pt>
                <c:pt idx="3">
                  <c:v>2766.4387200000001</c:v>
                </c:pt>
                <c:pt idx="4">
                  <c:v>1738.1750300000001</c:v>
                </c:pt>
                <c:pt idx="5">
                  <c:v>1566.92643</c:v>
                </c:pt>
                <c:pt idx="6">
                  <c:v>2214.3895200000002</c:v>
                </c:pt>
                <c:pt idx="7">
                  <c:v>2271.29268</c:v>
                </c:pt>
                <c:pt idx="8">
                  <c:v>2525.0316200000002</c:v>
                </c:pt>
                <c:pt idx="9">
                  <c:v>2354.9161900000004</c:v>
                </c:pt>
                <c:pt idx="10">
                  <c:v>2711.1180099999997</c:v>
                </c:pt>
                <c:pt idx="11">
                  <c:v>3496.1199399999996</c:v>
                </c:pt>
                <c:pt idx="12">
                  <c:v>362.58231999999992</c:v>
                </c:pt>
                <c:pt idx="13">
                  <c:v>780.19483000000002</c:v>
                </c:pt>
                <c:pt idx="14">
                  <c:v>1076.23009</c:v>
                </c:pt>
              </c:numCache>
            </c:numRef>
          </c:val>
          <c:extLst xmlns:mc="http://schemas.openxmlformats.org/markup-compatibility/2006" xmlns:c15="http://schemas.microsoft.com/office/drawing/2012/chart" xmlns:c14="http://schemas.microsoft.com/office/drawing/2007/8/2/chart">
            <c:ext xmlns:c15="http://schemas.microsoft.com/office/drawing/2012/chart" uri="{02D57815-91ED-43cb-92C2-25804820EDAC}">
              <c15:datalabelsRange>
                <c15:f>Лист1!$C$27:$C$50</c15:f>
                <c15:dlblRangeCache>
                  <c:ptCount val="24"/>
                  <c:pt idx="0">
                    <c:v>92%</c:v>
                  </c:pt>
                  <c:pt idx="1">
                    <c:v>34%</c:v>
                  </c:pt>
                  <c:pt idx="2">
                    <c:v>31%</c:v>
                  </c:pt>
                  <c:pt idx="3">
                    <c:v>53%</c:v>
                  </c:pt>
                  <c:pt idx="4">
                    <c:v>27%</c:v>
                  </c:pt>
                  <c:pt idx="5">
                    <c:v>91%</c:v>
                  </c:pt>
                  <c:pt idx="6">
                    <c:v>57%</c:v>
                  </c:pt>
                  <c:pt idx="7">
                    <c:v>16%</c:v>
                  </c:pt>
                  <c:pt idx="8">
                    <c:v>20%</c:v>
                  </c:pt>
                  <c:pt idx="9">
                    <c:v>23%</c:v>
                  </c:pt>
                  <c:pt idx="10">
                    <c:v>25%</c:v>
                  </c:pt>
                  <c:pt idx="11">
                    <c:v>27%</c:v>
                  </c:pt>
                  <c:pt idx="12">
                    <c:v>7%</c:v>
                  </c:pt>
                  <c:pt idx="13">
                    <c:v>7%</c:v>
                  </c:pt>
                  <c:pt idx="14">
                    <c:v>13%</c:v>
                  </c:pt>
                  <c:pt idx="15">
                    <c:v>#ДЕЛ/0!</c:v>
                  </c:pt>
                  <c:pt idx="16">
                    <c:v>#ДЕЛ/0!</c:v>
                  </c:pt>
                  <c:pt idx="17">
                    <c:v>#ДЕЛ/0!</c:v>
                  </c:pt>
                  <c:pt idx="18">
                    <c:v>#ДЕЛ/0!</c:v>
                  </c:pt>
                  <c:pt idx="19">
                    <c:v>#ДЕЛ/0!</c:v>
                  </c:pt>
                  <c:pt idx="20">
                    <c:v>#ДЕЛ/0!</c:v>
                  </c:pt>
                  <c:pt idx="21">
                    <c:v>#ДЕЛ/0!</c:v>
                  </c:pt>
                  <c:pt idx="22">
                    <c:v>#ДЕЛ/0!</c:v>
                  </c:pt>
                  <c:pt idx="23">
                    <c:v>#ДЕЛ/0!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31-1D34-48D0-A08A-A7DF5999828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980634112"/>
        <c:axId val="980634592"/>
      </c:barChart>
      <c:dateAx>
        <c:axId val="980634112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592"/>
        <c:crosses val="autoZero"/>
        <c:auto val="1"/>
        <c:lblOffset val="100"/>
        <c:baseTimeUnit val="months"/>
      </c:dateAx>
      <c:valAx>
        <c:axId val="980634592"/>
        <c:scaling>
          <c:orientation val="minMax"/>
          <c:max val="16000"/>
          <c:min val="0"/>
        </c:scaling>
        <c:delete val="0"/>
        <c:axPos val="l"/>
        <c:majorGridlines>
          <c:spPr>
            <a:prstGeom prst="rect">
              <a:avLst/>
            </a:prstGeom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Aptos"/>
                <a:ea typeface="Arial"/>
                <a:cs typeface="Arial"/>
              </a:defRPr>
            </a:pPr>
            <a:endParaRPr lang="ru-RU"/>
          </a:p>
        </c:txPr>
        <c:crossAx val="980634112"/>
        <c:crosses val="autoZero"/>
        <c:crossBetween val="between"/>
        <c:majorUnit val="4000"/>
      </c:valAx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>
    <a:xfrm>
      <a:off x="5689601" y="4162471"/>
      <a:ext cx="6163732" cy="221262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241535"/>
          <c:w val="0.89731799999999995"/>
          <c:h val="0.500843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САМОКАТ_AWW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/>
                    </a:solidFill>
                    <a:highlight>
                      <a:srgbClr val="00FF99"/>
                    </a:highlight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ноя-25</c:v>
                </c:pt>
                <c:pt idx="11">
                  <c:v>дек-25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Лист1!$B$2:$B$29</c:f>
              <c:numCache>
                <c:formatCode>#,##0</c:formatCode>
                <c:ptCount val="16"/>
                <c:pt idx="0">
                  <c:v>7.2</c:v>
                </c:pt>
                <c:pt idx="1">
                  <c:v>9.1999999999999993</c:v>
                </c:pt>
                <c:pt idx="2">
                  <c:v>8.6</c:v>
                </c:pt>
                <c:pt idx="3">
                  <c:v>10.8</c:v>
                </c:pt>
                <c:pt idx="4">
                  <c:v>13</c:v>
                </c:pt>
                <c:pt idx="5">
                  <c:v>12.25</c:v>
                </c:pt>
                <c:pt idx="6">
                  <c:v>14.6</c:v>
                </c:pt>
                <c:pt idx="7">
                  <c:v>18.2</c:v>
                </c:pt>
                <c:pt idx="8">
                  <c:v>19</c:v>
                </c:pt>
                <c:pt idx="9">
                  <c:v>24.8</c:v>
                </c:pt>
                <c:pt idx="10">
                  <c:v>21</c:v>
                </c:pt>
                <c:pt idx="11">
                  <c:v>22</c:v>
                </c:pt>
                <c:pt idx="12">
                  <c:v>21</c:v>
                </c:pt>
                <c:pt idx="13">
                  <c:v>23.5</c:v>
                </c:pt>
                <c:pt idx="14" formatCode="_-* #\ ##0_-;\-* #\ ##0_-;_-* &quot;-&quot;??_-;_-@_-">
                  <c:v>21.8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9A-4232-BA1B-2509F601A7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1"/>
      </c:catAx>
      <c:valAx>
        <c:axId val="359001536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10"/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35439300000000001"/>
          <c:y val="5.7168999999999998E-2"/>
          <c:w val="0.56349300000000002"/>
          <c:h val="0.138243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5ka Sans Design"/>
              <a:ea typeface="5ka Sans Design"/>
              <a:cs typeface="5ka Sans Design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924898" y="1354405"/>
      <a:ext cx="5177816" cy="2541246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241535"/>
          <c:w val="0.89731799999999995"/>
          <c:h val="0.500843999999999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ПЯТЕРОЧКА_AWW</c:v>
                </c:pt>
              </c:strCache>
            </c:strRef>
          </c:tx>
          <c:spPr>
            <a:prstGeom prst="rect">
              <a:avLst/>
            </a:prstGeom>
            <a:solidFill>
              <a:srgbClr val="C00000"/>
            </a:solidFill>
            <a:ln w="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/>
                    </a:solidFill>
                    <a:highlight>
                      <a:srgbClr val="00FF99"/>
                    </a:highlight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Лист1!$A$3:$A$29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ноя.25</c:v>
                </c:pt>
                <c:pt idx="11">
                  <c:v>дек.25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Лист1!$B$3:$B$29</c:f>
              <c:numCache>
                <c:formatCode>#,##0</c:formatCode>
                <c:ptCount val="16"/>
                <c:pt idx="0">
                  <c:v>100</c:v>
                </c:pt>
                <c:pt idx="1">
                  <c:v>100</c:v>
                </c:pt>
                <c:pt idx="2">
                  <c:v>100</c:v>
                </c:pt>
                <c:pt idx="3">
                  <c:v>100</c:v>
                </c:pt>
                <c:pt idx="4">
                  <c:v>100</c:v>
                </c:pt>
                <c:pt idx="5">
                  <c:v>100</c:v>
                </c:pt>
                <c:pt idx="6">
                  <c:v>100</c:v>
                </c:pt>
                <c:pt idx="7">
                  <c:v>100</c:v>
                </c:pt>
                <c:pt idx="8">
                  <c:v>100</c:v>
                </c:pt>
                <c:pt idx="9">
                  <c:v>100</c:v>
                </c:pt>
                <c:pt idx="10">
                  <c:v>100</c:v>
                </c:pt>
                <c:pt idx="11">
                  <c:v>100</c:v>
                </c:pt>
                <c:pt idx="12">
                  <c:v>100</c:v>
                </c:pt>
                <c:pt idx="13">
                  <c:v>100</c:v>
                </c:pt>
                <c:pt idx="1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9C-496B-9CBD-51C0500FAF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lineChart>
        <c:grouping val="standard"/>
        <c:varyColors val="0"/>
        <c:ser>
          <c:idx val="1"/>
          <c:order val="1"/>
          <c:tx>
            <c:strRef>
              <c:f>Лист1!#REF!</c:f>
              <c:strCache>
                <c:ptCount val="1"/>
                <c:pt idx="0">
                  <c:v>#REF!</c:v>
                </c:pt>
              </c:strCache>
            </c:strRef>
          </c:tx>
          <c:spPr>
            <a:prstGeom prst="rect">
              <a:avLst/>
            </a:prstGeom>
            <a:ln w="508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dLbls>
            <c:dLbl>
              <c:idx val="3"/>
              <c:layout>
                <c:manualLayout>
                  <c:x val="-4.5057E-2"/>
                  <c:y val="-7.37850000000000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E9C-496B-9CBD-51C0500FAF4A}"/>
                </c:ext>
              </c:extLst>
            </c:dLbl>
            <c:dLbl>
              <c:idx val="11"/>
              <c:layout>
                <c:manualLayout>
                  <c:x val="-5.0748000000000001E-2"/>
                  <c:y val="-5.67230000000000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E9C-496B-9CBD-51C0500FAF4A}"/>
                </c:ext>
              </c:extLst>
            </c:dLbl>
            <c:dLbl>
              <c:idx val="12"/>
              <c:layout>
                <c:manualLayout>
                  <c:x val="-4.9574E-2"/>
                  <c:y val="-5.37959999999999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E9C-496B-9CBD-51C0500FAF4A}"/>
                </c:ext>
              </c:extLst>
            </c:dLbl>
            <c:dLbl>
              <c:idx val="14"/>
              <c:layout>
                <c:manualLayout>
                  <c:x val="-3.2711999999999998E-2"/>
                  <c:y val="-7.427100000000000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E9C-496B-9CBD-51C0500FAF4A}"/>
                </c:ext>
              </c:extLst>
            </c:dLbl>
            <c:dLbl>
              <c:idx val="16"/>
              <c:layout>
                <c:manualLayout>
                  <c:x val="-2.6227E-2"/>
                  <c:y val="-0.1356940000000000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E9C-496B-9CBD-51C0500FAF4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Лист1!$A$3:$A$29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ноя.25</c:v>
                </c:pt>
                <c:pt idx="11">
                  <c:v>дек.25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6-AE9C-496B-9CBD-51C0500FAF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162736"/>
        <c:axId val="450160240"/>
      </c:line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1"/>
      </c:catAx>
      <c:valAx>
        <c:axId val="359001536"/>
        <c:scaling>
          <c:orientation val="minMax"/>
          <c:max val="120"/>
        </c:scaling>
        <c:delete val="0"/>
        <c:axPos val="l"/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20"/>
      </c:valAx>
      <c:valAx>
        <c:axId val="450160240"/>
        <c:scaling>
          <c:orientation val="minMax"/>
          <c:min val="-2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450162736"/>
        <c:crosses val="max"/>
        <c:crossBetween val="between"/>
      </c:valAx>
      <c:catAx>
        <c:axId val="4501627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160240"/>
        <c:crosses val="autoZero"/>
        <c:auto val="1"/>
        <c:lblAlgn val="ctr"/>
        <c:lblOffset val="100"/>
        <c:noMultiLvlLbl val="1"/>
      </c:catAx>
      <c:spPr>
        <a:prstGeom prst="rect">
          <a:avLst/>
        </a:prstGeom>
        <a:noFill/>
        <a:ln>
          <a:noFill/>
        </a:ln>
        <a:effectLst/>
      </c:spPr>
    </c:plotArea>
    <c:legend>
      <c:legendPos val="r"/>
      <c:legendEntry>
        <c:idx val="1"/>
        <c:delete val="1"/>
      </c:legendEntry>
      <c:layout>
        <c:manualLayout>
          <c:xMode val="edge"/>
          <c:yMode val="edge"/>
          <c:x val="0.35439300000000001"/>
          <c:y val="5.7168999999999998E-2"/>
          <c:w val="0.56349300000000002"/>
          <c:h val="0.138243"/>
        </c:manualLayout>
      </c:layout>
      <c:overlay val="0"/>
      <c:spPr>
        <a:prstGeom prst="rect">
          <a:avLst/>
        </a:prstGeom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>
              <a:solidFill>
                <a:schemeClr val="tx1">
                  <a:lumMod val="65000"/>
                  <a:lumOff val="35000"/>
                </a:schemeClr>
              </a:solidFill>
              <a:latin typeface="5ka Sans Design"/>
              <a:ea typeface="5ka Sans Design"/>
              <a:cs typeface="5ka Sans Design"/>
            </a:defRPr>
          </a:pPr>
          <a:endParaRPr lang="ru-RU"/>
        </a:p>
      </c:txPr>
    </c:legend>
    <c:plotVisOnly val="1"/>
    <c:dispBlanksAs val="gap"/>
    <c:showDLblsOverMax val="0"/>
  </c:chart>
  <c:spPr>
    <a:xfrm>
      <a:off x="6706177" y="1322856"/>
      <a:ext cx="5177816" cy="2541246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32000000000002E-2"/>
          <c:y val="0.25568299999999999"/>
          <c:w val="0.89731799999999995"/>
          <c:h val="0.4866960000000000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МАГНИТ _AWW</c:v>
                </c:pt>
              </c:strCache>
            </c:strRef>
          </c:tx>
          <c:spPr>
            <a:prstGeom prst="rect">
              <a:avLst/>
            </a:prstGeom>
            <a:solidFill>
              <a:srgbClr val="DC1D0E"/>
            </a:solidFill>
            <a:ln w="0"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7.358E-3"/>
                  <c:y val="0.10729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7BE-4B1B-9CEB-38B6CDF2F298}"/>
                </c:ext>
              </c:extLst>
            </c:dLbl>
            <c:dLbl>
              <c:idx val="2"/>
              <c:layout>
                <c:manualLayout>
                  <c:x val="0"/>
                  <c:y val="8.174499999999999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7BE-4B1B-9CEB-38B6CDF2F298}"/>
                </c:ext>
              </c:extLst>
            </c:dLbl>
            <c:dLbl>
              <c:idx val="3"/>
              <c:layout>
                <c:manualLayout>
                  <c:x val="0"/>
                  <c:y val="7.1526000000000006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7BE-4B1B-9CEB-38B6CDF2F298}"/>
                </c:ext>
              </c:extLst>
            </c:dLbl>
            <c:dLbl>
              <c:idx val="7"/>
              <c:layout>
                <c:manualLayout>
                  <c:x val="0"/>
                  <c:y val="0.15837999999999999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7BE-4B1B-9CEB-38B6CDF2F298}"/>
                </c:ext>
              </c:extLst>
            </c:dLbl>
            <c:dLbl>
              <c:idx val="10"/>
              <c:layout>
                <c:manualLayout>
                  <c:x val="-2.4529999999999999E-3"/>
                  <c:y val="0.1277260000000000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7BE-4B1B-9CEB-38B6CDF2F298}"/>
                </c:ext>
              </c:extLst>
            </c:dLbl>
            <c:dLbl>
              <c:idx val="15"/>
              <c:layout>
                <c:manualLayout>
                  <c:x val="0"/>
                  <c:y val="-2.5545000000000002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7BE-4B1B-9CEB-38B6CDF2F298}"/>
                </c:ext>
              </c:extLst>
            </c:dLbl>
            <c:dLbl>
              <c:idx val="17"/>
              <c:layout>
                <c:manualLayout>
                  <c:x val="-4.9051578706462984E-3"/>
                  <c:y val="5.6199347170360861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7BE-4B1B-9CEB-38B6CDF2F298}"/>
                </c:ext>
              </c:extLst>
            </c:dLbl>
            <c:dLbl>
              <c:idx val="19"/>
              <c:layout>
                <c:manualLayout>
                  <c:x val="-2.4527720669821019E-3"/>
                  <c:y val="8.1744504975070159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7DE-4BCE-BC2B-11821CB622A5}"/>
                </c:ext>
              </c:extLst>
            </c:dLbl>
            <c:dLbl>
              <c:idx val="22"/>
              <c:layout>
                <c:manualLayout>
                  <c:x val="0"/>
                  <c:y val="0.1226167574626055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7DE-4BCE-BC2B-11821CB622A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ctr">
                  <a:defRPr lang="en-US" sz="1000" b="0" i="0" u="none" strike="noStrike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5ka Sans Design"/>
                    <a:ea typeface="5ka Sans Design"/>
                    <a:cs typeface="5ka Sans Design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Лист1!$A$2:$A$29</c:f>
              <c:strCache>
                <c:ptCount val="16"/>
                <c:pt idx="0">
                  <c:v>янв-25</c:v>
                </c:pt>
                <c:pt idx="1">
                  <c:v>фев-25</c:v>
                </c:pt>
                <c:pt idx="2">
                  <c:v>мар-25</c:v>
                </c:pt>
                <c:pt idx="3">
                  <c:v>апр-25</c:v>
                </c:pt>
                <c:pt idx="4">
                  <c:v>май-25</c:v>
                </c:pt>
                <c:pt idx="5">
                  <c:v>июн-25</c:v>
                </c:pt>
                <c:pt idx="6">
                  <c:v>июл-25</c:v>
                </c:pt>
                <c:pt idx="7">
                  <c:v>авг-25</c:v>
                </c:pt>
                <c:pt idx="8">
                  <c:v>сен-25</c:v>
                </c:pt>
                <c:pt idx="9">
                  <c:v>окт-25</c:v>
                </c:pt>
                <c:pt idx="10">
                  <c:v>ноя.25</c:v>
                </c:pt>
                <c:pt idx="11">
                  <c:v>дек.25</c:v>
                </c:pt>
                <c:pt idx="12">
                  <c:v>янв.26</c:v>
                </c:pt>
                <c:pt idx="13">
                  <c:v>фев.26</c:v>
                </c:pt>
                <c:pt idx="14">
                  <c:v>мар.26</c:v>
                </c:pt>
                <c:pt idx="15">
                  <c:v> </c:v>
                </c:pt>
              </c:strCache>
            </c:strRef>
          </c:cat>
          <c:val>
            <c:numRef>
              <c:f>Лист1!$B$2:$B$29</c:f>
              <c:numCache>
                <c:formatCode>#,##0</c:formatCode>
                <c:ptCount val="16"/>
                <c:pt idx="0">
                  <c:v>50</c:v>
                </c:pt>
                <c:pt idx="1">
                  <c:v>50</c:v>
                </c:pt>
                <c:pt idx="2">
                  <c:v>50</c:v>
                </c:pt>
                <c:pt idx="3">
                  <c:v>50</c:v>
                </c:pt>
                <c:pt idx="4">
                  <c:v>50</c:v>
                </c:pt>
                <c:pt idx="5">
                  <c:v>50</c:v>
                </c:pt>
                <c:pt idx="6">
                  <c:v>50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50</c:v>
                </c:pt>
                <c:pt idx="11">
                  <c:v>50</c:v>
                </c:pt>
                <c:pt idx="12">
                  <c:v>50</c:v>
                </c:pt>
                <c:pt idx="13">
                  <c:v>50</c:v>
                </c:pt>
                <c:pt idx="14" formatCode="General">
                  <c:v>50</c:v>
                </c:pt>
                <c:pt idx="15" formatCode="General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7BE-4B1B-9CEB-38B6CDF2F2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359017344"/>
        <c:axId val="359001536"/>
      </c:barChart>
      <c:catAx>
        <c:axId val="359017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prstGeom prst="rect">
            <a:avLst/>
          </a:prstGeom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01536"/>
        <c:crosses val="autoZero"/>
        <c:auto val="1"/>
        <c:lblAlgn val="ctr"/>
        <c:lblOffset val="100"/>
        <c:noMultiLvlLbl val="1"/>
      </c:catAx>
      <c:valAx>
        <c:axId val="359001536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prstGeom prst="rect">
            <a:avLst/>
          </a:prstGeom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>
                <a:solidFill>
                  <a:schemeClr val="bg1">
                    <a:lumMod val="50000"/>
                  </a:schemeClr>
                </a:solidFill>
                <a:latin typeface="5ka Sans Design"/>
                <a:ea typeface="5ka Sans Design"/>
                <a:cs typeface="5ka Sans Design"/>
              </a:defRPr>
            </a:pPr>
            <a:endParaRPr lang="ru-RU"/>
          </a:p>
        </c:txPr>
        <c:crossAx val="359017344"/>
        <c:crosses val="autoZero"/>
        <c:crossBetween val="between"/>
        <c:majorUnit val="10"/>
      </c:valAx>
      <c:spPr>
        <a:prstGeom prst="rect">
          <a:avLst/>
        </a:prstGeom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32395499999999999"/>
          <c:y val="2.4013E-2"/>
          <c:w val="0.55831200000000003"/>
          <c:h val="0.14474699999999999"/>
        </c:manualLayout>
      </c:layout>
      <c:overlay val="0"/>
    </c:legend>
    <c:plotVisOnly val="1"/>
    <c:dispBlanksAs val="gap"/>
    <c:showDLblsOverMax val="0"/>
  </c:chart>
  <c:spPr>
    <a:xfrm>
      <a:off x="918184" y="3813406"/>
      <a:ext cx="5177815" cy="2485794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>
          <a:latin typeface="5ka Sans Design"/>
          <a:ea typeface="5ka Sans Design"/>
          <a:cs typeface="5ka Sans Design"/>
        </a:defRPr>
      </a:pPr>
      <a:endParaRPr lang="ru-RU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5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1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5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1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dk1"/>
    </cs:fontRef>
    <cs:spPr bwMode="auto">
      <a:prstGeom prst="rect">
        <a:avLst/>
      </a:prstGeom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dk1"/>
    </cs:fontRef>
    <cs:spPr bwMode="auto">
      <a:prstGeom prst="rect">
        <a:avLst/>
      </a:prstGeom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0.01166</cdr:x>
      <cdr:y>0.04423</cdr:y>
    </cdr:from>
    <cdr:to>
      <cdr:x>0.1599</cdr:x>
      <cdr:y>0.10997</cdr:y>
    </cdr:to>
    <cdr:sp macro="" textlink="">
      <cdr:nvSpPr>
        <cdr:cNvPr id="3" name="TextBox 2"/>
        <cdr:cNvSpPr txBox="1"/>
      </cdr:nvSpPr>
      <cdr:spPr bwMode="auto">
        <a:xfrm xmlns:a="http://schemas.openxmlformats.org/drawingml/2006/main">
          <a:off x="93960" y="217109"/>
          <a:ext cx="1194748" cy="322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>
            <a:defRPr/>
          </a:pPr>
          <a:r>
            <a:rPr lang="en-US" sz="1200" dirty="0"/>
            <a:t>TRP</a:t>
          </a:r>
          <a:endParaRPr lang="ru-RU" sz="1200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0.07529</cdr:y>
    </cdr:from>
    <cdr:to>
      <cdr:x>0.14824</cdr:x>
      <cdr:y>0.14103</cdr:y>
    </cdr:to>
    <cdr:sp macro="" textlink="">
      <cdr:nvSpPr>
        <cdr:cNvPr id="3" name="TextBox 2"/>
        <cdr:cNvSpPr txBox="1"/>
      </cdr:nvSpPr>
      <cdr:spPr bwMode="auto">
        <a:xfrm xmlns:a="http://schemas.openxmlformats.org/drawingml/2006/main">
          <a:off x="0" y="372221"/>
          <a:ext cx="1192691" cy="32500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>
            <a:defRPr/>
          </a:pPr>
          <a:r>
            <a:rPr lang="en-US" sz="1200" dirty="0"/>
            <a:t>St. TRPs_20”</a:t>
          </a:r>
          <a:endParaRPr lang="ru-RU" sz="1200" dirty="0"/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0.01166</cdr:x>
      <cdr:y>0.04423</cdr:y>
    </cdr:from>
    <cdr:to>
      <cdr:x>0.1599</cdr:x>
      <cdr:y>0.10997</cdr:y>
    </cdr:to>
    <cdr:sp macro="" textlink="">
      <cdr:nvSpPr>
        <cdr:cNvPr id="3" name="TextBox 2"/>
        <cdr:cNvSpPr txBox="1"/>
      </cdr:nvSpPr>
      <cdr:spPr bwMode="auto">
        <a:xfrm xmlns:a="http://schemas.openxmlformats.org/drawingml/2006/main">
          <a:off x="93960" y="217109"/>
          <a:ext cx="1194748" cy="322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>
            <a:defRPr/>
          </a:pPr>
          <a:r>
            <a:rPr lang="en-US" sz="1200" dirty="0"/>
            <a:t>TRP</a:t>
          </a:r>
          <a:endParaRPr lang="ru-RU" sz="1200" dirty="0"/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0.03774</cdr:x>
      <cdr:y>0.00905</cdr:y>
    </cdr:from>
    <cdr:to>
      <cdr:x>0.18598</cdr:x>
      <cdr:y>0.07479</cdr:y>
    </cdr:to>
    <cdr:sp macro="" textlink="">
      <cdr:nvSpPr>
        <cdr:cNvPr id="3" name="TextBox 2"/>
        <cdr:cNvSpPr txBox="1"/>
      </cdr:nvSpPr>
      <cdr:spPr bwMode="auto">
        <a:xfrm xmlns:a="http://schemas.openxmlformats.org/drawingml/2006/main">
          <a:off x="232818" y="38887"/>
          <a:ext cx="914400" cy="28246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>
            <a:defRPr/>
          </a:pPr>
          <a:r>
            <a:rPr lang="en-US" sz="1200" dirty="0"/>
            <a:t>St. TRPs_20”</a:t>
          </a:r>
          <a:endParaRPr lang="ru-RU" sz="1200" dirty="0"/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0.12722</cdr:x>
      <cdr:y>0.12773</cdr:y>
    </cdr:from>
    <cdr:to>
      <cdr:x>0.20676</cdr:x>
      <cdr:y>0.19554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F742BD34-EA87-80EB-2C8B-D7CC22AE8313}"/>
            </a:ext>
          </a:extLst>
        </cdr:cNvPr>
        <cdr:cNvSpPr txBox="1"/>
      </cdr:nvSpPr>
      <cdr:spPr>
        <a:xfrm xmlns:a="http://schemas.openxmlformats.org/drawingml/2006/main">
          <a:off x="1383770" y="369331"/>
          <a:ext cx="865096" cy="19608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ru-RU" sz="1100" dirty="0"/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 bwMode="auto"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 bwMode="auto"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5637A424-28F5-4BB4-BDFE-AB6E74F8AE54}" type="datetimeFigureOut">
              <a:rPr lang="ru-RU"/>
              <a:t>30.06.2026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>
              <a:defRPr/>
            </a:pPr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 bwMode="auto"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 bwMode="auto"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3DFAE6C6-B0B9-4EB3-841C-89D47F24CFF3}" type="slidenum">
              <a:rPr lang="ru-RU"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>
      <a:defRPr sz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>
      <a:defRPr sz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>
      <a:defRPr sz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>
      <a:defRPr sz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>
      <a:defRPr sz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>
      <a:defRPr sz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>
      <a:defRPr sz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>
      <a:defRPr sz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>
      <a:defRPr sz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ВАЖНОЕ ИЗМЕНЕНИЕ относительно того, что было раньше:</a:t>
            </a:r>
          </a:p>
          <a:p>
            <a:r>
              <a:rPr lang="ru-RU" dirty="0"/>
              <a:t>Пишем в верху название месяца, за который последний есть ТВ рейтинги</a:t>
            </a:r>
          </a:p>
          <a:p>
            <a:r>
              <a:rPr lang="ru-RU" dirty="0"/>
              <a:t>Расходы обновляем по тот месяц, что есть – вот отсылали, был февраль последний</a:t>
            </a:r>
          </a:p>
          <a:p>
            <a:r>
              <a:rPr lang="ru-RU" dirty="0"/>
              <a:t>А ТВ – уже весь март есть. Поэтому ТВ рейтинги ставили по Март. 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095298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Этот слайд меняется только в подписи Источника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9817187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Меняется только подписи Месяца отчетности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5468025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 bwMode="auto"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ru-RU" dirty="0"/>
              <a:t>База ТОП20 лежит отдельно. Это медиа бюджеты, вкл. интернет. Этот слайд про накопленный период. В данном случае </a:t>
            </a:r>
            <a:r>
              <a:rPr lang="ru-RU" dirty="0" err="1"/>
              <a:t>Янв-Фев</a:t>
            </a:r>
            <a:r>
              <a:rPr lang="ru-RU" dirty="0"/>
              <a:t> </a:t>
            </a:r>
          </a:p>
          <a:p>
            <a:pPr>
              <a:defRPr/>
            </a:pPr>
            <a:endParaRPr lang="ru-RU" dirty="0"/>
          </a:p>
          <a:p>
            <a:pPr>
              <a:defRPr/>
            </a:pPr>
            <a:r>
              <a:rPr lang="ru-RU" dirty="0"/>
              <a:t>Даже если Х5 и Тандер не входят в ТОП20, они должны быть на графике</a:t>
            </a:r>
          </a:p>
          <a:p>
            <a:pPr>
              <a:defRPr/>
            </a:pPr>
            <a:r>
              <a:rPr lang="ru-RU" dirty="0"/>
              <a:t>Здесь и далее в части ТОП20 размеры шрифтов на графиках, шрифт везде </a:t>
            </a:r>
            <a:r>
              <a:rPr lang="en-US" dirty="0"/>
              <a:t>Aptos</a:t>
            </a:r>
            <a:r>
              <a:rPr lang="ru-RU" dirty="0"/>
              <a:t>:</a:t>
            </a:r>
          </a:p>
          <a:p>
            <a:pPr>
              <a:defRPr/>
            </a:pPr>
            <a:r>
              <a:rPr lang="ru-RU" dirty="0"/>
              <a:t>Вертикальная – 10, заголовок Млн. </a:t>
            </a:r>
            <a:r>
              <a:rPr lang="ru-RU" dirty="0" err="1"/>
              <a:t>руб</a:t>
            </a:r>
            <a:r>
              <a:rPr lang="ru-RU" dirty="0"/>
              <a:t> – 12. </a:t>
            </a:r>
          </a:p>
          <a:p>
            <a:pPr>
              <a:defRPr/>
            </a:pPr>
            <a:r>
              <a:rPr lang="ru-RU" dirty="0"/>
              <a:t>Горизонтальная – 8</a:t>
            </a:r>
          </a:p>
          <a:p>
            <a:pPr>
              <a:defRPr/>
            </a:pPr>
            <a:r>
              <a:rPr lang="ru-RU" dirty="0"/>
              <a:t>Подписи на графике (значения) – 8</a:t>
            </a:r>
          </a:p>
          <a:p>
            <a:pPr>
              <a:defRPr/>
            </a:pPr>
            <a:r>
              <a:rPr lang="ru-RU" dirty="0"/>
              <a:t>Заголовок – 14</a:t>
            </a:r>
          </a:p>
          <a:p>
            <a:pPr>
              <a:defRPr/>
            </a:pPr>
            <a:r>
              <a:rPr lang="ru-RU" dirty="0"/>
              <a:t>Легенда  - 11</a:t>
            </a:r>
          </a:p>
          <a:p>
            <a:pPr>
              <a:defRPr/>
            </a:pP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 bwMode="auto"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База ТОП20 лежит отдельно. Это медиа бюджеты, вкл. интернет. Этот слайд про бюджеты за последний отчетный месяц. В данном случае </a:t>
            </a:r>
            <a:r>
              <a:rPr lang="ru-RU" dirty="0" err="1"/>
              <a:t>Фев</a:t>
            </a:r>
            <a:r>
              <a:rPr lang="ru-RU" dirty="0"/>
              <a:t> 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266727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Это только Нац. ТВ, включая ТВ спонсорство! Не рекламодатели, а бренды! Отдельная база от аналитиков. </a:t>
            </a:r>
          </a:p>
          <a:p>
            <a:r>
              <a:rPr lang="ru-RU" dirty="0"/>
              <a:t>Топ 20 за накопленный с начала года период. Отдельно выносятся бренды Х5 в таблицу. Если выносить в таблицу трудно, просто добавьте в список в графике, оттуда КС будет брать и сами таблицу делать. </a:t>
            </a:r>
          </a:p>
          <a:p>
            <a:r>
              <a:rPr lang="ru-RU" dirty="0"/>
              <a:t>Тут </a:t>
            </a:r>
            <a:r>
              <a:rPr lang="ru-RU" dirty="0" err="1"/>
              <a:t>Тотал</a:t>
            </a:r>
            <a:r>
              <a:rPr lang="ru-RU" dirty="0"/>
              <a:t> бренд без фильтра на Ритейл. И только </a:t>
            </a:r>
            <a:r>
              <a:rPr lang="ru-RU" dirty="0" err="1"/>
              <a:t>нац</a:t>
            </a:r>
            <a:r>
              <a:rPr lang="ru-RU" dirty="0"/>
              <a:t> ТВ, поэтому, например, Чижик не попал в список. 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760586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То же самое, что предыдущий слайд, но в приведенных рейтингах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2233056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Как слайд 7, но за последний отчетный период – Февраль 2026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9138671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Как слайд 8, но за последний отчетный период – Февраль 2026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566671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Меняется только месяц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547278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Это все только ТВ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"/>
              </a:rPr>
              <a:t> (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"/>
              </a:rPr>
              <a:t>нац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"/>
              </a:rPr>
              <a:t> ТВ,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"/>
              </a:rPr>
              <a:t>рег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"/>
              </a:rPr>
              <a:t> ТВ, без спонсорства)</a:t>
            </a:r>
            <a:endParaRPr lang="ru-RU" dirty="0"/>
          </a:p>
          <a:p>
            <a:r>
              <a:rPr lang="ru-RU" dirty="0"/>
              <a:t>Верхний график – Период январь – февраль 2026 </a:t>
            </a:r>
            <a:r>
              <a:rPr lang="en-US" dirty="0"/>
              <a:t>vs </a:t>
            </a:r>
            <a:r>
              <a:rPr lang="ru-RU" dirty="0" err="1"/>
              <a:t>янв-фев</a:t>
            </a:r>
            <a:r>
              <a:rPr lang="ru-RU" dirty="0"/>
              <a:t> 2025 </a:t>
            </a:r>
            <a:r>
              <a:rPr lang="en-US" dirty="0"/>
              <a:t>vs </a:t>
            </a:r>
            <a:r>
              <a:rPr lang="ru-RU" dirty="0" err="1"/>
              <a:t>янв-фев</a:t>
            </a:r>
            <a:r>
              <a:rPr lang="en-US" dirty="0"/>
              <a:t> 2024 (</a:t>
            </a:r>
            <a:r>
              <a:rPr lang="ru-RU" dirty="0"/>
              <a:t>КС выводы должен писать по динамике за 2 года, но перед отправкой клиенту 2024 год будут скрывать). </a:t>
            </a:r>
          </a:p>
          <a:p>
            <a:r>
              <a:rPr lang="ru-RU" dirty="0"/>
              <a:t>Просьба заменить 1-2</a:t>
            </a:r>
            <a:r>
              <a:rPr lang="en-US" dirty="0"/>
              <a:t>’25 </a:t>
            </a:r>
            <a:r>
              <a:rPr lang="ru-RU" dirty="0"/>
              <a:t>на </a:t>
            </a:r>
            <a:r>
              <a:rPr lang="ru-RU" dirty="0" err="1"/>
              <a:t>янв-фев</a:t>
            </a:r>
            <a:r>
              <a:rPr lang="en-US" dirty="0"/>
              <a:t>’25 – 2026 </a:t>
            </a:r>
            <a:r>
              <a:rPr lang="ru-RU" dirty="0"/>
              <a:t>так же. </a:t>
            </a:r>
          </a:p>
          <a:p>
            <a:r>
              <a:rPr lang="ru-RU" dirty="0"/>
              <a:t>Изменение: делаем в виде «гребенки» (ранее столбик со сплитом был). Нужно сделать небольшое расстояние между гребенками разных годов (делается за счет одного пустого столбика в конце). Подписи значений в центре сверху, шрифт 7. 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Кроме того, «Другие» – большой сегмент. Прошу проставить все бренды. Далее КС будет формировать «Другие» и прописывать в Источнике. По крайней мере </a:t>
            </a:r>
            <a:r>
              <a:rPr lang="ru-RU" dirty="0" err="1"/>
              <a:t>ближНижние</a:t>
            </a:r>
            <a:r>
              <a:rPr lang="ru-RU" dirty="0"/>
              <a:t> графики : начинаем с января 2025, но нужно проверять/корректировать прогноз до конца 2026 года. </a:t>
            </a:r>
          </a:p>
          <a:p>
            <a:r>
              <a:rPr lang="ru-RU" dirty="0" err="1"/>
              <a:t>айшие</a:t>
            </a:r>
            <a:r>
              <a:rPr lang="ru-RU" dirty="0"/>
              <a:t> 3-4 месяца, пока не придем к решению с клиентом по этому вопросу и не зафиксируем в нескольких отчетах. 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796202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Левый график</a:t>
            </a:r>
          </a:p>
          <a:p>
            <a:r>
              <a:rPr lang="ru-RU" dirty="0"/>
              <a:t>Это расходы, все медиа (базы оффлайн + </a:t>
            </a:r>
            <a:r>
              <a:rPr lang="ru-RU" dirty="0" err="1"/>
              <a:t>диджитал</a:t>
            </a:r>
            <a:r>
              <a:rPr lang="ru-RU" dirty="0"/>
              <a:t>). Данные последнего месяца </a:t>
            </a:r>
            <a:r>
              <a:rPr lang="en-US" dirty="0"/>
              <a:t>YOY</a:t>
            </a:r>
            <a:endParaRPr lang="ru-RU" dirty="0"/>
          </a:p>
          <a:p>
            <a:endParaRPr lang="ru-RU" dirty="0"/>
          </a:p>
          <a:p>
            <a:r>
              <a:rPr lang="ru-RU" dirty="0"/>
              <a:t>Правый график</a:t>
            </a:r>
          </a:p>
          <a:p>
            <a:r>
              <a:rPr lang="ru-RU" dirty="0"/>
              <a:t>Это ТВ расходы (</a:t>
            </a:r>
            <a:r>
              <a:rPr lang="ru-RU" dirty="0" err="1"/>
              <a:t>нац+рег+спонсорство</a:t>
            </a:r>
            <a:r>
              <a:rPr lang="ru-RU" dirty="0"/>
              <a:t>) динамика последний  месяц </a:t>
            </a:r>
            <a:r>
              <a:rPr lang="en-US" dirty="0"/>
              <a:t>YOY</a:t>
            </a: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782101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Заголовки графиков – </a:t>
            </a:r>
            <a:r>
              <a:rPr lang="en-US" dirty="0"/>
              <a:t>Aptos1</a:t>
            </a:r>
            <a:r>
              <a:rPr lang="ru-RU" dirty="0"/>
              <a:t>4, цвет - </a:t>
            </a:r>
            <a:r>
              <a:rPr lang="en-US" dirty="0"/>
              <a:t>#3A3A3A</a:t>
            </a:r>
            <a:r>
              <a:rPr lang="ru-RU" dirty="0"/>
              <a:t>.</a:t>
            </a:r>
            <a:endParaRPr lang="en-US" dirty="0"/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Период с января 2025</a:t>
            </a:r>
            <a:r>
              <a:rPr lang="en-US" dirty="0"/>
              <a:t> </a:t>
            </a:r>
            <a:r>
              <a:rPr lang="ru-RU" dirty="0"/>
              <a:t>Только </a:t>
            </a:r>
            <a:r>
              <a:rPr lang="ru-RU" dirty="0" err="1"/>
              <a:t>Нац</a:t>
            </a:r>
            <a:r>
              <a:rPr lang="ru-RU" dirty="0"/>
              <a:t> ТВ (без Спонсорства)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Причем сейчас 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Вторая ось подстраивается так, чтобы видны были цифры</a:t>
            </a:r>
          </a:p>
          <a:p>
            <a:r>
              <a:rPr lang="ru-RU" dirty="0"/>
              <a:t>настройки разные: у Пятерки </a:t>
            </a:r>
            <a:r>
              <a:rPr lang="ru-RU" dirty="0" err="1"/>
              <a:t>осеь</a:t>
            </a:r>
            <a:r>
              <a:rPr lang="ru-RU" dirty="0"/>
              <a:t> от -10 до 20, у Магнита – от -5 до 15. </a:t>
            </a:r>
          </a:p>
          <a:p>
            <a:r>
              <a:rPr lang="ru-RU" dirty="0"/>
              <a:t>Подписи значений по вторичной оси сверху</a:t>
            </a:r>
          </a:p>
          <a:p>
            <a:r>
              <a:rPr lang="ru-RU" dirty="0"/>
              <a:t>Внутри столбиков – по центру</a:t>
            </a:r>
          </a:p>
          <a:p>
            <a:r>
              <a:rPr lang="ru-RU" dirty="0"/>
              <a:t>Справа в таблицах за 2025 год можно сделать 4 квартала, по 2026 по месяцам, начиная с июля 1 квартал 2026 года можно свернуть, с октября можно свернуть 2 квартал,</a:t>
            </a:r>
          </a:p>
          <a:p>
            <a:r>
              <a:rPr lang="ru-RU" dirty="0"/>
              <a:t>В этом примере в таблице справа целые числа стоят, но нужно чтобы 1 знак после запятой был. 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1305631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Заголовки графиков – </a:t>
            </a:r>
            <a:r>
              <a:rPr lang="en-US" dirty="0"/>
              <a:t>Aptos1</a:t>
            </a:r>
            <a:r>
              <a:rPr lang="ru-RU" dirty="0"/>
              <a:t>4, цвет - </a:t>
            </a:r>
            <a:r>
              <a:rPr lang="en-US" dirty="0"/>
              <a:t>#3A3A3A</a:t>
            </a:r>
            <a:r>
              <a:rPr lang="ru-RU" dirty="0"/>
              <a:t>.</a:t>
            </a:r>
          </a:p>
          <a:p>
            <a:r>
              <a:rPr lang="ru-RU" dirty="0"/>
              <a:t>Это </a:t>
            </a:r>
            <a:r>
              <a:rPr lang="ru-RU" dirty="0" err="1"/>
              <a:t>рег</a:t>
            </a:r>
            <a:r>
              <a:rPr lang="ru-RU" dirty="0"/>
              <a:t> ТВ – </a:t>
            </a:r>
            <a:r>
              <a:rPr lang="ru-RU" dirty="0" err="1"/>
              <a:t>ср.длина</a:t>
            </a:r>
            <a:r>
              <a:rPr lang="ru-RU" dirty="0"/>
              <a:t> рассчитывается по </a:t>
            </a:r>
            <a:r>
              <a:rPr lang="ru-RU" dirty="0" err="1"/>
              <a:t>рег</a:t>
            </a:r>
            <a:r>
              <a:rPr lang="ru-RU" dirty="0"/>
              <a:t> рейтингам </a:t>
            </a:r>
            <a:r>
              <a:rPr lang="ru-RU" dirty="0" err="1"/>
              <a:t>перевзвешенным</a:t>
            </a:r>
            <a:r>
              <a:rPr lang="ru-RU" dirty="0"/>
              <a:t> на Россия 0+ (</a:t>
            </a:r>
            <a:r>
              <a:rPr lang="en-US" dirty="0" err="1"/>
              <a:t>RtgPer_w</a:t>
            </a:r>
            <a:r>
              <a:rPr lang="ru-RU" dirty="0"/>
              <a:t>)</a:t>
            </a:r>
          </a:p>
          <a:p>
            <a:r>
              <a:rPr lang="ru-RU" dirty="0"/>
              <a:t>Справа таблица – те же комментарии, что на предыдущем слайде (сворачивать по кварталам, десятичные знаки в цифрах). </a:t>
            </a:r>
          </a:p>
          <a:p>
            <a:r>
              <a:rPr lang="ru-RU" dirty="0"/>
              <a:t>Графики слева, вторичная ось настройка:</a:t>
            </a:r>
          </a:p>
          <a:p>
            <a:r>
              <a:rPr lang="ru-RU" dirty="0"/>
              <a:t>Пятерочка от 015 до 15</a:t>
            </a:r>
          </a:p>
          <a:p>
            <a:r>
              <a:rPr lang="ru-RU" dirty="0"/>
              <a:t>Магнит от -10 до 15</a:t>
            </a:r>
          </a:p>
          <a:p>
            <a:r>
              <a:rPr lang="ru-RU" dirty="0"/>
              <a:t>Подписи значений по вторичной оси сверху</a:t>
            </a:r>
          </a:p>
          <a:p>
            <a:r>
              <a:rPr lang="ru-RU" dirty="0"/>
              <a:t>Внутри столбиков – по центру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6093059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Оффлайн база +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US" dirty="0"/>
              <a:t>Delivery – All</a:t>
            </a:r>
            <a:r>
              <a:rPr lang="ru-RU" dirty="0"/>
              <a:t>. Если не сложно, все таки поменять подписи 1-2</a:t>
            </a:r>
            <a:r>
              <a:rPr lang="en-US" dirty="0"/>
              <a:t>’25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jan_current_month</a:t>
            </a:r>
            <a:r>
              <a:rPr lang="en-GB" dirty="0"/>
              <a:t>}</a:t>
            </a:r>
            <a:r>
              <a:rPr lang="ru-RU" dirty="0"/>
              <a:t> на </a:t>
            </a:r>
            <a:r>
              <a:rPr lang="en-GB" dirty="0"/>
              <a:t>{</a:t>
            </a:r>
            <a:r>
              <a:rPr lang="en-GB" dirty="0" err="1"/>
              <a:t>jan_ly_month</a:t>
            </a:r>
            <a:r>
              <a:rPr lang="en-GB" dirty="0"/>
              <a:t>}</a:t>
            </a:r>
            <a:r>
              <a:rPr lang="en-US" dirty="0"/>
              <a:t> </a:t>
            </a:r>
            <a:r>
              <a:rPr lang="ru-RU" dirty="0"/>
              <a:t>и </a:t>
            </a:r>
            <a:r>
              <a:rPr lang="en-GB" dirty="0"/>
              <a:t>{</a:t>
            </a:r>
            <a:r>
              <a:rPr lang="en-GB" dirty="0" err="1"/>
              <a:t>jan_current_month</a:t>
            </a:r>
            <a:r>
              <a:rPr lang="en-GB" dirty="0"/>
              <a:t>}</a:t>
            </a:r>
            <a:r>
              <a:rPr lang="ru-RU" dirty="0"/>
              <a:t>. Если сложно, то хотя бы заголовок писать (нижний график): Медиа Микс, </a:t>
            </a:r>
            <a:r>
              <a:rPr lang="ru-RU" dirty="0" err="1"/>
              <a:t>янв</a:t>
            </a:r>
            <a:r>
              <a:rPr lang="ru-RU" dirty="0"/>
              <a:t> – </a:t>
            </a:r>
            <a:r>
              <a:rPr lang="ru-RU" dirty="0" err="1"/>
              <a:t>фев</a:t>
            </a:r>
            <a:r>
              <a:rPr lang="en-US" dirty="0"/>
              <a:t>’</a:t>
            </a:r>
            <a:r>
              <a:rPr lang="ru-RU" dirty="0"/>
              <a:t>26 (все таки заголовок). </a:t>
            </a:r>
            <a:endParaRPr lang="en-US" dirty="0"/>
          </a:p>
          <a:p>
            <a:r>
              <a:rPr lang="ru-RU" dirty="0"/>
              <a:t>Заголовки графиков – </a:t>
            </a:r>
            <a:r>
              <a:rPr lang="en-US" dirty="0"/>
              <a:t>Aptos1</a:t>
            </a:r>
            <a:r>
              <a:rPr lang="ru-RU" dirty="0"/>
              <a:t>4, цвет - </a:t>
            </a:r>
            <a:r>
              <a:rPr lang="en-US" dirty="0"/>
              <a:t>#3A3A3A</a:t>
            </a:r>
            <a:r>
              <a:rPr lang="ru-RU" dirty="0"/>
              <a:t>.</a:t>
            </a:r>
            <a:endParaRPr lang="en-US" dirty="0"/>
          </a:p>
          <a:p>
            <a:r>
              <a:rPr lang="ru-RU" dirty="0"/>
              <a:t>В Медиа Микс ставить абсолютные цифры, % сами проставим. Абсолютные цифры нужны, поскольку эти графики сопровождаются таблицами в Аппендиксе – из этого графика будем данные брать для таблицы. Это расходы, все медиа, включая </a:t>
            </a:r>
            <a:r>
              <a:rPr lang="ru-RU" dirty="0" err="1"/>
              <a:t>Диджитал</a:t>
            </a:r>
            <a:endParaRPr lang="ru-RU" dirty="0"/>
          </a:p>
          <a:p>
            <a:r>
              <a:rPr lang="ru-RU" dirty="0"/>
              <a:t>Сейчас медиа каналы произвольно стоят в графике ниже. Прошу зафиксировать:</a:t>
            </a:r>
          </a:p>
          <a:p>
            <a:r>
              <a:rPr lang="ru-RU" dirty="0"/>
              <a:t>Нац. ТВ, Рег. ТВ Интернет, ООН, Радио, Пресса, ТВ </a:t>
            </a:r>
            <a:r>
              <a:rPr lang="ru-RU" dirty="0" err="1"/>
              <a:t>спонс</a:t>
            </a:r>
            <a:r>
              <a:rPr lang="ru-RU" dirty="0"/>
              <a:t>. Здесь и во всех других случаях медиа микса в презентации. ТВ спонсорство можешь поставить в другой позиции, просто чтобы для контраста было удобно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912263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Delivery ALL, Media mix incl. digital</a:t>
            </a:r>
            <a:endParaRPr lang="ru-RU" dirty="0"/>
          </a:p>
          <a:p>
            <a:r>
              <a:rPr lang="ru-RU" dirty="0"/>
              <a:t>Два графика наложены, чтобы одна легенда была</a:t>
            </a:r>
          </a:p>
          <a:p>
            <a:r>
              <a:rPr lang="ru-RU" dirty="0"/>
              <a:t>Ориентация подписей % на правом графике согласована с клиентом. </a:t>
            </a:r>
            <a:endParaRPr lang="en-US" dirty="0"/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02455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Обновляем только название месяца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0163157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По аналогии со слайдом 11</a:t>
            </a:r>
          </a:p>
          <a:p>
            <a:r>
              <a:rPr lang="ru-RU" dirty="0"/>
              <a:t>Верхний график – Период январь – февраль 2026 </a:t>
            </a:r>
            <a:r>
              <a:rPr lang="en-US" dirty="0"/>
              <a:t>vs </a:t>
            </a:r>
            <a:r>
              <a:rPr lang="ru-RU" dirty="0" err="1"/>
              <a:t>янв-фев</a:t>
            </a:r>
            <a:r>
              <a:rPr lang="ru-RU" dirty="0"/>
              <a:t> 2025 </a:t>
            </a:r>
            <a:r>
              <a:rPr lang="en-US" dirty="0"/>
              <a:t>vs </a:t>
            </a:r>
            <a:r>
              <a:rPr lang="ru-RU" dirty="0" err="1"/>
              <a:t>янв-фев</a:t>
            </a:r>
            <a:r>
              <a:rPr lang="en-US" dirty="0"/>
              <a:t> 2024 (</a:t>
            </a:r>
            <a:r>
              <a:rPr lang="ru-RU" dirty="0"/>
              <a:t>КС выводы должен писать по динамике за 2 года, но перед отправкой клиенту 2024 год будут скрывать). </a:t>
            </a:r>
          </a:p>
          <a:p>
            <a:r>
              <a:rPr lang="ru-RU" dirty="0"/>
              <a:t>Изменение: делаем в виде «гребенки» (ранее столбик со сплитом был). Нужно сделать небольшой расстояние между гребенками разных годов (не смогла сделать). Подписи сверху, шрифт 7. </a:t>
            </a:r>
          </a:p>
          <a:p>
            <a:r>
              <a:rPr lang="ru-RU" dirty="0"/>
              <a:t>Кроме того, «Другие» – большой сегмент. Прошу проставить все бренды. Далее КС будет формировать «Другие» и прописывать в Источнике. По крайней мере ближайшие 3-4 месяца, пока не придем к решению с клиентом по этому вопросу и не зафиксируем в нескольких отчетах. </a:t>
            </a:r>
          </a:p>
          <a:p>
            <a:r>
              <a:rPr lang="ru-RU" dirty="0"/>
              <a:t>Нижние графики – период поменять: начинаем с января 2025, но нужно сделать прогноз до конца 2026 года. 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0470653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Delivery – </a:t>
            </a:r>
            <a:r>
              <a:rPr lang="ru-RU" dirty="0"/>
              <a:t>без Доставки</a:t>
            </a:r>
          </a:p>
          <a:p>
            <a:r>
              <a:rPr lang="ru-RU" dirty="0"/>
              <a:t>Остальное как слайд 15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390820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Это только ТВ: </a:t>
            </a:r>
            <a:r>
              <a:rPr lang="ru-RU" dirty="0" err="1"/>
              <a:t>Нац</a:t>
            </a:r>
            <a:r>
              <a:rPr lang="ru-RU" dirty="0"/>
              <a:t> ТВ, включая ТВ спонсорство, и </a:t>
            </a:r>
            <a:r>
              <a:rPr lang="ru-RU" dirty="0" err="1"/>
              <a:t>рег</a:t>
            </a:r>
            <a:r>
              <a:rPr lang="ru-RU" dirty="0"/>
              <a:t> ТВ. </a:t>
            </a:r>
            <a:r>
              <a:rPr lang="en-US" dirty="0"/>
              <a:t>Delivery – </a:t>
            </a:r>
            <a:r>
              <a:rPr lang="ru-RU" dirty="0"/>
              <a:t>без доставки</a:t>
            </a:r>
          </a:p>
          <a:p>
            <a:endParaRPr lang="ru-RU" dirty="0"/>
          </a:p>
          <a:p>
            <a:r>
              <a:rPr lang="ru-RU" dirty="0"/>
              <a:t>Рейтинги – </a:t>
            </a:r>
            <a:r>
              <a:rPr lang="en-US" dirty="0"/>
              <a:t>SOV</a:t>
            </a:r>
            <a:r>
              <a:rPr lang="ru-RU" dirty="0"/>
              <a:t>: </a:t>
            </a:r>
            <a:r>
              <a:rPr lang="ru-RU" dirty="0" err="1"/>
              <a:t>нац</a:t>
            </a:r>
            <a:r>
              <a:rPr lang="ru-RU" dirty="0"/>
              <a:t> ТВ и ТВ спонсорство – </a:t>
            </a:r>
            <a:r>
              <a:rPr lang="ru-RU" dirty="0" err="1"/>
              <a:t>нац</a:t>
            </a:r>
            <a:r>
              <a:rPr lang="ru-RU" dirty="0"/>
              <a:t> </a:t>
            </a:r>
            <a:r>
              <a:rPr lang="en-US" dirty="0"/>
              <a:t>TVR</a:t>
            </a:r>
            <a:r>
              <a:rPr lang="ru-RU" dirty="0"/>
              <a:t> (</a:t>
            </a:r>
            <a:r>
              <a:rPr lang="ru-RU" dirty="0" err="1"/>
              <a:t>рег</a:t>
            </a:r>
            <a:r>
              <a:rPr lang="ru-RU" dirty="0"/>
              <a:t> ТВ отключить)</a:t>
            </a:r>
            <a:r>
              <a:rPr lang="en-US" dirty="0"/>
              <a:t>, </a:t>
            </a:r>
            <a:r>
              <a:rPr lang="ru-RU" dirty="0" err="1"/>
              <a:t>Рег</a:t>
            </a:r>
            <a:r>
              <a:rPr lang="ru-RU" dirty="0"/>
              <a:t> ТВ </a:t>
            </a:r>
            <a:r>
              <a:rPr lang="en-US" dirty="0"/>
              <a:t>TRPs - </a:t>
            </a:r>
            <a:r>
              <a:rPr lang="en-US" dirty="0" err="1"/>
              <a:t>RtgPer_w</a:t>
            </a:r>
            <a:r>
              <a:rPr lang="en-US" dirty="0"/>
              <a:t> (</a:t>
            </a:r>
            <a:r>
              <a:rPr lang="ru-RU" dirty="0"/>
              <a:t>фильтр на медиа канал – только </a:t>
            </a:r>
            <a:r>
              <a:rPr lang="ru-RU" dirty="0" err="1"/>
              <a:t>Рег</a:t>
            </a:r>
            <a:r>
              <a:rPr lang="ru-RU" dirty="0"/>
              <a:t> ТВ выделить)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711336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Delivery – </a:t>
            </a:r>
            <a:r>
              <a:rPr lang="ru-RU" dirty="0"/>
              <a:t>без доставки, только </a:t>
            </a:r>
            <a:r>
              <a:rPr lang="ru-RU" dirty="0" err="1"/>
              <a:t>нац</a:t>
            </a:r>
            <a:r>
              <a:rPr lang="ru-RU" dirty="0"/>
              <a:t> ТВ без ТВ спонсорства, доставка в города. </a:t>
            </a:r>
          </a:p>
          <a:p>
            <a:r>
              <a:rPr lang="ru-RU" dirty="0"/>
              <a:t>Ср. </a:t>
            </a:r>
            <a:r>
              <a:rPr lang="en-US" dirty="0"/>
              <a:t>AWW</a:t>
            </a:r>
            <a:r>
              <a:rPr lang="ru-RU" dirty="0"/>
              <a:t> – это </a:t>
            </a:r>
            <a:r>
              <a:rPr lang="ru-RU" dirty="0" err="1"/>
              <a:t>средненедельный</a:t>
            </a:r>
            <a:r>
              <a:rPr lang="ru-RU" dirty="0"/>
              <a:t> вес в категории</a:t>
            </a:r>
          </a:p>
          <a:p>
            <a:r>
              <a:rPr lang="ru-RU" dirty="0"/>
              <a:t>линии по брендам – </a:t>
            </a:r>
            <a:r>
              <a:rPr lang="ru-RU" dirty="0" err="1"/>
              <a:t>средненедельный</a:t>
            </a:r>
            <a:r>
              <a:rPr lang="ru-RU" dirty="0"/>
              <a:t> вес бренда</a:t>
            </a:r>
          </a:p>
          <a:p>
            <a:r>
              <a:rPr lang="ru-RU" dirty="0"/>
              <a:t>Веса менее 30 </a:t>
            </a:r>
            <a:r>
              <a:rPr lang="en-US" dirty="0"/>
              <a:t>TRPs</a:t>
            </a:r>
            <a:r>
              <a:rPr lang="ru-RU" dirty="0"/>
              <a:t> в неделю не учитываются</a:t>
            </a:r>
          </a:p>
          <a:p>
            <a:r>
              <a:rPr lang="ru-RU" dirty="0"/>
              <a:t>Недели с менее чем 4 активных дней не учитываются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5639594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Это то же самое, что предыдущий слайд, но только </a:t>
            </a:r>
            <a:r>
              <a:rPr lang="ru-RU" dirty="0" err="1"/>
              <a:t>рег</a:t>
            </a:r>
            <a:r>
              <a:rPr lang="ru-RU" dirty="0"/>
              <a:t> ТВ (</a:t>
            </a:r>
            <a:r>
              <a:rPr lang="ru-RU" dirty="0" err="1"/>
              <a:t>нац</a:t>
            </a:r>
            <a:r>
              <a:rPr lang="ru-RU" dirty="0"/>
              <a:t> ТВ и ТВ спонсорство в фильтрах медиа каналов нужно отключить)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7178333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Без </a:t>
            </a:r>
            <a:r>
              <a:rPr lang="ru-RU" dirty="0" err="1"/>
              <a:t>ДоставкиЭто</a:t>
            </a:r>
            <a:r>
              <a:rPr lang="ru-RU" dirty="0"/>
              <a:t> рейтинги, </a:t>
            </a:r>
            <a:r>
              <a:rPr lang="ru-RU" dirty="0" err="1"/>
              <a:t>нац</a:t>
            </a:r>
            <a:r>
              <a:rPr lang="ru-RU" dirty="0"/>
              <a:t> ТВ + </a:t>
            </a:r>
            <a:r>
              <a:rPr lang="ru-RU" dirty="0" err="1"/>
              <a:t>Рег</a:t>
            </a:r>
            <a:r>
              <a:rPr lang="ru-RU" dirty="0"/>
              <a:t> ТВ (пересчитано на Россия 0+) + ТВ спонсорство</a:t>
            </a:r>
          </a:p>
          <a:p>
            <a:endParaRPr lang="ru-RU" dirty="0"/>
          </a:p>
          <a:p>
            <a:r>
              <a:rPr lang="ru-RU" dirty="0"/>
              <a:t>С января 2025 по последний имеющийся месяц</a:t>
            </a:r>
          </a:p>
          <a:p>
            <a:r>
              <a:rPr lang="ru-RU" dirty="0"/>
              <a:t>Доля рассчитывается от реальных рейтингов – сверху только </a:t>
            </a:r>
            <a:r>
              <a:rPr lang="ru-RU" dirty="0" err="1"/>
              <a:t>Нац</a:t>
            </a:r>
            <a:r>
              <a:rPr lang="ru-RU" dirty="0"/>
              <a:t> ТВ, включая ТВ спонсорство</a:t>
            </a:r>
          </a:p>
          <a:p>
            <a:r>
              <a:rPr lang="ru-RU" dirty="0"/>
              <a:t>Внизу – только </a:t>
            </a:r>
            <a:r>
              <a:rPr lang="ru-RU" dirty="0" err="1"/>
              <a:t>Рег</a:t>
            </a:r>
            <a:r>
              <a:rPr lang="ru-RU" dirty="0"/>
              <a:t> ТВ пересчитанное на Россия 0+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2872625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Без ДОСТАВКИ</a:t>
            </a:r>
          </a:p>
          <a:p>
            <a:r>
              <a:rPr lang="ru-RU" dirty="0"/>
              <a:t>Это Москва, но вообще клиент интересовался остальными городами тоже. </a:t>
            </a:r>
          </a:p>
          <a:p>
            <a:r>
              <a:rPr lang="ru-RU" dirty="0" err="1"/>
              <a:t>средненедельный</a:t>
            </a:r>
            <a:r>
              <a:rPr lang="ru-RU" dirty="0"/>
              <a:t> вес (принцип расчета такой же как на слайдах 21-22: не менее 15 </a:t>
            </a:r>
            <a:r>
              <a:rPr lang="en-US" dirty="0"/>
              <a:t>TRPs </a:t>
            </a:r>
            <a:r>
              <a:rPr lang="ru-RU" dirty="0"/>
              <a:t>в неделю, не менее 4 активных дней), деленный на среднее количество товаров в неделю. </a:t>
            </a:r>
          </a:p>
          <a:p>
            <a:pPr algn="l"/>
            <a:endParaRPr lang="en-US" dirty="0"/>
          </a:p>
          <a:p>
            <a:pPr algn="l"/>
            <a:r>
              <a:rPr lang="ru-RU" dirty="0"/>
              <a:t>Здесь стоят </a:t>
            </a:r>
            <a:r>
              <a:rPr lang="en-US" dirty="0"/>
              <a:t>Average Weekly weight</a:t>
            </a:r>
            <a:r>
              <a:rPr lang="ru-RU" dirty="0"/>
              <a:t> в городе по брендам. </a:t>
            </a:r>
          </a:p>
          <a:p>
            <a:pPr algn="l"/>
            <a:r>
              <a:rPr lang="ru-RU" dirty="0"/>
              <a:t>Названия осей не менять</a:t>
            </a:r>
          </a:p>
          <a:p>
            <a:pPr algn="ctr"/>
            <a:endParaRPr lang="ru-RU" dirty="0"/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6011804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Это только ТВ=</a:t>
            </a:r>
            <a:r>
              <a:rPr lang="ru-RU" dirty="0" err="1"/>
              <a:t>Нац</a:t>
            </a:r>
            <a:r>
              <a:rPr lang="ru-RU" dirty="0"/>
              <a:t> ТВ +ТВ </a:t>
            </a:r>
            <a:r>
              <a:rPr lang="ru-RU" dirty="0" err="1"/>
              <a:t>спонсорство+Рег</a:t>
            </a:r>
            <a:r>
              <a:rPr lang="ru-RU" dirty="0"/>
              <a:t> ТВ пересчитанное на Россию в случае рейтингов</a:t>
            </a:r>
          </a:p>
          <a:p>
            <a:r>
              <a:rPr lang="ru-RU" dirty="0"/>
              <a:t>Бюджеты ТВ=</a:t>
            </a:r>
            <a:r>
              <a:rPr lang="ru-RU" dirty="0" err="1"/>
              <a:t>нац</a:t>
            </a:r>
            <a:r>
              <a:rPr lang="ru-RU" dirty="0"/>
              <a:t> ТВ + </a:t>
            </a:r>
            <a:r>
              <a:rPr lang="ru-RU" dirty="0" err="1"/>
              <a:t>рег</a:t>
            </a:r>
            <a:r>
              <a:rPr lang="ru-RU" dirty="0"/>
              <a:t> ТВ + ТВ спонсорство. </a:t>
            </a:r>
          </a:p>
          <a:p>
            <a:r>
              <a:rPr lang="ru-RU" dirty="0"/>
              <a:t>Список и порядок брендов зафиксированы. </a:t>
            </a:r>
          </a:p>
          <a:p>
            <a:r>
              <a:rPr lang="ru-RU" dirty="0"/>
              <a:t>Прошу для первого раза все </a:t>
            </a:r>
            <a:r>
              <a:rPr lang="ru-RU" dirty="0" err="1"/>
              <a:t>персчитать</a:t>
            </a:r>
            <a:r>
              <a:rPr lang="ru-RU" dirty="0"/>
              <a:t> – сверимся, потом можно только по месяцу добавлять. </a:t>
            </a:r>
          </a:p>
          <a:p>
            <a:r>
              <a:rPr lang="ru-RU" dirty="0"/>
              <a:t>Верхняя таблица расходы </a:t>
            </a:r>
            <a:r>
              <a:rPr lang="en-US" dirty="0"/>
              <a:t>SOS</a:t>
            </a:r>
          </a:p>
          <a:p>
            <a:r>
              <a:rPr lang="ru-RU" dirty="0"/>
              <a:t>Нижняя таблица рейтинги Все 18+ - </a:t>
            </a:r>
            <a:r>
              <a:rPr lang="en-US" dirty="0"/>
              <a:t>SOV</a:t>
            </a:r>
            <a:endParaRPr lang="ru-RU" dirty="0"/>
          </a:p>
          <a:p>
            <a:r>
              <a:rPr lang="ru-RU" dirty="0"/>
              <a:t>Данные помесячные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2563272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Все то же, что слайд 18, но здесь </a:t>
            </a:r>
            <a:r>
              <a:rPr lang="en-US" dirty="0"/>
              <a:t>Delivery-</a:t>
            </a:r>
            <a:r>
              <a:rPr lang="ru-RU" dirty="0"/>
              <a:t>Доставка (Доставка (слайд 27) + без Доставки(слайд 18) = Все (слайд 11)</a:t>
            </a:r>
          </a:p>
          <a:p>
            <a:r>
              <a:rPr lang="ru-RU" dirty="0"/>
              <a:t>Нижние графики – вносим </a:t>
            </a:r>
            <a:r>
              <a:rPr lang="ru-RU" dirty="0" err="1"/>
              <a:t>актуальрные</a:t>
            </a:r>
            <a:r>
              <a:rPr lang="ru-RU" dirty="0"/>
              <a:t> данные за отчетный месяц, проверяем прогноз до конца 2026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1786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По аналогии со слайдом 19, но </a:t>
            </a:r>
            <a:r>
              <a:rPr lang="en-US" dirty="0"/>
              <a:t>Delivery = </a:t>
            </a:r>
            <a:r>
              <a:rPr lang="ru-RU" dirty="0"/>
              <a:t>Доставка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28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2239769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ru-RU" dirty="0"/>
              <a:t>По аналогии со слайдом 24, но </a:t>
            </a:r>
            <a:r>
              <a:rPr lang="en-US" dirty="0"/>
              <a:t>Delivery = </a:t>
            </a:r>
            <a:r>
              <a:rPr lang="ru-RU" dirty="0"/>
              <a:t>Доставка, а также помимо Пятерки и Магнита добавляем Самокат</a:t>
            </a:r>
          </a:p>
          <a:p>
            <a:pPr algn="l"/>
            <a:r>
              <a:rPr lang="ru-RU" dirty="0"/>
              <a:t>Здесь стоят </a:t>
            </a:r>
            <a:r>
              <a:rPr lang="en-US" dirty="0"/>
              <a:t>Average Weekly weight</a:t>
            </a:r>
            <a:r>
              <a:rPr lang="ru-RU" dirty="0"/>
              <a:t> в городе по брендам. </a:t>
            </a:r>
          </a:p>
          <a:p>
            <a:pPr algn="l"/>
            <a:r>
              <a:rPr lang="ru-RU" dirty="0"/>
              <a:t>Названия осей не менять</a:t>
            </a:r>
          </a:p>
          <a:p>
            <a:pPr algn="l"/>
            <a:endParaRPr lang="ru-RU" dirty="0"/>
          </a:p>
          <a:p>
            <a:pPr algn="l"/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420605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По аналогии со слайдом 25, но </a:t>
            </a:r>
            <a:r>
              <a:rPr lang="en-US" dirty="0"/>
              <a:t>Delivery = </a:t>
            </a:r>
            <a:r>
              <a:rPr lang="ru-RU" dirty="0"/>
              <a:t>Доставка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4393653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Все медиа, расходы, без прогноза</a:t>
            </a:r>
          </a:p>
          <a:p>
            <a:r>
              <a:rPr lang="en-US" dirty="0"/>
              <a:t>Delivery = All</a:t>
            </a: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3625995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Все медиа, расходы, без прогноза</a:t>
            </a:r>
          </a:p>
          <a:p>
            <a:r>
              <a:rPr lang="en-US" dirty="0"/>
              <a:t>Delivery = </a:t>
            </a:r>
            <a:r>
              <a:rPr lang="ru-RU" dirty="0"/>
              <a:t>без Доставки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3408359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Все медиа, расходы, без прогноза</a:t>
            </a:r>
          </a:p>
          <a:p>
            <a:r>
              <a:rPr lang="en-US" dirty="0"/>
              <a:t>Delivery = </a:t>
            </a:r>
            <a:r>
              <a:rPr lang="ru-RU" dirty="0"/>
              <a:t>Доставка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76920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В табличном виде цифры графика со слайда 11, нижний левый (но без прогноза)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Другие не сводим – указываем все бренды</a:t>
            </a:r>
          </a:p>
          <a:p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317843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В табличном виде цифры графика со слайда 18, нижний левый (но без прогноза)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Другие не сводим – указываем все бренды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504135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В табличном виде цифры графика со слайда 27, нижний левый (но без прогноза)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Другие не сводим – указываем все бренды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FAE6C6-B0B9-4EB3-841C-89D47F24CFF3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ru-RU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3535983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 табличном виде то, что на слайде 11 справа нижний график, но без прогноза</a:t>
            </a:r>
          </a:p>
          <a:p>
            <a:r>
              <a:rPr lang="ru-RU" dirty="0"/>
              <a:t>Все бренды указываем – не сводим Другие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39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3044948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 табличном виде то, что на слайде 18 справа нижний график, но без прогноза</a:t>
            </a:r>
          </a:p>
          <a:p>
            <a:r>
              <a:rPr lang="ru-RU" dirty="0"/>
              <a:t>Все бренды указываем – не сводим Другие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40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683327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В табличном виде то, что на слайде 27 справа нижний график, но без прогноза</a:t>
            </a:r>
          </a:p>
          <a:p>
            <a:r>
              <a:rPr lang="ru-RU" dirty="0"/>
              <a:t>Все бренды указываем – не сводим Другие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/>
              <a:t>ТВ спонсорство не учитываем, только </a:t>
            </a:r>
            <a:r>
              <a:rPr lang="ru-RU" dirty="0" err="1"/>
              <a:t>Нац</a:t>
            </a:r>
            <a:r>
              <a:rPr lang="ru-RU" dirty="0"/>
              <a:t> и </a:t>
            </a:r>
            <a:r>
              <a:rPr lang="ru-RU" dirty="0" err="1"/>
              <a:t>рег</a:t>
            </a:r>
            <a:r>
              <a:rPr lang="ru-RU" dirty="0"/>
              <a:t> ТВ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41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9517534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Здесь нац. </a:t>
            </a:r>
            <a:r>
              <a:rPr lang="ru-RU" dirty="0" err="1"/>
              <a:t>ТВ+рег</a:t>
            </a:r>
            <a:r>
              <a:rPr lang="ru-RU" dirty="0"/>
              <a:t> ТВ+ТВ Спонсорство</a:t>
            </a:r>
          </a:p>
          <a:p>
            <a:r>
              <a:rPr lang="ru-RU" dirty="0"/>
              <a:t>Список брендов фиксирован</a:t>
            </a:r>
          </a:p>
          <a:p>
            <a:r>
              <a:rPr lang="ru-RU" dirty="0"/>
              <a:t>Список городов фиксирован</a:t>
            </a:r>
          </a:p>
          <a:p>
            <a:r>
              <a:rPr lang="ru-RU" dirty="0"/>
              <a:t>Порядок – фиксирован</a:t>
            </a:r>
          </a:p>
          <a:p>
            <a:r>
              <a:rPr lang="ru-RU" dirty="0"/>
              <a:t>Недели с менее 15 </a:t>
            </a:r>
            <a:r>
              <a:rPr lang="en-US" dirty="0"/>
              <a:t>TRPs</a:t>
            </a:r>
            <a:r>
              <a:rPr lang="ru-RU" dirty="0"/>
              <a:t> в неделю не учитываются, неполные недели не учитываются (это большие бренды, так что не делаем ограничение на кол-во </a:t>
            </a:r>
            <a:r>
              <a:rPr lang="ru-RU" dirty="0" err="1"/>
              <a:t>активиных</a:t>
            </a:r>
            <a:r>
              <a:rPr lang="ru-RU" dirty="0"/>
              <a:t> дней, просто считаем только полные недели). 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3DFAE6C6-B0B9-4EB3-841C-89D47F24CFF3}" type="slidenum">
              <a:rPr lang="ru-RU" smtClean="0"/>
              <a:t>42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3867076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itle" preserve="1" userDrawn="1">
  <p:cSld name="Титульный слайд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1026" name="Picture 2" descr="Picture background"/>
          <p:cNvPicPr>
            <a:picLocks noChangeAspect="1" noChangeArrowheads="1"/>
          </p:cNvPicPr>
          <p:nvPr userDrawn="1"/>
        </p:nvPicPr>
        <p:blipFill>
          <a:blip r:embed="rId2"/>
          <a:stretch/>
        </p:blipFill>
        <p:spPr bwMode="auto">
          <a:xfrm>
            <a:off x="0" y="-2"/>
            <a:ext cx="12245652" cy="6858001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 bwMode="auto"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</a:defRPr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 bwMode="auto"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  <p:pic>
        <p:nvPicPr>
          <p:cNvPr id="1028" name="Picture 4" descr="Picture background"/>
          <p:cNvPicPr>
            <a:picLocks noChangeAspect="1" noChangeArrowheads="1"/>
          </p:cNvPicPr>
          <p:nvPr userDrawn="1"/>
        </p:nvPicPr>
        <p:blipFill>
          <a:blip r:embed="rId3"/>
          <a:stretch/>
        </p:blipFill>
        <p:spPr bwMode="auto">
          <a:xfrm>
            <a:off x="10053507" y="23813"/>
            <a:ext cx="2138493" cy="635214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" preserve="1" userDrawn="1">
  <p:cSld name="Заголовок и объек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/>
        <p:txBody>
          <a:bodyPr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 bwMode="auto"/>
        <p:txBody>
          <a:bodyPr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secHead" preserve="1" userDrawn="1">
  <p:cSld name="Заголовок раздела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 bwMode="auto"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woObj" preserve="1" userDrawn="1">
  <p:cSld name="Два объекта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/>
        <p:txBody>
          <a:bodyPr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 bwMode="auto">
          <a:xfrm>
            <a:off x="838200" y="1825625"/>
            <a:ext cx="5181600" cy="4351338"/>
          </a:xfrm>
        </p:spPr>
        <p:txBody>
          <a:bodyPr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 bwMode="auto">
          <a:xfrm>
            <a:off x="6172200" y="1825625"/>
            <a:ext cx="5181600" cy="4351338"/>
          </a:xfrm>
        </p:spPr>
        <p:txBody>
          <a:bodyPr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woTxTwoObj" preserve="1" userDrawn="1">
  <p:cSld name="Сравнение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9788" y="365125"/>
            <a:ext cx="10515600" cy="1325563"/>
          </a:xfrm>
        </p:spPr>
        <p:txBody>
          <a:bodyPr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 bwMode="auto"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 bwMode="auto">
          <a:xfrm>
            <a:off x="839788" y="2505074"/>
            <a:ext cx="5157787" cy="3684588"/>
          </a:xfrm>
        </p:spPr>
        <p:txBody>
          <a:bodyPr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 bwMode="auto"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 bwMode="auto">
          <a:xfrm>
            <a:off x="6172200" y="2505074"/>
            <a:ext cx="5183188" cy="3684588"/>
          </a:xfrm>
        </p:spPr>
        <p:txBody>
          <a:bodyPr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itleOnly" preserve="1" userDrawn="1">
  <p:cSld name="Только заголовок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/>
        <p:txBody>
          <a:bodyPr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blank" preserve="1" userDrawn="1">
  <p:cSld name="Пустой слайд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Tx" preserve="1" userDrawn="1">
  <p:cSld name="Объект с подписью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 bwMode="auto"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 bwMode="auto"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picTx" preserve="1" userDrawn="1">
  <p:cSld name="Рисунок с подписью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 bwMode="auto"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>
              <a:defRPr/>
            </a:pP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 bwMode="auto"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vertTx" preserve="1" userDrawn="1">
  <p:cSld name="Заголовок и вертикальный текс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/>
        <p:txBody>
          <a:bodyPr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 bwMode="auto"/>
        <p:txBody>
          <a:bodyPr vert="eaVert"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vertTitleAndTx" preserve="1" userDrawn="1">
  <p:cSld name="Вертикальный заголовок и текс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 bwMode="auto">
          <a:xfrm>
            <a:off x="8724900" y="365125"/>
            <a:ext cx="2628900" cy="5811838"/>
          </a:xfrm>
        </p:spPr>
        <p:txBody>
          <a:bodyPr vert="eaVert"/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 bwMode="auto">
          <a:xfrm>
            <a:off x="838200" y="365125"/>
            <a:ext cx="7734300" cy="5811838"/>
          </a:xfrm>
        </p:spPr>
        <p:txBody>
          <a:bodyPr vert="eaVert"/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1_Титульный слайд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 bwMode="auto">
          <a:xfrm>
            <a:off x="1305588" y="568836"/>
            <a:ext cx="7159125" cy="2126118"/>
          </a:xfrm>
        </p:spPr>
        <p:txBody>
          <a:bodyPr anchor="ctr">
            <a:normAutofit/>
          </a:bodyPr>
          <a:lstStyle>
            <a:lvl1pPr algn="l">
              <a:defRPr sz="5500">
                <a:solidFill>
                  <a:schemeClr val="bg1"/>
                </a:solidFill>
              </a:defRPr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 bwMode="auto">
          <a:xfrm>
            <a:off x="1305588" y="2971800"/>
            <a:ext cx="7159125" cy="1053548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bg1"/>
                </a:solidFill>
                <a:latin typeface="5ka Sans Design SemiBold"/>
                <a:ea typeface="5ka Sans Design SemiBold"/>
                <a:cs typeface="5ka Sans Design SemiBold"/>
              </a:defRPr>
            </a:lvl1pPr>
            <a:lvl2pPr marL="457177" indent="0" algn="ctr">
              <a:buNone/>
              <a:defRPr sz="2000"/>
            </a:lvl2pPr>
            <a:lvl3pPr marL="914355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3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7" indent="0" algn="ctr">
              <a:buNone/>
              <a:defRPr sz="1600"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>
              <a:defRPr/>
            </a:pPr>
            <a:fld id="{A64E51BE-5848-534A-8887-EF0F07B863D6}" type="datetimeFigureOut">
              <a:rPr lang="ru-RU"/>
              <a:t>30.06.2026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>
              <a:defRPr/>
            </a:pPr>
            <a:fld id="{F6023805-26E7-6A49-9A29-56AA77AF9CE5}" type="slidenum">
              <a:rPr lang="ru-RU"/>
              <a:t>‹#›</a:t>
            </a:fld>
            <a:endParaRPr lang="ru-RU"/>
          </a:p>
        </p:txBody>
      </p:sp>
      <p:sp>
        <p:nvSpPr>
          <p:cNvPr id="9" name="Объект 8"/>
          <p:cNvSpPr>
            <a:spLocks noGrp="1"/>
          </p:cNvSpPr>
          <p:nvPr>
            <p:ph sz="quarter" idx="13" hasCustomPrompt="1"/>
          </p:nvPr>
        </p:nvSpPr>
        <p:spPr bwMode="auto">
          <a:xfrm>
            <a:off x="1305588" y="4860269"/>
            <a:ext cx="3078363" cy="954087"/>
          </a:xfrm>
        </p:spPr>
        <p:txBody>
          <a:bodyPr/>
          <a:lstStyle>
            <a:lvl1pPr marR="4022" indent="6350" algn="l" defTabSz="724012">
              <a:spcBef>
                <a:spcPts val="0"/>
              </a:spcBef>
              <a:defRPr sz="4400" spc="-36">
                <a:solidFill>
                  <a:srgbClr val="FFFFFF"/>
                </a:solidFill>
                <a:latin typeface="5ka Sans Design Regular"/>
                <a:ea typeface="5ka Sans Design Regular"/>
                <a:cs typeface="5ka Sans Design Regular"/>
              </a:defRPr>
            </a:lvl1pPr>
          </a:lstStyle>
          <a:p>
            <a:pPr marR="8044" indent="12700" algn="l" defTabSz="1448022">
              <a:defRPr sz="4400" spc="-36">
                <a:solidFill>
                  <a:srgbClr val="FFFFFF"/>
                </a:solidFill>
                <a:latin typeface="5ka Sans Design Black"/>
                <a:ea typeface="5ka Sans Design Black"/>
                <a:cs typeface="5ka Sans Design Black"/>
              </a:defRPr>
            </a:pPr>
            <a:r>
              <a:rPr lang="ru-RU"/>
              <a:t>Имя спикера</a:t>
            </a:r>
            <a:endParaRPr/>
          </a:p>
          <a:p>
            <a:pPr marR="8044" indent="12700" algn="l" defTabSz="1448022">
              <a:defRPr sz="4400" spc="-36">
                <a:solidFill>
                  <a:srgbClr val="FFFFFF"/>
                </a:solidFill>
                <a:latin typeface="5ka Sans Design Regular"/>
                <a:ea typeface="5ka Sans Design Regular"/>
                <a:cs typeface="5ka Sans Design Regular"/>
              </a:defRPr>
            </a:pPr>
            <a:r>
              <a:rPr lang="ru-RU"/>
              <a:t>Должность, дата</a:t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Текст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>
              <a:defRPr/>
            </a:pPr>
            <a:r>
              <a:rPr lang="ru-RU"/>
              <a:t>Образец текста</a:t>
            </a:r>
            <a:endParaRPr/>
          </a:p>
          <a:p>
            <a:pPr lvl="1">
              <a:defRPr/>
            </a:pPr>
            <a:r>
              <a:rPr lang="ru-RU"/>
              <a:t>Второй уровень</a:t>
            </a:r>
            <a:endParaRPr/>
          </a:p>
          <a:p>
            <a:pPr lvl="2">
              <a:defRPr/>
            </a:pPr>
            <a:r>
              <a:rPr lang="ru-RU"/>
              <a:t>Третий уровень</a:t>
            </a:r>
            <a:endParaRPr/>
          </a:p>
          <a:p>
            <a:pPr lvl="3">
              <a:defRPr/>
            </a:pPr>
            <a:r>
              <a:rPr lang="ru-RU"/>
              <a:t>Четвертый уровень</a:t>
            </a:r>
            <a:endParaRPr/>
          </a:p>
          <a:p>
            <a:pPr lvl="4">
              <a:defRPr/>
            </a:pPr>
            <a:r>
              <a:rPr lang="ru-RU"/>
              <a:t>Пятый уровень</a:t>
            </a:r>
            <a:endParaRPr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 bwMode="auto"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pPr>
              <a:defRPr/>
            </a:pPr>
            <a:fld id="{E91100FA-02E1-44A1-AB10-0E67E1456B09}" type="datetimeFigureOut">
              <a:rPr lang="ru-RU"/>
              <a:t>30.06.2026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 bwMode="auto"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 bwMode="auto"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pPr>
              <a:defRPr/>
            </a:pPr>
            <a:fld id="{ADB16772-D5B6-4B48-A3AD-E958E684E69A}" type="slidenum">
              <a:rPr lang="ru-RU"/>
              <a:t>‹#›</a:t>
            </a:fld>
            <a:endParaRPr lang="ru-RU"/>
          </a:p>
        </p:txBody>
      </p:sp>
      <p:pic>
        <p:nvPicPr>
          <p:cNvPr id="4100" name="Picture 4" descr="Picture background"/>
          <p:cNvPicPr>
            <a:picLocks noChangeAspect="1" noChangeArrowheads="1"/>
          </p:cNvPicPr>
          <p:nvPr userDrawn="1"/>
        </p:nvPicPr>
        <p:blipFill>
          <a:blip r:embed="rId14"/>
          <a:stretch/>
        </p:blipFill>
        <p:spPr bwMode="auto">
          <a:xfrm>
            <a:off x="10881153" y="230188"/>
            <a:ext cx="945293" cy="651063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>
        <a:lnSpc>
          <a:spcPct val="90000"/>
        </a:lnSpc>
        <a:spcBef>
          <a:spcPts val="1000"/>
        </a:spcBef>
        <a:buFont typeface="Arial"/>
        <a:buChar char="•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>
        <a:lnSpc>
          <a:spcPct val="90000"/>
        </a:lnSpc>
        <a:spcBef>
          <a:spcPts val="500"/>
        </a:spcBef>
        <a:buFont typeface="Arial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chart" Target="../charts/chart17.xml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4.xml"/><Relationship Id="rId4" Type="http://schemas.openxmlformats.org/officeDocument/2006/relationships/chart" Target="../charts/chart2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8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chart" Target="../charts/chart31.xml"/><Relationship Id="rId7" Type="http://schemas.openxmlformats.org/officeDocument/2006/relationships/chart" Target="../charts/chart3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chart" Target="../charts/chart3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6.xml"/><Relationship Id="rId4" Type="http://schemas.openxmlformats.org/officeDocument/2006/relationships/chart" Target="../charts/chart3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chart" Target="../charts/chart3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chart" Target="../charts/chart41.xml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chart" Target="../charts/chart43.xml"/><Relationship Id="rId4" Type="http://schemas.openxmlformats.org/officeDocument/2006/relationships/chart" Target="../charts/chart4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 bwMode="auto"/>
        <p:txBody>
          <a:bodyPr/>
          <a:lstStyle/>
          <a:p>
            <a:pPr>
              <a:defRPr/>
            </a:pPr>
            <a:r>
              <a:rPr lang="ru-RU" dirty="0">
                <a:solidFill>
                  <a:schemeClr val="bg1"/>
                </a:solidFill>
              </a:rPr>
              <a:t>ОПЕРКОМ</a:t>
            </a:r>
            <a:endParaRPr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dirty="0"/>
              <a:t>{</a:t>
            </a:r>
            <a:r>
              <a:rPr lang="en-GB" dirty="0" err="1"/>
              <a:t>current_month</a:t>
            </a:r>
            <a:r>
              <a:rPr lang="en-GB" dirty="0"/>
              <a:t>}</a:t>
            </a:r>
            <a:endParaRPr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586631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ru-RU" sz="2400" dirty="0"/>
              <a:t>Кратко о базе данных для подготовки отчета</a:t>
            </a:r>
            <a:endParaRPr dirty="0"/>
          </a:p>
        </p:txBody>
      </p:sp>
      <p:sp>
        <p:nvSpPr>
          <p:cNvPr id="4" name="Текст 1"/>
          <p:cNvSpPr txBox="1"/>
          <p:nvPr/>
        </p:nvSpPr>
        <p:spPr bwMode="auto">
          <a:xfrm>
            <a:off x="195590" y="6356087"/>
            <a:ext cx="10024900" cy="501913"/>
          </a:xfrm>
          <a:prstGeom prst="rect">
            <a:avLst/>
          </a:prstGeom>
        </p:spPr>
        <p:txBody>
          <a:bodyPr/>
          <a:lstStyle>
            <a:lvl1pPr marL="228600" indent="-228600" algn="l" defTabSz="914400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Источник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: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Mediascope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, ТВ, OOH,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Диджитал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,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Радио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,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Пресса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, янв’25 - май’26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Эстимация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агентства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,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реклама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брендодв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включает</a:t>
            </a:r>
            <a:r>
              <a:rPr kumimoji="0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 КООП </a:t>
            </a:r>
            <a:r>
              <a:rPr kumimoji="0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рекламу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  <a:p>
            <a:pPr marL="228600" marR="0" lvl="0" indent="-22860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ru-RU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Бренд Монетка размещался очень небольшими объемами и весами. Чтобы не искажать средне-категорийную картину, при анализе убирали в Другие или исключали из рассмотрения. В случае интереса к бренду, лучше проводить отдельный анализ 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5" name="TextBox 4"/>
          <p:cNvSpPr txBox="1"/>
          <p:nvPr/>
        </p:nvSpPr>
        <p:spPr bwMode="auto">
          <a:xfrm>
            <a:off x="526502" y="997444"/>
            <a:ext cx="11208074" cy="24018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Aptos"/>
                <a:cs typeface="Arial"/>
              </a:rPr>
              <a:t>Анализ рекламной активности конкурентов Х5 групп подготовлен с учетом следующих вводных данных: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  <a:p>
            <a:pPr marL="0" marR="0" lvl="0" indent="-34290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Aptos"/>
                <a:cs typeface="Arial"/>
              </a:rPr>
              <a:t>Месяц отчета указывает на месяц, по который есть данные в базе мониторинга ТВ эфира (рейтинги). Данные по остальным медиа запаздывают на 1 месяц. Поэтому по остальным медиа каналам данные только по период на месяц ранее. </a:t>
            </a:r>
          </a:p>
          <a:p>
            <a:pPr marL="0" marR="0" lvl="0" indent="-34290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Aptos"/>
                <a:cs typeface="Arial"/>
              </a:rPr>
              <a:t>Анализ готовим для трех направлений: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Light"/>
                <a:cs typeface="Arial"/>
              </a:rPr>
              <a:t>Food Retail , в рамках которого смотрим рекламу с продвижением магазинов, включая смешанную рекламу, продвигающую магазины и также включающую инфо о доставке,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Aptos"/>
                <a:cs typeface="Arial"/>
              </a:rPr>
              <a:t>отдельно рассматриваем сегмент БЕЗ Доставки и сегмент Доставки – где продвигается именно Доставка торговой сети.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  <a:p>
            <a:pPr marL="0" marR="0" lvl="0" indent="-34290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Aptos"/>
                <a:cs typeface="Arial"/>
              </a:rPr>
              <a:t>Список брендов, которые включаем в анализ: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  <a:p>
            <a:pPr marL="0" marR="0" lvl="0" indent="-34290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0E2841"/>
              </a:solidFill>
              <a:effectLst/>
              <a:uLnTx/>
              <a:uFillTx/>
              <a:latin typeface="Aptos"/>
              <a:cs typeface="Arial"/>
            </a:endParaRPr>
          </a:p>
          <a:p>
            <a:pPr marL="342900" marR="0" lvl="0" indent="-34290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0E2841"/>
              </a:solidFill>
              <a:effectLst/>
              <a:uLnTx/>
              <a:uFillTx/>
              <a:latin typeface="Muller Narrow Light"/>
              <a:ea typeface="Roboto Flex Normal Light"/>
              <a:cs typeface="Arial"/>
            </a:endParaRPr>
          </a:p>
        </p:txBody>
      </p:sp>
      <p:sp>
        <p:nvSpPr>
          <p:cNvPr id="10" name="TextBox 9"/>
          <p:cNvSpPr txBox="1"/>
          <p:nvPr/>
        </p:nvSpPr>
        <p:spPr bwMode="auto">
          <a:xfrm>
            <a:off x="4090503" y="2848610"/>
            <a:ext cx="7416299" cy="25151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 panose="02000000000000000000" pitchFamily="2" charset="0"/>
                <a:cs typeface="Arial"/>
              </a:rPr>
              <a:t>Подход Агентства к оценке рекламных расходов конкурентов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 panose="02000000000000000000" pitchFamily="2" charset="0"/>
                <a:cs typeface="Arial"/>
              </a:rPr>
              <a:t>: </a:t>
            </a:r>
          </a:p>
          <a:p>
            <a:pPr marL="285750" marR="0" lvl="0" indent="-28575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С января 2026 года пересчитаны бюджеты предыдущих периодов с 2024 года по дифференцированной системе скидок на основании оценок бюджетов и объемных скидок, рассчитанных, исходя из ценовой политики медиа операторов и экспертизы агентства. Отчеты стали более точными с точки зрения оценки бюджетов. </a:t>
            </a:r>
          </a:p>
          <a:p>
            <a:pPr marL="285750" marR="0" lvl="0" indent="-28575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С января 2025 года в ТВ смотрении учтены данные по внедомашнему ТВ смотрению (проект запущен в полном объеме компанией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Медиаскоп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 только с января 2025).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uller Narrow ExtraBold" panose="00000900000000000000"/>
              <a:cs typeface="Arial"/>
            </a:endParaRPr>
          </a:p>
          <a:p>
            <a:pPr marL="285750" marR="0" lvl="0" indent="-28575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Расходы в ООН оцениваются по традиционному мониторингу: ООН конструкции отсматриваются раз в месяц, отслеживается до 10 макетов на конструкции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uller Narrow ExtraBold" panose="00000900000000000000"/>
              <a:cs typeface="Arial"/>
            </a:endParaRPr>
          </a:p>
          <a:p>
            <a:pPr marL="285750" marR="0" lvl="0" indent="-285750" algn="l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Расходы в интернете оцениваются на базе данных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Медиаскоп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 (OLV), оценочно с учетом данных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SimilarWeb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ExtraBold" panose="00000900000000000000"/>
                <a:ea typeface="Roboto Flex Normal Light"/>
                <a:cs typeface="Arial"/>
              </a:rPr>
              <a:t> 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uller Narrow ExtraBold" panose="00000900000000000000"/>
              <a:cs typeface="Arial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112244D-C0E3-774D-04CF-29ABC8C9DAB7}"/>
              </a:ext>
            </a:extLst>
          </p:cNvPr>
          <p:cNvSpPr txBox="1"/>
          <p:nvPr/>
        </p:nvSpPr>
        <p:spPr bwMode="auto">
          <a:xfrm>
            <a:off x="2434423" y="5300592"/>
            <a:ext cx="8928698" cy="1079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Light"/>
                <a:cs typeface="Arial"/>
              </a:rPr>
              <a:t>Оценка топ рекламодателей и объемов рекламного рынка проводится с учетом методологии АКАР для оценки ТОП рекламодателей: интернет бюджет рассчитывается через коэффициент от оффлайн бюджета для большей части категорий, и через коэффициенты от медиа онлайн рекламы для других категорий. </a:t>
            </a:r>
          </a:p>
          <a:p>
            <a:pPr marL="285750" marR="0" lvl="0" indent="-28575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E2841"/>
                </a:solidFill>
                <a:effectLst/>
                <a:uLnTx/>
                <a:uFillTx/>
                <a:latin typeface="Muller Narrow Light"/>
                <a:cs typeface="Arial"/>
              </a:rPr>
              <a:t>В апреле 2026 года коэффициенты за 2025 год и на 2026 год были пересчитаны в соответствии с обновлением данных от АКАР (переоценка рекламного рынка за 2025 год)</a:t>
            </a:r>
          </a:p>
        </p:txBody>
      </p:sp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9EE878BC-4E26-CA47-D9D9-48E2F1E88CC6}"/>
              </a:ext>
            </a:extLst>
          </p:cNvPr>
          <p:cNvGraphicFramePr>
            <a:graphicFrameLocks noGrp="1"/>
          </p:cNvGraphicFramePr>
          <p:nvPr/>
        </p:nvGraphicFramePr>
        <p:xfrm>
          <a:off x="526502" y="2902165"/>
          <a:ext cx="1800138" cy="2743200"/>
        </p:xfrm>
        <a:graphic>
          <a:graphicData uri="http://schemas.openxmlformats.org/drawingml/2006/table">
            <a:tbl>
              <a:tblPr/>
              <a:tblGrid>
                <a:gridCol w="18001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latin typeface="Aptos Narrow"/>
                        </a:rPr>
                        <a:t>OPERCOM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6350" algn="ctr">
                      <a:solidFill>
                        <a:srgbClr val="000000"/>
                      </a:solidFill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Пятерочка</a:t>
                      </a:r>
                      <a:endParaRPr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Чижик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Перекресток 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О'Кей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Магнит (без косметик, и тд)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Дикси</a:t>
                      </a:r>
                      <a:endParaRPr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Spar/Eurospar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Лента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Монетка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METRO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GLOBUS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Ашан</a:t>
                      </a:r>
                      <a:endParaRPr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Азбука Вкуса</a:t>
                      </a:r>
                      <a:endParaRPr/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Вкусвилл</a:t>
                      </a:r>
                      <a:endParaRPr lang="ru-RU" sz="1100" b="0" i="0" u="none" strike="noStrike" dirty="0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ctr">
                    <a:lnL w="12700" algn="ctr">
                      <a:solidFill>
                        <a:srgbClr val="000000"/>
                      </a:solidFill>
                    </a:lnL>
                    <a:lnR w="6350" algn="ctr">
                      <a:solidFill>
                        <a:srgbClr val="000000"/>
                      </a:solidFill>
                    </a:lnR>
                    <a:lnT w="6350" algn="ctr">
                      <a:solidFill>
                        <a:srgbClr val="000000"/>
                      </a:solidFill>
                    </a:lnT>
                    <a:lnB w="6350" algn="ctr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A41C4C9-D8DA-9630-D121-65F418AA47D2}"/>
              </a:ext>
            </a:extLst>
          </p:cNvPr>
          <p:cNvGraphicFramePr>
            <a:graphicFrameLocks noGrp="1"/>
          </p:cNvGraphicFramePr>
          <p:nvPr/>
        </p:nvGraphicFramePr>
        <p:xfrm>
          <a:off x="2434423" y="2909234"/>
          <a:ext cx="1656080" cy="2060995"/>
        </p:xfrm>
        <a:graphic>
          <a:graphicData uri="http://schemas.openxmlformats.org/drawingml/2006/table">
            <a:tbl>
              <a:tblPr/>
              <a:tblGrid>
                <a:gridCol w="1656080">
                  <a:extLst>
                    <a:ext uri="{9D8B030D-6E8A-4147-A177-3AD203B41FA5}">
                      <a16:colId xmlns:a16="http://schemas.microsoft.com/office/drawing/2014/main" val="4016507728"/>
                    </a:ext>
                  </a:extLst>
                </a:gridCol>
              </a:tblGrid>
              <a:tr h="216955">
                <a:tc>
                  <a:txBody>
                    <a:bodyPr/>
                    <a:lstStyle/>
                    <a:p>
                      <a:pPr algn="l" fontAlgn="ctr"/>
                      <a:r>
                        <a:rPr lang="ru-RU" sz="11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Анализ Доставки (</a:t>
                      </a:r>
                      <a:r>
                        <a:rPr lang="en-US" sz="11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Digital)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521824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OZON FRESH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1777378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755317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484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ВКУСВИЛЛ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579357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ЛЕНТА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873223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МАГНИТ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750795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ПЕРЕКРЕСТОК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987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ПЯТЕРОЧКА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68169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САМОКАТ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838468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ЯНДЕКС.ЛАВКА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538489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 bwMode="auto"/>
        <p:txBody>
          <a:bodyPr anchor="ctr">
            <a:normAutofit/>
          </a:bodyPr>
          <a:lstStyle/>
          <a:p>
            <a:pPr>
              <a:defRPr/>
            </a:pPr>
            <a:r>
              <a:rPr lang="ru-RU"/>
              <a:t>1. Обзор рекламного рынка</a:t>
            </a:r>
            <a:br>
              <a:rPr lang="ru-RU"/>
            </a:br>
            <a:r>
              <a:rPr lang="ru-RU"/>
              <a:t>ТОП-20</a:t>
            </a:r>
            <a:endParaRPr/>
          </a:p>
        </p:txBody>
      </p:sp>
      <p:sp>
        <p:nvSpPr>
          <p:cNvPr id="8" name="Текст 7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{</a:t>
            </a:r>
            <a:r>
              <a:rPr lang="en-GB" b="1" dirty="0" err="1">
                <a:solidFill>
                  <a:schemeClr val="accent6">
                    <a:lumMod val="75000"/>
                  </a:schemeClr>
                </a:solidFill>
              </a:rPr>
              <a:t>current_month</a:t>
            </a: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}</a:t>
            </a:r>
            <a:endParaRPr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0" y="4039986"/>
            <a:ext cx="12192000" cy="15794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4176179"/>
            <a:ext cx="12192000" cy="15794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7" name="chart__market_top20_media_mix_ytd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82194916"/>
              </p:ext>
            </p:extLst>
          </p:nvPr>
        </p:nvGraphicFramePr>
        <p:xfrm>
          <a:off x="393241" y="3923660"/>
          <a:ext cx="7500858" cy="23813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__market_top20_invest_ytd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34867257"/>
              </p:ext>
            </p:extLst>
          </p:nvPr>
        </p:nvGraphicFramePr>
        <p:xfrm>
          <a:off x="182879" y="1213336"/>
          <a:ext cx="7863841" cy="24270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TextBox 15"/>
          <p:cNvSpPr txBox="1"/>
          <p:nvPr/>
        </p:nvSpPr>
        <p:spPr bwMode="auto">
          <a:xfrm>
            <a:off x="303573" y="1119355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ptos"/>
                <a:cs typeface="Arial"/>
              </a:rPr>
              <a:t>Млн.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ptos"/>
                <a:cs typeface="Arial"/>
              </a:rPr>
              <a:t>руб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9" name="TextBox 8"/>
          <p:cNvSpPr txBox="1"/>
          <p:nvPr/>
        </p:nvSpPr>
        <p:spPr bwMode="auto">
          <a:xfrm>
            <a:off x="2922806" y="3530171"/>
            <a:ext cx="381707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Медиа Микс (</a:t>
            </a:r>
            <a:r>
              <a:rPr kumimoji="0" lang="ru-RU" sz="12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руб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), </a:t>
            </a: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2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_</a:t>
            </a:r>
            <a:r>
              <a:rPr lang="en-US" sz="1200" b="1" dirty="0" err="1">
                <a:solidFill>
                  <a:prstClr val="black"/>
                </a:solidFill>
                <a:latin typeface="Aptos"/>
                <a:cs typeface="Arial"/>
              </a:rPr>
              <a:t>mmo_adex</a:t>
            </a: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7" name="Footer Placeholder 3"/>
          <p:cNvSpPr txBox="1"/>
          <p:nvPr/>
        </p:nvSpPr>
        <p:spPr bwMode="auto">
          <a:xfrm>
            <a:off x="8160306" y="1385906"/>
            <a:ext cx="3611684" cy="4691691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lvl1pPr algn="ctr" defTabSz="219063">
              <a:defRPr sz="1900">
                <a:latin typeface="+mn-lt"/>
                <a:ea typeface="+mn-ea"/>
                <a:cs typeface="+mn-cs"/>
              </a:defRPr>
            </a:lvl1pPr>
            <a:lvl2pPr indent="85721" algn="ctr" defTabSz="219063">
              <a:defRPr sz="1900">
                <a:latin typeface="+mn-lt"/>
                <a:ea typeface="+mn-ea"/>
                <a:cs typeface="+mn-cs"/>
              </a:defRPr>
            </a:lvl2pPr>
            <a:lvl3pPr indent="171442" algn="ctr" defTabSz="219063">
              <a:defRPr sz="1900">
                <a:latin typeface="+mn-lt"/>
                <a:ea typeface="+mn-ea"/>
                <a:cs typeface="+mn-cs"/>
              </a:defRPr>
            </a:lvl3pPr>
            <a:lvl4pPr indent="257163" algn="ctr" defTabSz="219063">
              <a:defRPr sz="1900">
                <a:latin typeface="+mn-lt"/>
                <a:ea typeface="+mn-ea"/>
                <a:cs typeface="+mn-cs"/>
              </a:defRPr>
            </a:lvl4pPr>
            <a:lvl5pPr indent="342882" algn="ctr" defTabSz="219063">
              <a:defRPr sz="1900">
                <a:latin typeface="+mn-lt"/>
                <a:ea typeface="+mn-ea"/>
                <a:cs typeface="+mn-cs"/>
              </a:defRPr>
            </a:lvl5pPr>
            <a:lvl6pPr indent="428603" algn="ctr" defTabSz="219063">
              <a:defRPr sz="1900">
                <a:latin typeface="+mn-lt"/>
                <a:ea typeface="+mn-ea"/>
                <a:cs typeface="+mn-cs"/>
              </a:defRPr>
            </a:lvl6pPr>
            <a:lvl7pPr indent="514324" algn="ctr" defTabSz="219063">
              <a:defRPr sz="1900">
                <a:latin typeface="+mn-lt"/>
                <a:ea typeface="+mn-ea"/>
                <a:cs typeface="+mn-cs"/>
              </a:defRPr>
            </a:lvl7pPr>
            <a:lvl8pPr indent="600045" algn="ctr" defTabSz="219063">
              <a:defRPr sz="1900">
                <a:latin typeface="+mn-lt"/>
                <a:ea typeface="+mn-ea"/>
                <a:cs typeface="+mn-cs"/>
              </a:defRPr>
            </a:lvl8pPr>
            <a:lvl9pPr indent="685766" algn="ctr" defTabSz="219063">
              <a:defRPr sz="1900"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rPr>
              <a:t>{text}</a:t>
            </a:r>
            <a:endParaRPr kumimoji="0" sz="1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678852" y="276999"/>
            <a:ext cx="9670493" cy="831908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  <a:defRPr/>
            </a:pPr>
            <a:r>
              <a:rPr lang="en-US" sz="2400" dirty="0"/>
              <a:t>{header}</a:t>
            </a:r>
            <a:endParaRPr dirty="0"/>
          </a:p>
        </p:txBody>
      </p:sp>
      <p:sp>
        <p:nvSpPr>
          <p:cNvPr id="4" name="TextBox 3"/>
          <p:cNvSpPr txBox="1"/>
          <p:nvPr/>
        </p:nvSpPr>
        <p:spPr bwMode="auto">
          <a:xfrm>
            <a:off x="182879" y="6473279"/>
            <a:ext cx="591312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Источник: </a:t>
            </a: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Mediascope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Мониторинг СМИ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Оффлайн медиа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ru-RU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Диджитал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en-GB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{</a:t>
            </a:r>
            <a:r>
              <a:rPr kumimoji="0" lang="en-GB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jan_current_month</a:t>
            </a:r>
            <a:r>
              <a:rPr lang="ru-RU" sz="900" dirty="0">
                <a:solidFill>
                  <a:prstClr val="black"/>
                </a:solidFill>
                <a:cs typeface="Arial"/>
              </a:rPr>
              <a:t>_</a:t>
            </a:r>
            <a:r>
              <a:rPr lang="en-US" sz="900" dirty="0" err="1">
                <a:solidFill>
                  <a:prstClr val="black"/>
                </a:solidFill>
                <a:cs typeface="Arial"/>
              </a:rPr>
              <a:t>mmo_adex</a:t>
            </a:r>
            <a:r>
              <a:rPr kumimoji="0" lang="en-GB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}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. </a:t>
            </a:r>
            <a:r>
              <a:rPr kumimoji="0" lang="ru-RU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Эстимация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 агентства; АКАР</a:t>
            </a:r>
            <a:endParaRPr kumimoji="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8" name="TextBox 7"/>
          <p:cNvSpPr txBox="1"/>
          <p:nvPr/>
        </p:nvSpPr>
        <p:spPr bwMode="auto">
          <a:xfrm>
            <a:off x="5896686" y="6401634"/>
            <a:ext cx="610108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Важно: информация о рекламе в интернете ограничена.  </a:t>
            </a:r>
            <a:r>
              <a:rPr lang="en-US" dirty="0" err="1"/>
              <a:t>CrossWeb</a:t>
            </a:r>
            <a:r>
              <a:rPr lang="ru-RU" dirty="0"/>
              <a:t> - Мониторинг видеорекламы. </a:t>
            </a:r>
            <a:r>
              <a:rPr lang="ru-RU" dirty="0" err="1"/>
              <a:t>Эстимация</a:t>
            </a:r>
            <a:r>
              <a:rPr lang="ru-RU" dirty="0"/>
              <a:t> агентства; </a:t>
            </a:r>
            <a:r>
              <a:rPr lang="en-US" dirty="0" err="1"/>
              <a:t>SimilarWeb</a:t>
            </a:r>
            <a:r>
              <a:rPr lang="en-US" dirty="0"/>
              <a:t>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ru-RU" dirty="0"/>
              <a:t>_</a:t>
            </a:r>
            <a:r>
              <a:rPr lang="en-US" dirty="0" err="1"/>
              <a:t>mmo_adex</a:t>
            </a:r>
            <a:r>
              <a:rPr lang="en-GB" dirty="0"/>
              <a:t>}</a:t>
            </a:r>
            <a:r>
              <a:rPr lang="en-US" dirty="0"/>
              <a:t>, </a:t>
            </a:r>
            <a:r>
              <a:rPr lang="en-US" dirty="0" err="1"/>
              <a:t>desktop&amp;mobile</a:t>
            </a:r>
            <a:r>
              <a:rPr lang="en-US" dirty="0"/>
              <a:t>,</a:t>
            </a:r>
            <a:r>
              <a:rPr lang="ru-RU" dirty="0"/>
              <a:t> </a:t>
            </a:r>
            <a:r>
              <a:rPr lang="ru-RU" dirty="0" err="1"/>
              <a:t>Эстимация</a:t>
            </a:r>
            <a:r>
              <a:rPr lang="ru-RU" dirty="0"/>
              <a:t> агентства</a:t>
            </a:r>
            <a:endParaRPr dirty="0"/>
          </a:p>
        </p:txBody>
      </p:sp>
      <p:sp>
        <p:nvSpPr>
          <p:cNvPr id="11" name="Прямоугольник 10"/>
          <p:cNvSpPr/>
          <p:nvPr/>
        </p:nvSpPr>
        <p:spPr bwMode="auto">
          <a:xfrm>
            <a:off x="-1" y="0"/>
            <a:ext cx="10792179" cy="276999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Рекламный рынок в целом, ТОП20 рекламодателей,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_</a:t>
            </a:r>
            <a:r>
              <a:rPr lang="en-US" sz="1600" dirty="0" err="1">
                <a:solidFill>
                  <a:srgbClr val="FFFF00"/>
                </a:solidFill>
                <a:latin typeface="Aptos"/>
                <a:cs typeface="Arial"/>
              </a:rPr>
              <a:t>mmo_adex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15" name="table__market_top20_invest_labels_ytd">
            <a:extLst>
              <a:ext uri="{FF2B5EF4-FFF2-40B4-BE49-F238E27FC236}">
                <a16:creationId xmlns:a16="http://schemas.microsoft.com/office/drawing/2014/main" id="{5829FE7A-DD89-7466-4689-3E2CEAC17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4025436"/>
              </p:ext>
            </p:extLst>
          </p:nvPr>
        </p:nvGraphicFramePr>
        <p:xfrm>
          <a:off x="801858" y="2533138"/>
          <a:ext cx="7143066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146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40146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5" name="chart__market_top20_media_mix_month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9842151"/>
              </p:ext>
            </p:extLst>
          </p:nvPr>
        </p:nvGraphicFramePr>
        <p:xfrm>
          <a:off x="239637" y="4083121"/>
          <a:ext cx="7603884" cy="22218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8" name="TextBox 17"/>
          <p:cNvSpPr txBox="1"/>
          <p:nvPr/>
        </p:nvSpPr>
        <p:spPr bwMode="auto">
          <a:xfrm>
            <a:off x="407115" y="6492875"/>
            <a:ext cx="1115956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</a:t>
            </a:r>
            <a:r>
              <a:rPr lang="en-US" dirty="0"/>
              <a:t>, </a:t>
            </a:r>
            <a:r>
              <a:rPr lang="ru-RU" dirty="0"/>
              <a:t>Оффлайн медиа</a:t>
            </a:r>
            <a:r>
              <a:rPr lang="en-US" dirty="0"/>
              <a:t>,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cur_month_mmo_adex</a:t>
            </a:r>
            <a:r>
              <a:rPr lang="en-GB" dirty="0"/>
              <a:t>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</a:t>
            </a:r>
            <a:endParaRPr dirty="0"/>
          </a:p>
        </p:txBody>
      </p:sp>
      <p:graphicFrame>
        <p:nvGraphicFramePr>
          <p:cNvPr id="3" name="chart__market_top20_invest_month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7943516"/>
              </p:ext>
            </p:extLst>
          </p:nvPr>
        </p:nvGraphicFramePr>
        <p:xfrm>
          <a:off x="-81280" y="1404621"/>
          <a:ext cx="7924800" cy="26658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TextBox 9"/>
          <p:cNvSpPr txBox="1"/>
          <p:nvPr/>
        </p:nvSpPr>
        <p:spPr bwMode="auto">
          <a:xfrm>
            <a:off x="117317" y="1364117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ptos"/>
                <a:cs typeface="Arial"/>
              </a:rPr>
              <a:t>Млн. руб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1" name="TextBox 10"/>
          <p:cNvSpPr txBox="1"/>
          <p:nvPr/>
        </p:nvSpPr>
        <p:spPr bwMode="auto">
          <a:xfrm>
            <a:off x="3122228" y="3762711"/>
            <a:ext cx="31550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Медиа Микс, </a:t>
            </a: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2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current_month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_</a:t>
            </a:r>
            <a:r>
              <a:rPr lang="en-US" sz="1200" b="1" dirty="0" err="1">
                <a:solidFill>
                  <a:prstClr val="black"/>
                </a:solidFill>
                <a:latin typeface="Aptos"/>
                <a:cs typeface="Arial"/>
              </a:rPr>
              <a:t>mmo_adex</a:t>
            </a: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2" name="TextBox 11"/>
          <p:cNvSpPr txBox="1"/>
          <p:nvPr/>
        </p:nvSpPr>
        <p:spPr bwMode="auto">
          <a:xfrm>
            <a:off x="11815" y="3723567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ptos"/>
                <a:cs typeface="Arial"/>
              </a:rPr>
              <a:t>Млн. </a:t>
            </a:r>
            <a:r>
              <a:rPr kumimoji="0" lang="ru-RU" sz="120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ptos"/>
                <a:cs typeface="Arial"/>
              </a:rPr>
              <a:t>руб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8" name="Footer Placeholder 3"/>
          <p:cNvSpPr txBox="1"/>
          <p:nvPr/>
        </p:nvSpPr>
        <p:spPr bwMode="auto">
          <a:xfrm>
            <a:off x="8042117" y="1554480"/>
            <a:ext cx="3637265" cy="4871258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sp>
        <p:nvSpPr>
          <p:cNvPr id="13" name="Заголовок 12"/>
          <p:cNvSpPr>
            <a:spLocks noGrp="1"/>
          </p:cNvSpPr>
          <p:nvPr>
            <p:ph type="title"/>
          </p:nvPr>
        </p:nvSpPr>
        <p:spPr bwMode="auto">
          <a:xfrm>
            <a:off x="239636" y="368747"/>
            <a:ext cx="10899235" cy="903622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2" name="Прямоугольник 1"/>
          <p:cNvSpPr/>
          <p:nvPr/>
        </p:nvSpPr>
        <p:spPr bwMode="auto">
          <a:xfrm>
            <a:off x="-1" y="0"/>
            <a:ext cx="10803468" cy="276999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Рекламный рынок в целом, ТОП20 рекламодателей, </a:t>
            </a:r>
            <a:r>
              <a:rPr lang="en-GB" sz="1600" dirty="0">
                <a:solidFill>
                  <a:srgbClr val="FFFF00"/>
                </a:solidFill>
                <a:latin typeface="Aptos"/>
                <a:cs typeface="Arial"/>
              </a:rPr>
              <a:t>{</a:t>
            </a:r>
            <a:r>
              <a:rPr lang="en-GB" sz="1600" dirty="0" err="1">
                <a:solidFill>
                  <a:srgbClr val="FFFF00"/>
                </a:solidFill>
                <a:latin typeface="Aptos"/>
                <a:cs typeface="Arial"/>
              </a:rPr>
              <a:t>current_month</a:t>
            </a:r>
            <a:r>
              <a:rPr lang="ru-RU" sz="1600" dirty="0">
                <a:solidFill>
                  <a:srgbClr val="FFFF00"/>
                </a:solidFill>
                <a:latin typeface="Aptos"/>
                <a:cs typeface="Arial"/>
              </a:rPr>
              <a:t>_</a:t>
            </a:r>
            <a:r>
              <a:rPr lang="en-US" sz="1600" dirty="0" err="1">
                <a:solidFill>
                  <a:srgbClr val="FFFF00"/>
                </a:solidFill>
                <a:latin typeface="Aptos"/>
                <a:cs typeface="Arial"/>
              </a:rPr>
              <a:t>mmo_adex</a:t>
            </a:r>
            <a:r>
              <a:rPr lang="en-GB" sz="1600" dirty="0">
                <a:solidFill>
                  <a:srgbClr val="FFFF00"/>
                </a:solidFill>
                <a:latin typeface="Aptos"/>
                <a:cs typeface="Arial"/>
              </a:rPr>
              <a:t>}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7" name="table__market_top20_invest_labels_month">
            <a:extLst>
              <a:ext uri="{FF2B5EF4-FFF2-40B4-BE49-F238E27FC236}">
                <a16:creationId xmlns:a16="http://schemas.microsoft.com/office/drawing/2014/main" id="{E4B83C05-F1A5-4BC2-30F6-5AE374C7A8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127260"/>
              </p:ext>
            </p:extLst>
          </p:nvPr>
        </p:nvGraphicFramePr>
        <p:xfrm>
          <a:off x="660398" y="2955060"/>
          <a:ext cx="7183120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156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59156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  <p:graphicFrame>
        <p:nvGraphicFramePr>
          <p:cNvPr id="14" name="table__market_top20_media_mix_labels_month">
            <a:extLst>
              <a:ext uri="{FF2B5EF4-FFF2-40B4-BE49-F238E27FC236}">
                <a16:creationId xmlns:a16="http://schemas.microsoft.com/office/drawing/2014/main" id="{7DD3212C-409C-A8ED-23F0-9DCE8BF2B7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7317166"/>
              </p:ext>
            </p:extLst>
          </p:nvPr>
        </p:nvGraphicFramePr>
        <p:xfrm>
          <a:off x="871648" y="4465404"/>
          <a:ext cx="7073283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82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5" name="chart__nat_tv_top_brands_ytd">
            <a:extLst>
              <a:ext uri="{FF2B5EF4-FFF2-40B4-BE49-F238E27FC236}">
                <a16:creationId xmlns:a16="http://schemas.microsoft.com/office/drawing/2014/main" id="{B45CEE32-3868-2D56-FAAF-A8647ED3C39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7981319"/>
              </p:ext>
            </p:extLst>
          </p:nvPr>
        </p:nvGraphicFramePr>
        <p:xfrm>
          <a:off x="37616" y="1289254"/>
          <a:ext cx="8059549" cy="49083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TextBox 29"/>
          <p:cNvSpPr txBox="1"/>
          <p:nvPr/>
        </p:nvSpPr>
        <p:spPr bwMode="auto">
          <a:xfrm>
            <a:off x="8490923" y="1760125"/>
            <a:ext cx="3663461" cy="5165517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sp>
        <p:nvSpPr>
          <p:cNvPr id="7" name="Заголовок 6"/>
          <p:cNvSpPr>
            <a:spLocks noGrp="1"/>
          </p:cNvSpPr>
          <p:nvPr>
            <p:ph type="title"/>
          </p:nvPr>
        </p:nvSpPr>
        <p:spPr bwMode="auto">
          <a:xfrm>
            <a:off x="513077" y="438819"/>
            <a:ext cx="10287195" cy="98177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0" name="Footer Placeholder 3"/>
          <p:cNvSpPr txBox="1"/>
          <p:nvPr/>
        </p:nvSpPr>
        <p:spPr bwMode="auto">
          <a:xfrm>
            <a:off x="279353" y="6492873"/>
            <a:ext cx="11644422" cy="372443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lvl1pPr algn="ctr" defTabSz="219063">
              <a:defRPr sz="1900">
                <a:latin typeface="+mn-lt"/>
                <a:ea typeface="+mn-ea"/>
                <a:cs typeface="+mn-cs"/>
              </a:defRPr>
            </a:lvl1pPr>
            <a:lvl2pPr indent="85721" algn="ctr" defTabSz="219063">
              <a:defRPr sz="1900">
                <a:latin typeface="+mn-lt"/>
                <a:ea typeface="+mn-ea"/>
                <a:cs typeface="+mn-cs"/>
              </a:defRPr>
            </a:lvl2pPr>
            <a:lvl3pPr indent="171442" algn="ctr" defTabSz="219063">
              <a:defRPr sz="1900">
                <a:latin typeface="+mn-lt"/>
                <a:ea typeface="+mn-ea"/>
                <a:cs typeface="+mn-cs"/>
              </a:defRPr>
            </a:lvl3pPr>
            <a:lvl4pPr indent="257163" algn="ctr" defTabSz="219063">
              <a:defRPr sz="1900">
                <a:latin typeface="+mn-lt"/>
                <a:ea typeface="+mn-ea"/>
                <a:cs typeface="+mn-cs"/>
              </a:defRPr>
            </a:lvl4pPr>
            <a:lvl5pPr indent="342882" algn="ctr" defTabSz="219063">
              <a:defRPr sz="1900">
                <a:latin typeface="+mn-lt"/>
                <a:ea typeface="+mn-ea"/>
                <a:cs typeface="+mn-cs"/>
              </a:defRPr>
            </a:lvl5pPr>
            <a:lvl6pPr indent="428603" algn="ctr" defTabSz="219063">
              <a:defRPr sz="1900">
                <a:latin typeface="+mn-lt"/>
                <a:ea typeface="+mn-ea"/>
                <a:cs typeface="+mn-cs"/>
              </a:defRPr>
            </a:lvl6pPr>
            <a:lvl7pPr indent="514324" algn="ctr" defTabSz="219063">
              <a:defRPr sz="1900">
                <a:latin typeface="+mn-lt"/>
                <a:ea typeface="+mn-ea"/>
                <a:cs typeface="+mn-cs"/>
              </a:defRPr>
            </a:lvl7pPr>
            <a:lvl8pPr indent="600045" algn="ctr" defTabSz="219063">
              <a:defRPr sz="1900">
                <a:latin typeface="+mn-lt"/>
                <a:ea typeface="+mn-ea"/>
                <a:cs typeface="+mn-cs"/>
              </a:defRPr>
            </a:lvl8pPr>
            <a:lvl9pPr indent="685766" algn="ctr" defTabSz="219063">
              <a:defRPr sz="1900">
                <a:latin typeface="+mn-lt"/>
                <a:ea typeface="+mn-ea"/>
                <a:cs typeface="+mn-cs"/>
              </a:defRPr>
            </a:lvl9pPr>
          </a:lstStyle>
          <a:p>
            <a:pPr algn="l" defTabSz="1218986">
              <a:defRPr/>
            </a:pP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*Источник</a:t>
            </a:r>
            <a:r>
              <a:rPr lang="en-US" sz="900" dirty="0">
                <a:solidFill>
                  <a:srgbClr val="000000"/>
                </a:solidFill>
                <a:ea typeface="5ka Sans Design"/>
                <a:cs typeface="5ka Sans Design"/>
              </a:rPr>
              <a:t>: </a:t>
            </a:r>
            <a:r>
              <a:rPr lang="en-US" sz="900" dirty="0" err="1">
                <a:solidFill>
                  <a:srgbClr val="000000"/>
                </a:solidFill>
                <a:ea typeface="5ka Sans Design"/>
                <a:cs typeface="5ka Sans Design"/>
              </a:rPr>
              <a:t>Mediascope</a:t>
            </a:r>
            <a:r>
              <a:rPr lang="en-US" sz="900" dirty="0">
                <a:solidFill>
                  <a:srgbClr val="000000"/>
                </a:solidFill>
                <a:ea typeface="5ka Sans Design"/>
                <a:cs typeface="5ka Sans Design"/>
              </a:rPr>
              <a:t>, TRP’s all 18+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, 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{</a:t>
            </a:r>
            <a:r>
              <a:rPr lang="en-GB" sz="900" dirty="0" err="1">
                <a:solidFill>
                  <a:srgbClr val="000000"/>
                </a:solidFill>
                <a:ea typeface="5ka Sans Design"/>
                <a:cs typeface="5ka Sans Design"/>
              </a:rPr>
              <a:t>jan_ly_month_mmo_rtg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}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,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 {</a:t>
            </a:r>
            <a:r>
              <a:rPr lang="en-GB" sz="900" dirty="0" err="1">
                <a:solidFill>
                  <a:srgbClr val="000000"/>
                </a:solidFill>
                <a:ea typeface="5ka Sans Design"/>
                <a:cs typeface="5ka Sans Design"/>
              </a:rPr>
              <a:t>jan_current_month_mmo_rtg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}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;</a:t>
            </a:r>
            <a:r>
              <a:rPr lang="en-US" sz="900" dirty="0">
                <a:solidFill>
                  <a:srgbClr val="000000"/>
                </a:solidFill>
                <a:ea typeface="5ka Sans Design"/>
                <a:cs typeface="5ka Sans Design"/>
              </a:rPr>
              <a:t>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Нац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ТВ </a:t>
            </a:r>
            <a:r>
              <a:rPr lang="en-US" sz="900" dirty="0">
                <a:solidFill>
                  <a:srgbClr val="000000"/>
                </a:solidFill>
                <a:ea typeface="5ka Sans Design"/>
                <a:cs typeface="5ka Sans Design"/>
              </a:rPr>
              <a:t>+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ТВ Спонсорство, База Россия 0+, без учета внедомашнего телесмотрения, в медиа весах Брендов учтены кампании в поддержку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кооп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, рекрутинга, доставка, программы лояльности – все, что относится к бренду</a:t>
            </a:r>
            <a:endParaRPr sz="1800" dirty="0"/>
          </a:p>
        </p:txBody>
      </p:sp>
      <p:sp>
        <p:nvSpPr>
          <p:cNvPr id="2" name="Прямоугольник 1"/>
          <p:cNvSpPr/>
          <p:nvPr/>
        </p:nvSpPr>
        <p:spPr bwMode="auto">
          <a:xfrm>
            <a:off x="-1" y="1"/>
            <a:ext cx="10891988" cy="248356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ru-RU" sz="1600" dirty="0"/>
              <a:t>Рекламный рынок в целом, Топ 20 брендов, Нац. ТВ.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jan_current_month_mmo_rtg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dirty="0"/>
          </a:p>
        </p:txBody>
      </p:sp>
      <p:graphicFrame>
        <p:nvGraphicFramePr>
          <p:cNvPr id="6" name="table__nat_tv_summary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390803"/>
              </p:ext>
            </p:extLst>
          </p:nvPr>
        </p:nvGraphicFramePr>
        <p:xfrm>
          <a:off x="5830244" y="2148478"/>
          <a:ext cx="2463800" cy="1059180"/>
        </p:xfrm>
        <a:graphic>
          <a:graphicData uri="http://schemas.openxmlformats.org/drawingml/2006/table">
            <a:tbl>
              <a:tblPr/>
              <a:tblGrid>
                <a:gridCol w="1066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85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4232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TRP All 18+ </a:t>
                      </a:r>
                      <a:endParaRPr dirty="0"/>
                    </a:p>
                  </a:txBody>
                  <a:tcPr marL="7620" marR="7620" marT="7620" marB="0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solidFill>
                      <a:srgbClr val="D8E4B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{</a:t>
                      </a:r>
                      <a:r>
                        <a:rPr lang="en-GB" sz="11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jan_ly_month_mmo_rtg</a:t>
                      </a:r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}</a:t>
                      </a:r>
                      <a:endParaRPr lang="ru-RU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4B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{</a:t>
                      </a:r>
                      <a:r>
                        <a:rPr lang="en-GB" sz="11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jan_current_month_mmo_rtg</a:t>
                      </a:r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}</a:t>
                      </a:r>
                      <a:endParaRPr lang="ru-RU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4B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ПЯТЕРОЧКА</a:t>
                      </a:r>
                      <a:endParaRPr dirty="0"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ПЕРЕКРЕСТОК</a:t>
                      </a:r>
                      <a:endParaRPr dirty="0"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ЧИЖИК</a:t>
                      </a:r>
                      <a:endParaRPr dirty="0"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032593"/>
                  </a:ext>
                </a:extLst>
              </a:tr>
            </a:tbl>
          </a:graphicData>
        </a:graphic>
      </p:graphicFrame>
      <p:graphicFrame>
        <p:nvGraphicFramePr>
          <p:cNvPr id="8" name="table__nat_tv_top_brands_labels_ytd">
            <a:extLst>
              <a:ext uri="{FF2B5EF4-FFF2-40B4-BE49-F238E27FC236}">
                <a16:creationId xmlns:a16="http://schemas.microsoft.com/office/drawing/2014/main" id="{8CA252D5-4CE4-9A3D-D667-20D99888BC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521328"/>
              </p:ext>
            </p:extLst>
          </p:nvPr>
        </p:nvGraphicFramePr>
        <p:xfrm>
          <a:off x="745588" y="4819968"/>
          <a:ext cx="7205270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24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452130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236570903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  <p:graphicFrame>
        <p:nvGraphicFramePr>
          <p:cNvPr id="11" name="table__nat_tv_top_brands_delta_ytd">
            <a:extLst>
              <a:ext uri="{FF2B5EF4-FFF2-40B4-BE49-F238E27FC236}">
                <a16:creationId xmlns:a16="http://schemas.microsoft.com/office/drawing/2014/main" id="{118C0FEB-CB96-35BB-1852-33241C10C8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49433"/>
              </p:ext>
            </p:extLst>
          </p:nvPr>
        </p:nvGraphicFramePr>
        <p:xfrm>
          <a:off x="871648" y="4465404"/>
          <a:ext cx="7073283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82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9" name="chart__nat_tv_top_brands_ytd_extended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61015230"/>
              </p:ext>
            </p:extLst>
          </p:nvPr>
        </p:nvGraphicFramePr>
        <p:xfrm>
          <a:off x="0" y="1445671"/>
          <a:ext cx="8045676" cy="49437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TextBox 29"/>
          <p:cNvSpPr txBox="1"/>
          <p:nvPr/>
        </p:nvSpPr>
        <p:spPr bwMode="auto">
          <a:xfrm>
            <a:off x="8045675" y="1701818"/>
            <a:ext cx="3878099" cy="3549690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sp>
        <p:nvSpPr>
          <p:cNvPr id="8" name="Заголовок 7"/>
          <p:cNvSpPr>
            <a:spLocks noGrp="1"/>
          </p:cNvSpPr>
          <p:nvPr>
            <p:ph type="title"/>
          </p:nvPr>
        </p:nvSpPr>
        <p:spPr bwMode="auto">
          <a:xfrm>
            <a:off x="508347" y="272840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3" name="Прямоугольник 2"/>
          <p:cNvSpPr/>
          <p:nvPr/>
        </p:nvSpPr>
        <p:spPr bwMode="auto">
          <a:xfrm>
            <a:off x="-2" y="1"/>
            <a:ext cx="10769601" cy="272839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ru-RU" sz="1600" dirty="0"/>
              <a:t>Рекламный рынок в целом, Топ 20 брендов, Нац. ТВ.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jan_current_month_mmo_rtg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5" name="Footer Placeholder 3"/>
          <p:cNvSpPr txBox="1"/>
          <p:nvPr/>
        </p:nvSpPr>
        <p:spPr bwMode="auto">
          <a:xfrm>
            <a:off x="273789" y="6154928"/>
            <a:ext cx="11644422" cy="623719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lvl1pPr algn="ctr" defTabSz="219063">
              <a:defRPr sz="1900">
                <a:latin typeface="+mn-lt"/>
                <a:ea typeface="+mn-ea"/>
                <a:cs typeface="+mn-cs"/>
              </a:defRPr>
            </a:lvl1pPr>
            <a:lvl2pPr indent="85721" algn="ctr" defTabSz="219063">
              <a:defRPr sz="1900">
                <a:latin typeface="+mn-lt"/>
                <a:ea typeface="+mn-ea"/>
                <a:cs typeface="+mn-cs"/>
              </a:defRPr>
            </a:lvl2pPr>
            <a:lvl3pPr indent="171442" algn="ctr" defTabSz="219063">
              <a:defRPr sz="1900">
                <a:latin typeface="+mn-lt"/>
                <a:ea typeface="+mn-ea"/>
                <a:cs typeface="+mn-cs"/>
              </a:defRPr>
            </a:lvl3pPr>
            <a:lvl4pPr indent="257163" algn="ctr" defTabSz="219063">
              <a:defRPr sz="1900">
                <a:latin typeface="+mn-lt"/>
                <a:ea typeface="+mn-ea"/>
                <a:cs typeface="+mn-cs"/>
              </a:defRPr>
            </a:lvl4pPr>
            <a:lvl5pPr indent="342882" algn="ctr" defTabSz="219063">
              <a:defRPr sz="1900">
                <a:latin typeface="+mn-lt"/>
                <a:ea typeface="+mn-ea"/>
                <a:cs typeface="+mn-cs"/>
              </a:defRPr>
            </a:lvl5pPr>
            <a:lvl6pPr indent="428603" algn="ctr" defTabSz="219063">
              <a:defRPr sz="1900">
                <a:latin typeface="+mn-lt"/>
                <a:ea typeface="+mn-ea"/>
                <a:cs typeface="+mn-cs"/>
              </a:defRPr>
            </a:lvl6pPr>
            <a:lvl7pPr indent="514324" algn="ctr" defTabSz="219063">
              <a:defRPr sz="1900">
                <a:latin typeface="+mn-lt"/>
                <a:ea typeface="+mn-ea"/>
                <a:cs typeface="+mn-cs"/>
              </a:defRPr>
            </a:lvl7pPr>
            <a:lvl8pPr indent="600045" algn="ctr" defTabSz="219063">
              <a:defRPr sz="1900">
                <a:latin typeface="+mn-lt"/>
                <a:ea typeface="+mn-ea"/>
                <a:cs typeface="+mn-cs"/>
              </a:defRPr>
            </a:lvl8pPr>
            <a:lvl9pPr indent="685766" algn="ctr" defTabSz="219063">
              <a:defRPr sz="1900">
                <a:latin typeface="+mn-lt"/>
                <a:ea typeface="+mn-ea"/>
                <a:cs typeface="+mn-cs"/>
              </a:defRPr>
            </a:lvl9pPr>
          </a:lstStyle>
          <a:p>
            <a:pPr algn="l" defTabSz="1218986">
              <a:defRPr/>
            </a:pP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*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Леомакс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– телемагазин и онлайн-платформа покупок</a:t>
            </a:r>
            <a:b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</a:b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*Мой мир –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соц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сеть от Mail</a:t>
            </a:r>
            <a:b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</a:b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*Источник: Mediascope,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TRP’s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all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18+, 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{</a:t>
            </a:r>
            <a:r>
              <a:rPr lang="en-GB" sz="900" dirty="0" err="1">
                <a:solidFill>
                  <a:srgbClr val="000000"/>
                </a:solidFill>
                <a:ea typeface="5ka Sans Design"/>
                <a:cs typeface="5ka Sans Design"/>
              </a:rPr>
              <a:t>jan_ly_month_mmo_rtg</a:t>
            </a:r>
            <a:r>
              <a:rPr lang="en-GB" sz="900" dirty="0">
                <a:solidFill>
                  <a:srgbClr val="000000"/>
                </a:solidFill>
                <a:ea typeface="5ka Sans Design"/>
                <a:cs typeface="5ka Sans Design"/>
              </a:rPr>
              <a:t>}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, </a:t>
            </a:r>
            <a:r>
              <a:rPr lang="en-GB" sz="900" dirty="0"/>
              <a:t>{</a:t>
            </a:r>
            <a:r>
              <a:rPr lang="en-GB" sz="900" dirty="0" err="1"/>
              <a:t>jan_current_month_mmo_rtg</a:t>
            </a:r>
            <a:r>
              <a:rPr lang="en-GB" sz="900" dirty="0"/>
              <a:t>}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;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Нац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 ТВ + ТВ Спонсорство, База Россия 0+, без учета внедомашнего телесмотрения, в медиа весах Брендов учтены кампании в поддержку </a:t>
            </a:r>
            <a:r>
              <a:rPr lang="ru-RU" sz="900" dirty="0" err="1">
                <a:solidFill>
                  <a:srgbClr val="000000"/>
                </a:solidFill>
                <a:ea typeface="5ka Sans Design"/>
                <a:cs typeface="5ka Sans Design"/>
              </a:rPr>
              <a:t>кооп</a:t>
            </a:r>
            <a:r>
              <a:rPr lang="ru-RU" sz="900" dirty="0">
                <a:solidFill>
                  <a:srgbClr val="000000"/>
                </a:solidFill>
                <a:ea typeface="5ka Sans Design"/>
                <a:cs typeface="5ka Sans Design"/>
              </a:rPr>
              <a:t>, рекрутинга, доставка, программы лояльности – все, что относится к бренду</a:t>
            </a:r>
            <a:endParaRPr lang="ru-RU" sz="900" dirty="0"/>
          </a:p>
        </p:txBody>
      </p:sp>
      <p:graphicFrame>
        <p:nvGraphicFramePr>
          <p:cNvPr id="2" name="table__nat_tv_extended_summary">
            <a:extLst>
              <a:ext uri="{FF2B5EF4-FFF2-40B4-BE49-F238E27FC236}">
                <a16:creationId xmlns:a16="http://schemas.microsoft.com/office/drawing/2014/main" id="{3FF0173C-B3B0-0F72-F429-01C2E9C8DC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5799654"/>
              </p:ext>
            </p:extLst>
          </p:nvPr>
        </p:nvGraphicFramePr>
        <p:xfrm>
          <a:off x="5830244" y="2148478"/>
          <a:ext cx="2463800" cy="1059180"/>
        </p:xfrm>
        <a:graphic>
          <a:graphicData uri="http://schemas.openxmlformats.org/drawingml/2006/table">
            <a:tbl>
              <a:tblPr/>
              <a:tblGrid>
                <a:gridCol w="1066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85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4232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TRP All 18+ </a:t>
                      </a:r>
                      <a:endParaRPr dirty="0"/>
                    </a:p>
                  </a:txBody>
                  <a:tcPr marL="7620" marR="7620" marT="7620" marB="0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algn="ctr">
                      <a:solidFill>
                        <a:srgbClr val="4F6228"/>
                      </a:solidFill>
                    </a:lnB>
                    <a:solidFill>
                      <a:srgbClr val="D8E4B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{</a:t>
                      </a:r>
                      <a:r>
                        <a:rPr lang="en-GB" sz="11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jan_ly_month_mmo_rtg</a:t>
                      </a:r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}</a:t>
                      </a:r>
                      <a:endParaRPr lang="ru-RU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4B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{</a:t>
                      </a:r>
                      <a:r>
                        <a:rPr lang="en-GB" sz="11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jan_current_month_mmo_rtg</a:t>
                      </a:r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}</a:t>
                      </a:r>
                      <a:endParaRPr lang="ru-RU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E4B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ПЯТЕРОЧКА</a:t>
                      </a:r>
                      <a:endParaRPr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ПЕРЕКРЕСТОК</a:t>
                      </a:r>
                      <a:endParaRPr dirty="0"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algn="ctr">
                      <a:solidFill>
                        <a:srgbClr val="4F6228"/>
                      </a:solidFill>
                    </a:lnL>
                    <a:lnR w="6350" algn="ctr">
                      <a:solidFill>
                        <a:srgbClr val="4F6228"/>
                      </a:solidFill>
                    </a:lnR>
                    <a:lnT w="6350" algn="ctr">
                      <a:solidFill>
                        <a:srgbClr val="4F6228"/>
                      </a:solidFill>
                    </a:lnT>
                    <a:lnB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ЧИЖИК</a:t>
                      </a:r>
                      <a:endParaRPr dirty="0"/>
                    </a:p>
                  </a:txBody>
                  <a:tcPr marL="7620" marR="7620" marT="7620" marB="0" anchor="b">
                    <a:lnL w="6350" algn="ctr">
                      <a:solidFill>
                        <a:srgbClr val="4F6228"/>
                      </a:solidFill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cs typeface="Arial"/>
                        </a:rPr>
                        <a:t>-</a:t>
                      </a:r>
                      <a:endParaRPr kumimoji="0" lang="ru-RU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cs typeface="Arial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algn="ctr">
                      <a:solidFill>
                        <a:srgbClr val="4F6228"/>
                      </a:solidFill>
                    </a:lnR>
                    <a:lnT w="6350" cap="flat" cmpd="sng" algn="ctr">
                      <a:solidFill>
                        <a:srgbClr val="4F622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algn="ctr">
                      <a:solidFill>
                        <a:srgbClr val="4F6228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806256"/>
                  </a:ext>
                </a:extLst>
              </a:tr>
            </a:tbl>
          </a:graphicData>
        </a:graphic>
      </p:graphicFrame>
      <p:graphicFrame>
        <p:nvGraphicFramePr>
          <p:cNvPr id="7" name="table__nat_tv_extended_labels">
            <a:extLst>
              <a:ext uri="{FF2B5EF4-FFF2-40B4-BE49-F238E27FC236}">
                <a16:creationId xmlns:a16="http://schemas.microsoft.com/office/drawing/2014/main" id="{ECC409D0-F61E-B2B9-15E0-D9B0BF80A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888933"/>
              </p:ext>
            </p:extLst>
          </p:nvPr>
        </p:nvGraphicFramePr>
        <p:xfrm>
          <a:off x="745588" y="4480560"/>
          <a:ext cx="7205270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24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452130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  <a:gridCol w="327243">
                  <a:extLst>
                    <a:ext uri="{9D8B030D-6E8A-4147-A177-3AD203B41FA5}">
                      <a16:colId xmlns:a16="http://schemas.microsoft.com/office/drawing/2014/main" val="2236570903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9" name="chart__nat_tv_top_brands_month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8906568"/>
              </p:ext>
            </p:extLst>
          </p:nvPr>
        </p:nvGraphicFramePr>
        <p:xfrm>
          <a:off x="37616" y="1289254"/>
          <a:ext cx="8059549" cy="49083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TextBox 4"/>
          <p:cNvSpPr txBox="1"/>
          <p:nvPr/>
        </p:nvSpPr>
        <p:spPr bwMode="auto">
          <a:xfrm>
            <a:off x="8097164" y="1675613"/>
            <a:ext cx="3826610" cy="3924151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sp>
        <p:nvSpPr>
          <p:cNvPr id="8" name="Заголовок 7"/>
          <p:cNvSpPr>
            <a:spLocks noGrp="1"/>
          </p:cNvSpPr>
          <p:nvPr>
            <p:ph type="title"/>
          </p:nvPr>
        </p:nvSpPr>
        <p:spPr bwMode="auto">
          <a:xfrm>
            <a:off x="147864" y="282224"/>
            <a:ext cx="10437138" cy="1137472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lang="ru-RU" sz="2400" dirty="0"/>
          </a:p>
        </p:txBody>
      </p:sp>
      <p:sp>
        <p:nvSpPr>
          <p:cNvPr id="2" name="Прямоугольник 1"/>
          <p:cNvSpPr/>
          <p:nvPr/>
        </p:nvSpPr>
        <p:spPr bwMode="auto">
          <a:xfrm>
            <a:off x="0" y="0"/>
            <a:ext cx="10732871" cy="282222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ru-RU" sz="1600" dirty="0"/>
              <a:t>Рекламный рынок в целом, Топ 20 брендов, Нац. ТВ.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current_month_mmo_rtg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4" name="Footer Placeholder 3"/>
          <p:cNvSpPr txBox="1"/>
          <p:nvPr/>
        </p:nvSpPr>
        <p:spPr bwMode="auto">
          <a:xfrm>
            <a:off x="279353" y="6492873"/>
            <a:ext cx="11644422" cy="372443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defTabSz="1218986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ru-RU" dirty="0"/>
              <a:t>*Источник</a:t>
            </a:r>
            <a:r>
              <a:rPr lang="en-US" dirty="0"/>
              <a:t>: </a:t>
            </a:r>
            <a:r>
              <a:rPr lang="en-US" dirty="0" err="1"/>
              <a:t>Mediascope</a:t>
            </a:r>
            <a:r>
              <a:rPr lang="en-US" dirty="0"/>
              <a:t>, TRP’s all 18+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ly_month_mmo_rtg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cur_month_mmo_rtg</a:t>
            </a:r>
            <a:r>
              <a:rPr lang="en-GB" dirty="0"/>
              <a:t>}</a:t>
            </a:r>
            <a:r>
              <a:rPr lang="ru-RU" dirty="0"/>
              <a:t>;</a:t>
            </a:r>
            <a:r>
              <a:rPr lang="en-US" dirty="0"/>
              <a:t> </a:t>
            </a:r>
            <a:r>
              <a:rPr lang="ru-RU" dirty="0" err="1"/>
              <a:t>Нац</a:t>
            </a:r>
            <a:r>
              <a:rPr lang="ru-RU" dirty="0"/>
              <a:t> ТВ </a:t>
            </a:r>
            <a:r>
              <a:rPr lang="en-US" dirty="0"/>
              <a:t>+</a:t>
            </a:r>
            <a:r>
              <a:rPr lang="ru-RU" dirty="0"/>
              <a:t> ТВ Спонсорство, База Россия 0+, без учета внедомашнего телесмотрения</a:t>
            </a:r>
            <a:r>
              <a:rPr lang="en-US" dirty="0"/>
              <a:t>, </a:t>
            </a:r>
            <a:r>
              <a:rPr lang="ru-RU" dirty="0"/>
              <a:t>в медиа весах Брендов учтены кампании в поддержку </a:t>
            </a:r>
            <a:r>
              <a:rPr lang="ru-RU" dirty="0" err="1"/>
              <a:t>кооп</a:t>
            </a:r>
            <a:r>
              <a:rPr lang="ru-RU" dirty="0"/>
              <a:t>, рекрутинга, доставка, программы лояльности – все, что относится к бренду</a:t>
            </a:r>
            <a:endParaRPr dirty="0"/>
          </a:p>
        </p:txBody>
      </p:sp>
      <p:graphicFrame>
        <p:nvGraphicFramePr>
          <p:cNvPr id="11" name="table__nat_tv_month_labels">
            <a:extLst>
              <a:ext uri="{FF2B5EF4-FFF2-40B4-BE49-F238E27FC236}">
                <a16:creationId xmlns:a16="http://schemas.microsoft.com/office/drawing/2014/main" id="{33545368-1707-DEB1-0867-B0560E57F3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5849887"/>
              </p:ext>
            </p:extLst>
          </p:nvPr>
        </p:nvGraphicFramePr>
        <p:xfrm>
          <a:off x="871648" y="4465404"/>
          <a:ext cx="7073283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82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465366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9" name="chart__nat_tv_top_brands_month_extended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34101463"/>
              </p:ext>
            </p:extLst>
          </p:nvPr>
        </p:nvGraphicFramePr>
        <p:xfrm>
          <a:off x="13875" y="1460938"/>
          <a:ext cx="8059549" cy="47927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TextBox 4"/>
          <p:cNvSpPr txBox="1"/>
          <p:nvPr/>
        </p:nvSpPr>
        <p:spPr bwMode="auto">
          <a:xfrm>
            <a:off x="8151061" y="1460938"/>
            <a:ext cx="3850352" cy="3795911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sp>
        <p:nvSpPr>
          <p:cNvPr id="8" name="Заголовок 7"/>
          <p:cNvSpPr>
            <a:spLocks noGrp="1"/>
          </p:cNvSpPr>
          <p:nvPr>
            <p:ph type="title"/>
          </p:nvPr>
        </p:nvSpPr>
        <p:spPr bwMode="auto">
          <a:xfrm>
            <a:off x="279353" y="294192"/>
            <a:ext cx="10809825" cy="1094034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2" name="Прямоугольник 1"/>
          <p:cNvSpPr/>
          <p:nvPr/>
        </p:nvSpPr>
        <p:spPr bwMode="auto">
          <a:xfrm>
            <a:off x="-2" y="0"/>
            <a:ext cx="10724445" cy="294191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ru-RU" sz="1600" dirty="0"/>
              <a:t>Рекламный рынок в целом, Топ 20 брендов, Нац. ТВ</a:t>
            </a:r>
            <a:r>
              <a:rPr lang="ru-RU" sz="1600" dirty="0">
                <a:solidFill>
                  <a:srgbClr val="FFFF00"/>
                </a:solidFill>
              </a:rPr>
              <a:t>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current_month_mmo_rtg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3" name="Footer Placeholder 3"/>
          <p:cNvSpPr txBox="1"/>
          <p:nvPr/>
        </p:nvSpPr>
        <p:spPr bwMode="auto">
          <a:xfrm>
            <a:off x="279353" y="6074229"/>
            <a:ext cx="11644422" cy="791087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defTabSz="1218986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*</a:t>
            </a:r>
            <a:r>
              <a:rPr lang="ru-RU" dirty="0" err="1"/>
              <a:t>Леомакс</a:t>
            </a:r>
            <a:r>
              <a:rPr lang="ru-RU" dirty="0"/>
              <a:t> – телемагазин и онлайн-платформа покупок</a:t>
            </a:r>
            <a:br>
              <a:rPr lang="ru-RU" dirty="0"/>
            </a:br>
            <a:r>
              <a:rPr lang="ru-RU" dirty="0"/>
              <a:t>*Мой мир – </a:t>
            </a:r>
            <a:r>
              <a:rPr lang="ru-RU" dirty="0" err="1"/>
              <a:t>соц</a:t>
            </a:r>
            <a:r>
              <a:rPr lang="ru-RU" dirty="0"/>
              <a:t> сеть от </a:t>
            </a:r>
            <a:r>
              <a:rPr lang="en-US" dirty="0"/>
              <a:t>Mail</a:t>
            </a:r>
            <a:br>
              <a:rPr lang="en-US" dirty="0"/>
            </a:br>
            <a:r>
              <a:rPr lang="ru-RU" dirty="0"/>
              <a:t>*Источник</a:t>
            </a:r>
            <a:r>
              <a:rPr lang="en-US" dirty="0"/>
              <a:t>: </a:t>
            </a:r>
            <a:r>
              <a:rPr lang="en-US" dirty="0" err="1"/>
              <a:t>Mediascope</a:t>
            </a:r>
            <a:r>
              <a:rPr lang="en-US" dirty="0"/>
              <a:t>, TRP’s all 18+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ly_month_mmo_rtg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cur_month_mmo_rtg</a:t>
            </a:r>
            <a:r>
              <a:rPr lang="en-GB" dirty="0"/>
              <a:t>}</a:t>
            </a:r>
            <a:r>
              <a:rPr lang="ru-RU" dirty="0"/>
              <a:t>;</a:t>
            </a:r>
            <a:r>
              <a:rPr lang="en-US" dirty="0"/>
              <a:t> </a:t>
            </a:r>
            <a:r>
              <a:rPr lang="ru-RU" dirty="0" err="1"/>
              <a:t>Нац</a:t>
            </a:r>
            <a:r>
              <a:rPr lang="ru-RU" dirty="0"/>
              <a:t> ТВ </a:t>
            </a:r>
            <a:r>
              <a:rPr lang="en-US" dirty="0"/>
              <a:t>+</a:t>
            </a:r>
            <a:r>
              <a:rPr lang="ru-RU" dirty="0"/>
              <a:t> ТВ Спонсорство, База Россия 0+, без учета внедомашнего телесмотрения, в медиа весах Брендов учтены кампании в поддержку </a:t>
            </a:r>
            <a:r>
              <a:rPr lang="ru-RU" dirty="0" err="1"/>
              <a:t>кооп</a:t>
            </a:r>
            <a:r>
              <a:rPr lang="ru-RU" dirty="0"/>
              <a:t>, рекрутинга, доставка, программы лояльности – все, что относится к бренду</a:t>
            </a:r>
            <a:endParaRPr dirty="0"/>
          </a:p>
        </p:txBody>
      </p:sp>
      <p:graphicFrame>
        <p:nvGraphicFramePr>
          <p:cNvPr id="7" name="table__nat_tv_month_extended_labels">
            <a:extLst>
              <a:ext uri="{FF2B5EF4-FFF2-40B4-BE49-F238E27FC236}">
                <a16:creationId xmlns:a16="http://schemas.microsoft.com/office/drawing/2014/main" id="{D3EAAFED-35FA-23CF-BDDD-BCB50573E5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3925276"/>
              </p:ext>
            </p:extLst>
          </p:nvPr>
        </p:nvGraphicFramePr>
        <p:xfrm>
          <a:off x="871648" y="4465404"/>
          <a:ext cx="7073283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823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817875453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08869850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3659893267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155665446"/>
                    </a:ext>
                  </a:extLst>
                </a:gridCol>
                <a:gridCol w="336823">
                  <a:extLst>
                    <a:ext uri="{9D8B030D-6E8A-4147-A177-3AD203B41FA5}">
                      <a16:colId xmlns:a16="http://schemas.microsoft.com/office/drawing/2014/main" val="2230044644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 bwMode="auto"/>
        <p:txBody>
          <a:bodyPr anchor="ctr">
            <a:normAutofit/>
          </a:bodyPr>
          <a:lstStyle/>
          <a:p>
            <a:pPr>
              <a:defRPr/>
            </a:pPr>
            <a:r>
              <a:rPr lang="ru-RU" sz="6000"/>
              <a:t>2</a:t>
            </a:r>
            <a:r>
              <a:rPr lang="ru-RU" sz="6000">
                <a:latin typeface="5ka Sans Design Black"/>
                <a:ea typeface="5ka Sans Design Black"/>
                <a:cs typeface="5ka Sans Design Black"/>
              </a:rPr>
              <a:t>. </a:t>
            </a:r>
            <a:r>
              <a:rPr lang="ru-RU" sz="6000"/>
              <a:t>Фуд Ритейл</a:t>
            </a:r>
            <a:endParaRPr/>
          </a:p>
        </p:txBody>
      </p:sp>
      <p:sp>
        <p:nvSpPr>
          <p:cNvPr id="8" name="Текст 7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{</a:t>
            </a:r>
            <a:r>
              <a:rPr lang="en-GB" b="1" dirty="0" err="1">
                <a:solidFill>
                  <a:schemeClr val="accent6">
                    <a:lumMod val="75000"/>
                  </a:schemeClr>
                </a:solidFill>
              </a:rPr>
              <a:t>current_month</a:t>
            </a: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}</a:t>
            </a:r>
            <a:endParaRPr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0" y="4039986"/>
            <a:ext cx="12192000" cy="15794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4176179"/>
            <a:ext cx="12192000" cy="15794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5" name="chart__all_retail_tv_invest_year">
            <a:extLst>
              <a:ext uri="{FF2B5EF4-FFF2-40B4-BE49-F238E27FC236}">
                <a16:creationId xmlns:a16="http://schemas.microsoft.com/office/drawing/2014/main" id="{EF1D3CD3-D791-8639-0002-D62011209A9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39296810"/>
              </p:ext>
            </p:extLst>
          </p:nvPr>
        </p:nvGraphicFramePr>
        <p:xfrm>
          <a:off x="139411" y="4017958"/>
          <a:ext cx="7306740" cy="2465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6" name="chart__all_retail_tvr_dynamic">
            <a:extLst>
              <a:ext uri="{FF2B5EF4-FFF2-40B4-BE49-F238E27FC236}">
                <a16:creationId xmlns:a16="http://schemas.microsoft.com/office/drawing/2014/main" id="{9DAE67CB-1E58-A334-F3FA-0A7395B5BFC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0561105"/>
              </p:ext>
            </p:extLst>
          </p:nvPr>
        </p:nvGraphicFramePr>
        <p:xfrm>
          <a:off x="6274112" y="4029385"/>
          <a:ext cx="7306740" cy="2465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2" name="chart__all_retail_brand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29408749"/>
              </p:ext>
            </p:extLst>
          </p:nvPr>
        </p:nvGraphicFramePr>
        <p:xfrm>
          <a:off x="139412" y="1031543"/>
          <a:ext cx="7708224" cy="29978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58477" y="337372"/>
            <a:ext cx="10515600" cy="766989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-1" y="1"/>
            <a:ext cx="10780890" cy="386802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офлайн магазинов, смешанная и доставки), ТВ (без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спонс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), основные бренды.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7" name="TextBox 6"/>
          <p:cNvSpPr txBox="1"/>
          <p:nvPr/>
        </p:nvSpPr>
        <p:spPr bwMode="auto">
          <a:xfrm>
            <a:off x="202984" y="6571883"/>
            <a:ext cx="11694686" cy="205176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defTabSz="1218986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US" dirty="0"/>
              <a:t>{</a:t>
            </a:r>
            <a:r>
              <a:rPr lang="en-US" dirty="0" err="1"/>
              <a:t>ly_first_month</a:t>
            </a:r>
            <a:r>
              <a:rPr lang="en-US" dirty="0"/>
              <a:t>} - {</a:t>
            </a:r>
            <a:r>
              <a:rPr lang="en-US" dirty="0" err="1"/>
              <a:t>cur_month</a:t>
            </a:r>
            <a:r>
              <a:rPr lang="en-US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спонсорства); </a:t>
            </a:r>
            <a:r>
              <a:rPr lang="en-US" dirty="0"/>
              <a:t>Food Retail </a:t>
            </a:r>
            <a:r>
              <a:rPr lang="ru-RU" dirty="0"/>
              <a:t>вкл. Доставку, Ключевые конкуренты, Другие: </a:t>
            </a:r>
            <a:r>
              <a:rPr lang="en-US" dirty="0"/>
              <a:t>{brands}</a:t>
            </a:r>
            <a:endParaRPr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61784C-C07E-53CA-DFE8-64AB23D50830}"/>
              </a:ext>
            </a:extLst>
          </p:cNvPr>
          <p:cNvSpPr txBox="1"/>
          <p:nvPr/>
        </p:nvSpPr>
        <p:spPr bwMode="auto">
          <a:xfrm>
            <a:off x="7446151" y="1324913"/>
            <a:ext cx="4170106" cy="2693045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sp>
        <p:nvSpPr>
          <p:cNvPr id="22" name="Прямоугольник 21">
            <a:extLst>
              <a:ext uri="{FF2B5EF4-FFF2-40B4-BE49-F238E27FC236}">
                <a16:creationId xmlns:a16="http://schemas.microsoft.com/office/drawing/2014/main" id="{1B8B8ACF-6254-FCDC-8A33-D45BC9021D01}"/>
              </a:ext>
            </a:extLst>
          </p:cNvPr>
          <p:cNvSpPr/>
          <p:nvPr/>
        </p:nvSpPr>
        <p:spPr>
          <a:xfrm>
            <a:off x="3141133" y="4449452"/>
            <a:ext cx="2063037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C21F880-C9EC-C3F1-1299-AC97A7DFAE94}"/>
              </a:ext>
            </a:extLst>
          </p:cNvPr>
          <p:cNvSpPr txBox="1"/>
          <p:nvPr/>
        </p:nvSpPr>
        <p:spPr>
          <a:xfrm>
            <a:off x="3750844" y="4234561"/>
            <a:ext cx="7732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sp>
        <p:nvSpPr>
          <p:cNvPr id="24" name="Прямоугольник 23">
            <a:extLst>
              <a:ext uri="{FF2B5EF4-FFF2-40B4-BE49-F238E27FC236}">
                <a16:creationId xmlns:a16="http://schemas.microsoft.com/office/drawing/2014/main" id="{A294BC04-A39F-CB27-6685-DE90EE3C54C7}"/>
              </a:ext>
            </a:extLst>
          </p:cNvPr>
          <p:cNvSpPr/>
          <p:nvPr/>
        </p:nvSpPr>
        <p:spPr bwMode="auto">
          <a:xfrm>
            <a:off x="9931400" y="4590502"/>
            <a:ext cx="1953828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55285CA-AAF6-6676-1F86-7835BFB35D47}"/>
              </a:ext>
            </a:extLst>
          </p:cNvPr>
          <p:cNvSpPr txBox="1"/>
          <p:nvPr/>
        </p:nvSpPr>
        <p:spPr bwMode="auto">
          <a:xfrm>
            <a:off x="10589003" y="4365366"/>
            <a:ext cx="7732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graphicFrame>
        <p:nvGraphicFramePr>
          <p:cNvPr id="19" name="table__all_retail_brand_yoy_labels">
            <a:extLst>
              <a:ext uri="{FF2B5EF4-FFF2-40B4-BE49-F238E27FC236}">
                <a16:creationId xmlns:a16="http://schemas.microsoft.com/office/drawing/2014/main" id="{E1427FA5-DF87-1D3C-EE6B-F7605C6183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3023337"/>
              </p:ext>
            </p:extLst>
          </p:nvPr>
        </p:nvGraphicFramePr>
        <p:xfrm>
          <a:off x="3241963" y="1505261"/>
          <a:ext cx="2377440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744">
                  <a:extLst>
                    <a:ext uri="{9D8B030D-6E8A-4147-A177-3AD203B41FA5}">
                      <a16:colId xmlns:a16="http://schemas.microsoft.com/office/drawing/2014/main" val="3407914027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827973181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34233818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2768102473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3961096344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246962975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701797752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3025563876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17237034"/>
                    </a:ext>
                  </a:extLst>
                </a:gridCol>
                <a:gridCol w="237744">
                  <a:extLst>
                    <a:ext uri="{9D8B030D-6E8A-4147-A177-3AD203B41FA5}">
                      <a16:colId xmlns:a16="http://schemas.microsoft.com/office/drawing/2014/main" val="37826346"/>
                    </a:ext>
                  </a:extLst>
                </a:gridCol>
              </a:tblGrid>
              <a:tr h="224673"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9533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57555" y="365125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graphicFrame>
        <p:nvGraphicFramePr>
          <p:cNvPr id="7" name="chart__all_retail_sov_year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70866987"/>
              </p:ext>
            </p:extLst>
          </p:nvPr>
        </p:nvGraphicFramePr>
        <p:xfrm>
          <a:off x="838200" y="1909674"/>
          <a:ext cx="3191933" cy="44495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Прямоугольник 3"/>
          <p:cNvSpPr/>
          <p:nvPr/>
        </p:nvSpPr>
        <p:spPr bwMode="auto">
          <a:xfrm>
            <a:off x="0" y="27549"/>
            <a:ext cx="10780890" cy="278839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(реклама офлайн магазинов, смешанная и доставки), ТВ, основные бренды. </a:t>
            </a:r>
            <a:r>
              <a:rPr lang="en-GB" sz="1600" dirty="0">
                <a:solidFill>
                  <a:srgbClr val="FFFF00"/>
                </a:solidFill>
              </a:rPr>
              <a:t>{current_month_1}</a:t>
            </a:r>
            <a:endParaRPr lang="ru-RU" sz="1600" dirty="0">
              <a:solidFill>
                <a:srgbClr val="FFFF00"/>
              </a:solidFill>
            </a:endParaRPr>
          </a:p>
        </p:txBody>
      </p:sp>
      <p:sp>
        <p:nvSpPr>
          <p:cNvPr id="28" name="TextBox 27"/>
          <p:cNvSpPr txBox="1"/>
          <p:nvPr/>
        </p:nvSpPr>
        <p:spPr bwMode="auto">
          <a:xfrm>
            <a:off x="2101608" y="2323577"/>
            <a:ext cx="5886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1200" b="1" dirty="0">
                <a:solidFill>
                  <a:schemeClr val="accent6">
                    <a:lumMod val="75000"/>
                  </a:schemeClr>
                </a:solidFill>
              </a:rPr>
              <a:t>{del1}</a:t>
            </a:r>
            <a:endParaRPr b="1" dirty="0"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29" name="TextBox 28"/>
          <p:cNvSpPr txBox="1"/>
          <p:nvPr/>
        </p:nvSpPr>
        <p:spPr bwMode="auto">
          <a:xfrm>
            <a:off x="1019418" y="1978126"/>
            <a:ext cx="34563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200" b="1" dirty="0"/>
              <a:t>Тандер и Х5</a:t>
            </a:r>
            <a:r>
              <a:rPr lang="en-US" sz="1200" b="1" dirty="0"/>
              <a:t> (</a:t>
            </a:r>
            <a:r>
              <a:rPr lang="ru-RU" sz="1200" b="1" dirty="0"/>
              <a:t>инвестиции</a:t>
            </a:r>
            <a:r>
              <a:rPr lang="en-US" sz="1200" b="1" dirty="0"/>
              <a:t>)</a:t>
            </a:r>
            <a:r>
              <a:rPr lang="ru-RU" sz="1200" b="1" dirty="0"/>
              <a:t>, </a:t>
            </a:r>
            <a:r>
              <a:rPr lang="en-GB" sz="1200" b="1" dirty="0"/>
              <a:t>{current_month_1}</a:t>
            </a:r>
            <a:endParaRPr lang="ru-RU" sz="1200" b="1" dirty="0"/>
          </a:p>
        </p:txBody>
      </p:sp>
      <p:sp>
        <p:nvSpPr>
          <p:cNvPr id="30" name="TextBox 29"/>
          <p:cNvSpPr txBox="1"/>
          <p:nvPr/>
        </p:nvSpPr>
        <p:spPr bwMode="auto">
          <a:xfrm>
            <a:off x="6743810" y="1978126"/>
            <a:ext cx="35301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defRPr sz="1850" b="0" i="0" u="none" strike="noStrike" spc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ru-RU" sz="1200" b="1" dirty="0"/>
              <a:t>ТВ </a:t>
            </a:r>
            <a:r>
              <a:rPr lang="en-US" sz="1200" b="1" dirty="0"/>
              <a:t>(</a:t>
            </a:r>
            <a:r>
              <a:rPr lang="ru-RU" sz="1200" b="1" dirty="0"/>
              <a:t>инвестиции</a:t>
            </a:r>
            <a:r>
              <a:rPr lang="en-US" sz="1200" b="1" dirty="0"/>
              <a:t>)</a:t>
            </a:r>
            <a:r>
              <a:rPr lang="ru-RU" sz="1200" b="1" dirty="0"/>
              <a:t> </a:t>
            </a:r>
            <a:r>
              <a:rPr lang="en-GB" sz="1200" b="1" dirty="0"/>
              <a:t>{cur_month_1}</a:t>
            </a:r>
            <a:r>
              <a:rPr lang="ru-RU" sz="1200" b="1" dirty="0"/>
              <a:t> </a:t>
            </a:r>
            <a:r>
              <a:rPr lang="en-US" sz="1200" b="1" dirty="0"/>
              <a:t>vs</a:t>
            </a:r>
            <a:r>
              <a:rPr lang="ru-RU" sz="1200" b="1" dirty="0"/>
              <a:t> </a:t>
            </a:r>
            <a:r>
              <a:rPr lang="en-GB" sz="1200" b="1" dirty="0"/>
              <a:t>{</a:t>
            </a:r>
            <a:r>
              <a:rPr lang="en-GB" sz="1200" b="1" dirty="0" err="1"/>
              <a:t>ly_month</a:t>
            </a:r>
            <a:r>
              <a:rPr lang="ru-RU" sz="1200" b="1" dirty="0"/>
              <a:t>_1</a:t>
            </a:r>
            <a:r>
              <a:rPr lang="en-GB" sz="1200" b="1" dirty="0"/>
              <a:t>}</a:t>
            </a:r>
            <a:endParaRPr lang="ru-RU" sz="1200" b="1" dirty="0"/>
          </a:p>
        </p:txBody>
      </p:sp>
      <p:graphicFrame>
        <p:nvGraphicFramePr>
          <p:cNvPr id="18" name="chart__all_retail_tvr_month">
            <a:extLst>
              <a:ext uri="{FF2B5EF4-FFF2-40B4-BE49-F238E27FC236}">
                <a16:creationId xmlns:a16="http://schemas.microsoft.com/office/drawing/2014/main" id="{BD3ED6E9-B3D8-FE5C-A6AD-9EC2C183460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24446491"/>
              </p:ext>
            </p:extLst>
          </p:nvPr>
        </p:nvGraphicFramePr>
        <p:xfrm>
          <a:off x="4710289" y="2285904"/>
          <a:ext cx="7297638" cy="38740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B0ABE0-2C61-9FD3-B2A4-3DEADCD259D2}"/>
              </a:ext>
            </a:extLst>
          </p:cNvPr>
          <p:cNvSpPr txBox="1"/>
          <p:nvPr/>
        </p:nvSpPr>
        <p:spPr bwMode="auto">
          <a:xfrm>
            <a:off x="210570" y="6589686"/>
            <a:ext cx="76391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Источник: </a:t>
            </a: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Mediascope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Мониторинг СМИ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, </a:t>
            </a: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rPr>
              <a:t>Оффлайн медиа</a:t>
            </a:r>
            <a:r>
              <a:rPr lang="en-US" sz="900" dirty="0">
                <a:solidFill>
                  <a:prstClr val="black"/>
                </a:solidFill>
                <a:cs typeface="Arial"/>
              </a:rPr>
              <a:t>, </a:t>
            </a:r>
            <a:r>
              <a:rPr lang="ru-RU" sz="900" dirty="0" err="1">
                <a:solidFill>
                  <a:prstClr val="black"/>
                </a:solidFill>
                <a:cs typeface="Arial"/>
              </a:rPr>
              <a:t>Диджитал</a:t>
            </a:r>
            <a:r>
              <a:rPr lang="ru-RU" sz="900" dirty="0">
                <a:solidFill>
                  <a:prstClr val="black"/>
                </a:solidFill>
                <a:cs typeface="Arial"/>
              </a:rPr>
              <a:t>, </a:t>
            </a:r>
            <a:r>
              <a:rPr lang="en-GB" sz="900" dirty="0">
                <a:solidFill>
                  <a:prstClr val="black"/>
                </a:solidFill>
                <a:cs typeface="Arial"/>
              </a:rPr>
              <a:t>{</a:t>
            </a:r>
            <a:r>
              <a:rPr lang="en-GB" sz="900" dirty="0" err="1">
                <a:solidFill>
                  <a:prstClr val="black"/>
                </a:solidFill>
                <a:cs typeface="Arial"/>
              </a:rPr>
              <a:t>ly_month</a:t>
            </a:r>
            <a:r>
              <a:rPr lang="ru-RU" sz="900" dirty="0">
                <a:solidFill>
                  <a:prstClr val="black"/>
                </a:solidFill>
                <a:cs typeface="Arial"/>
              </a:rPr>
              <a:t>_1</a:t>
            </a:r>
            <a:r>
              <a:rPr lang="en-GB" sz="900" dirty="0">
                <a:solidFill>
                  <a:prstClr val="black"/>
                </a:solidFill>
                <a:cs typeface="Arial"/>
              </a:rPr>
              <a:t>} - {cur_month_1}</a:t>
            </a:r>
            <a:r>
              <a:rPr lang="ru-RU" sz="900" dirty="0">
                <a:solidFill>
                  <a:prstClr val="black"/>
                </a:solidFill>
                <a:cs typeface="Arial"/>
              </a:rPr>
              <a:t>. </a:t>
            </a:r>
            <a:r>
              <a:rPr lang="ru-RU" sz="900" dirty="0" err="1">
                <a:solidFill>
                  <a:prstClr val="black"/>
                </a:solidFill>
                <a:cs typeface="Arial"/>
              </a:rPr>
              <a:t>Эстимация</a:t>
            </a:r>
            <a:r>
              <a:rPr lang="ru-RU" sz="900" dirty="0">
                <a:solidFill>
                  <a:prstClr val="black"/>
                </a:solidFill>
                <a:cs typeface="Arial"/>
              </a:rPr>
              <a:t> агентства; АКАР</a:t>
            </a:r>
            <a:endParaRPr sz="900" dirty="0">
              <a:solidFill>
                <a:prstClr val="black"/>
              </a:solidFill>
              <a:cs typeface="Arial"/>
            </a:endParaRPr>
          </a:p>
        </p:txBody>
      </p:sp>
      <p:graphicFrame>
        <p:nvGraphicFramePr>
          <p:cNvPr id="11" name="table__all_retail_tvr_month_labels">
            <a:extLst>
              <a:ext uri="{FF2B5EF4-FFF2-40B4-BE49-F238E27FC236}">
                <a16:creationId xmlns:a16="http://schemas.microsoft.com/office/drawing/2014/main" id="{997324C2-29DD-D8F9-4370-6A8F10CCB4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895159"/>
              </p:ext>
            </p:extLst>
          </p:nvPr>
        </p:nvGraphicFramePr>
        <p:xfrm>
          <a:off x="5531482" y="2606501"/>
          <a:ext cx="6344000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500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  <a:gridCol w="396500">
                  <a:extLst>
                    <a:ext uri="{9D8B030D-6E8A-4147-A177-3AD203B41FA5}">
                      <a16:colId xmlns:a16="http://schemas.microsoft.com/office/drawing/2014/main" val="1486509289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+mn-lt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18757" y="437342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(реклама офлайн магазинов, смешанная и доставки), Пятерочка, Магнит, Нац. ТВ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current_month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4" name="TextBox 3"/>
          <p:cNvSpPr txBox="1"/>
          <p:nvPr/>
        </p:nvSpPr>
        <p:spPr bwMode="auto">
          <a:xfrm>
            <a:off x="248655" y="6575880"/>
            <a:ext cx="11694686" cy="205176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algn="l">
              <a:defRPr sz="1600">
                <a:solidFill>
                  <a:srgbClr val="000000"/>
                </a:solidFill>
                <a:latin typeface="5ka Sans Design"/>
                <a:ea typeface="5ka Sans Design"/>
                <a:cs typeface="5ka Sans Design"/>
              </a:defRPr>
            </a:lvl1pPr>
          </a:lstStyle>
          <a:p>
            <a:pPr defTabSz="228578">
              <a:defRPr/>
            </a:pPr>
            <a:r>
              <a:rPr lang="ru-RU" sz="1000" dirty="0"/>
              <a:t>Источник:</a:t>
            </a:r>
            <a:r>
              <a:rPr lang="en-US" sz="1000" dirty="0"/>
              <a:t> Mediascope</a:t>
            </a:r>
            <a:r>
              <a:rPr lang="ru-RU" sz="1000" dirty="0"/>
              <a:t>,</a:t>
            </a:r>
            <a:r>
              <a:rPr lang="en-GB" sz="1000" dirty="0"/>
              <a:t> {</a:t>
            </a:r>
            <a:r>
              <a:rPr lang="en-GB" sz="1000" dirty="0" err="1"/>
              <a:t>ly_first_month</a:t>
            </a:r>
            <a:r>
              <a:rPr lang="en-GB" sz="1000" dirty="0"/>
              <a:t>} - {</a:t>
            </a:r>
            <a:r>
              <a:rPr lang="en-GB" sz="1000" dirty="0" err="1"/>
              <a:t>cur_month</a:t>
            </a:r>
            <a:r>
              <a:rPr lang="en-GB" sz="1000" dirty="0"/>
              <a:t>}</a:t>
            </a:r>
            <a:r>
              <a:rPr lang="ru-RU" sz="1000" dirty="0"/>
              <a:t>, </a:t>
            </a:r>
            <a:r>
              <a:rPr lang="en-US" sz="1000" dirty="0">
                <a:solidFill>
                  <a:srgbClr val="000000"/>
                </a:solidFill>
                <a:ea typeface="5ka Sans Design"/>
                <a:cs typeface="5ka Sans Design"/>
              </a:rPr>
              <a:t>TRP’s all 18+ </a:t>
            </a:r>
            <a:r>
              <a:rPr lang="ru-RU" sz="1000" dirty="0">
                <a:solidFill>
                  <a:srgbClr val="000000"/>
                </a:solidFill>
                <a:ea typeface="5ka Sans Design"/>
                <a:cs typeface="5ka Sans Design"/>
              </a:rPr>
              <a:t>, </a:t>
            </a:r>
            <a:r>
              <a:rPr lang="ru-RU" sz="1000" dirty="0"/>
              <a:t>Нац. ТВ; </a:t>
            </a:r>
            <a:r>
              <a:rPr lang="ru-RU" sz="1000" dirty="0">
                <a:solidFill>
                  <a:srgbClr val="000000"/>
                </a:solidFill>
                <a:ea typeface="5ka Sans Design"/>
                <a:cs typeface="5ka Sans Design"/>
              </a:rPr>
              <a:t>Ключевые конкуренты, Реклама оффлайн магазинов, </a:t>
            </a:r>
            <a:r>
              <a:rPr lang="ru-RU" sz="1000" dirty="0"/>
              <a:t>Смешанная реклама и реклама Доставки включены</a:t>
            </a:r>
            <a:endParaRPr lang="ru-RU" sz="1000" dirty="0">
              <a:solidFill>
                <a:srgbClr val="000000"/>
              </a:solidFill>
              <a:ea typeface="5ka Sans Design"/>
              <a:cs typeface="5ka Sans Design"/>
            </a:endParaRPr>
          </a:p>
        </p:txBody>
      </p:sp>
      <p:pic>
        <p:nvPicPr>
          <p:cNvPr id="6" name="Picture 9"/>
          <p:cNvPicPr>
            <a:picLocks noChangeAspect="1" noChangeArrowheads="1"/>
          </p:cNvPicPr>
          <p:nvPr/>
        </p:nvPicPr>
        <p:blipFill>
          <a:blip r:embed="rId3"/>
          <a:srcRect b="22341"/>
          <a:stretch/>
        </p:blipFill>
        <p:spPr bwMode="auto">
          <a:xfrm>
            <a:off x="272803" y="3764360"/>
            <a:ext cx="291908" cy="299052"/>
          </a:xfrm>
          <a:prstGeom prst="rect">
            <a:avLst/>
          </a:prstGeom>
          <a:noFill/>
        </p:spPr>
      </p:pic>
      <p:graphicFrame>
        <p:nvGraphicFramePr>
          <p:cNvPr id="9" name="chart__pyaterochka_duration_nat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7757585"/>
              </p:ext>
            </p:extLst>
          </p:nvPr>
        </p:nvGraphicFramePr>
        <p:xfrm>
          <a:off x="248655" y="1635751"/>
          <a:ext cx="5977975" cy="20860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chart__magnit_duration_nat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9730699"/>
              </p:ext>
            </p:extLst>
          </p:nvPr>
        </p:nvGraphicFramePr>
        <p:xfrm>
          <a:off x="235059" y="3981626"/>
          <a:ext cx="5977976" cy="2608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11" name="Рисунок 113"/>
          <p:cNvPicPr>
            <a:picLocks noChangeAspect="1"/>
          </p:cNvPicPr>
          <p:nvPr/>
        </p:nvPicPr>
        <p:blipFill>
          <a:blip r:embed="rId6"/>
          <a:stretch/>
        </p:blipFill>
        <p:spPr bwMode="auto">
          <a:xfrm>
            <a:off x="56748" y="1479216"/>
            <a:ext cx="553917" cy="406188"/>
          </a:xfrm>
          <a:prstGeom prst="rect">
            <a:avLst/>
          </a:prstGeom>
        </p:spPr>
      </p:pic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E3D903B6-06DC-FE20-32D3-BD51C61B58B5}"/>
              </a:ext>
            </a:extLst>
          </p:cNvPr>
          <p:cNvSpPr/>
          <p:nvPr/>
        </p:nvSpPr>
        <p:spPr>
          <a:xfrm>
            <a:off x="11291207" y="2253343"/>
            <a:ext cx="665734" cy="3086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aphicFrame>
        <p:nvGraphicFramePr>
          <p:cNvPr id="3" name="table__nat_duration_table">
            <a:extLst>
              <a:ext uri="{FF2B5EF4-FFF2-40B4-BE49-F238E27FC236}">
                <a16:creationId xmlns:a16="http://schemas.microsoft.com/office/drawing/2014/main" id="{2FA8E028-45E6-2396-5339-D81D4CB003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86735"/>
              </p:ext>
            </p:extLst>
          </p:nvPr>
        </p:nvGraphicFramePr>
        <p:xfrm>
          <a:off x="5960706" y="2259228"/>
          <a:ext cx="5869357" cy="3558809"/>
        </p:xfrm>
        <a:graphic>
          <a:graphicData uri="http://schemas.openxmlformats.org/drawingml/2006/table">
            <a:tbl>
              <a:tblPr/>
              <a:tblGrid>
                <a:gridCol w="451489">
                  <a:extLst>
                    <a:ext uri="{9D8B030D-6E8A-4147-A177-3AD203B41FA5}">
                      <a16:colId xmlns:a16="http://schemas.microsoft.com/office/drawing/2014/main" val="826001594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678060928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497076047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411224658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80483009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051946416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920412675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75672165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724749187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18965151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1369348525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466995362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232929892"/>
                    </a:ext>
                  </a:extLst>
                </a:gridCol>
              </a:tblGrid>
              <a:tr h="443093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Средний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Хроно</a:t>
                      </a:r>
                      <a:endParaRPr sz="800" dirty="0"/>
                    </a:p>
                  </a:txBody>
                  <a:tcPr marL="7620" marR="7620" marT="7620" marB="0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553670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Промо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1083804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Имидж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2462439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Итого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295182"/>
                  </a:ext>
                </a:extLst>
              </a:tr>
              <a:tr h="1302427">
                <a:tc gridSpan="13"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113387"/>
                  </a:ext>
                </a:extLst>
              </a:tr>
              <a:tr h="443093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Средний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Хроно</a:t>
                      </a:r>
                      <a:endParaRPr sz="800" dirty="0"/>
                    </a:p>
                  </a:txBody>
                  <a:tcPr marL="7620" marR="7620" marT="7620" marB="0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1170745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Промо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lang="en-US" sz="800" b="1" i="0" u="none" strike="noStrike" dirty="0">
                        <a:solidFill>
                          <a:srgbClr val="BF9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2827230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Имидж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4782073"/>
                  </a:ext>
                </a:extLst>
              </a:tr>
              <a:tr h="228366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Итого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87538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006874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5" name="chart__magnit_duration_reg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15825178"/>
              </p:ext>
            </p:extLst>
          </p:nvPr>
        </p:nvGraphicFramePr>
        <p:xfrm>
          <a:off x="235059" y="3981626"/>
          <a:ext cx="5977976" cy="2608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18757" y="437342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(реклама офлайн магазинов, смешанная и доставки), Пятерочка, Магнит, Рег. ТВ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current_month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4" name="TextBox 3"/>
          <p:cNvSpPr txBox="1"/>
          <p:nvPr/>
        </p:nvSpPr>
        <p:spPr bwMode="auto">
          <a:xfrm>
            <a:off x="248656" y="6371306"/>
            <a:ext cx="1169468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Источник:</a:t>
            </a:r>
            <a:r>
              <a:rPr lang="en-US" dirty="0"/>
              <a:t> Mediascope</a:t>
            </a:r>
            <a:r>
              <a:rPr lang="ru-RU" dirty="0"/>
              <a:t>, </a:t>
            </a:r>
            <a:r>
              <a:rPr lang="en-GB" sz="900" dirty="0"/>
              <a:t>{</a:t>
            </a:r>
            <a:r>
              <a:rPr lang="en-GB" sz="900" dirty="0" err="1"/>
              <a:t>ly_first_month</a:t>
            </a:r>
            <a:r>
              <a:rPr lang="en-GB" sz="900" dirty="0"/>
              <a:t>} - {</a:t>
            </a:r>
            <a:r>
              <a:rPr lang="en-GB" sz="900" dirty="0" err="1"/>
              <a:t>cur_month</a:t>
            </a:r>
            <a:r>
              <a:rPr lang="en-GB" sz="900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</a:t>
            </a:r>
            <a:r>
              <a:rPr lang="ru-RU" dirty="0" err="1"/>
              <a:t>Рег.ТВ</a:t>
            </a:r>
            <a:r>
              <a:rPr lang="ru-RU" dirty="0"/>
              <a:t> (рег. </a:t>
            </a:r>
            <a:r>
              <a:rPr lang="en-US" dirty="0"/>
              <a:t>TRPs</a:t>
            </a:r>
            <a:r>
              <a:rPr lang="ru-RU" dirty="0"/>
              <a:t> </a:t>
            </a:r>
            <a:r>
              <a:rPr lang="ru-RU" dirty="0" err="1"/>
              <a:t>перевзвешены</a:t>
            </a:r>
            <a:r>
              <a:rPr lang="ru-RU" dirty="0"/>
              <a:t>); ; Ключевые конкуренты, Реклама оффлайн магазинов, Смешанная реклама и реклама Доставки включены</a:t>
            </a:r>
          </a:p>
        </p:txBody>
      </p:sp>
      <p:pic>
        <p:nvPicPr>
          <p:cNvPr id="6" name="Picture 9"/>
          <p:cNvPicPr>
            <a:picLocks noChangeAspect="1" noChangeArrowheads="1"/>
          </p:cNvPicPr>
          <p:nvPr/>
        </p:nvPicPr>
        <p:blipFill>
          <a:blip r:embed="rId4"/>
          <a:srcRect b="22341"/>
          <a:stretch/>
        </p:blipFill>
        <p:spPr bwMode="auto">
          <a:xfrm>
            <a:off x="272803" y="3764360"/>
            <a:ext cx="291908" cy="299052"/>
          </a:xfrm>
          <a:prstGeom prst="rect">
            <a:avLst/>
          </a:prstGeom>
          <a:noFill/>
        </p:spPr>
      </p:pic>
      <p:graphicFrame>
        <p:nvGraphicFramePr>
          <p:cNvPr id="9" name="chart__pyaterochka_duration_reg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5544003"/>
              </p:ext>
            </p:extLst>
          </p:nvPr>
        </p:nvGraphicFramePr>
        <p:xfrm>
          <a:off x="248655" y="1635751"/>
          <a:ext cx="5977975" cy="20860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11" name="Рисунок 113"/>
          <p:cNvPicPr>
            <a:picLocks noChangeAspect="1"/>
          </p:cNvPicPr>
          <p:nvPr/>
        </p:nvPicPr>
        <p:blipFill>
          <a:blip r:embed="rId6"/>
          <a:stretch/>
        </p:blipFill>
        <p:spPr bwMode="auto">
          <a:xfrm>
            <a:off x="56748" y="1479216"/>
            <a:ext cx="553917" cy="406188"/>
          </a:xfrm>
          <a:prstGeom prst="rect">
            <a:avLst/>
          </a:prstGeom>
        </p:spPr>
      </p:pic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E3D903B6-06DC-FE20-32D3-BD51C61B58B5}"/>
              </a:ext>
            </a:extLst>
          </p:cNvPr>
          <p:cNvSpPr/>
          <p:nvPr/>
        </p:nvSpPr>
        <p:spPr>
          <a:xfrm>
            <a:off x="11291207" y="2253343"/>
            <a:ext cx="665734" cy="3086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aphicFrame>
        <p:nvGraphicFramePr>
          <p:cNvPr id="7" name="table__reg_duration_table">
            <a:extLst>
              <a:ext uri="{FF2B5EF4-FFF2-40B4-BE49-F238E27FC236}">
                <a16:creationId xmlns:a16="http://schemas.microsoft.com/office/drawing/2014/main" id="{0197D836-893F-0C05-3960-9AD1896B88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602419"/>
              </p:ext>
            </p:extLst>
          </p:nvPr>
        </p:nvGraphicFramePr>
        <p:xfrm>
          <a:off x="6073979" y="2349388"/>
          <a:ext cx="5869357" cy="3351613"/>
        </p:xfrm>
        <a:graphic>
          <a:graphicData uri="http://schemas.openxmlformats.org/drawingml/2006/table">
            <a:tbl>
              <a:tblPr/>
              <a:tblGrid>
                <a:gridCol w="4514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225104221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624889928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04829793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4095958075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3967568263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2294164948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584504399"/>
                    </a:ext>
                  </a:extLst>
                </a:gridCol>
                <a:gridCol w="451489">
                  <a:extLst>
                    <a:ext uri="{9D8B030D-6E8A-4147-A177-3AD203B41FA5}">
                      <a16:colId xmlns:a16="http://schemas.microsoft.com/office/drawing/2014/main" val="1398781706"/>
                    </a:ext>
                  </a:extLst>
                </a:gridCol>
              </a:tblGrid>
              <a:tr h="41729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Средний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Хроно</a:t>
                      </a:r>
                      <a:endParaRPr sz="800" dirty="0"/>
                    </a:p>
                  </a:txBody>
                  <a:tcPr marL="7620" marR="7620" marT="7620" marB="0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Промо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Имидж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Итого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B05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endParaRPr kumimoji="0" sz="800" b="1" i="0" u="none" strike="noStrike" kern="0" cap="none" spc="0" normalizeH="0" baseline="0" dirty="0">
                        <a:ln>
                          <a:noFill/>
                        </a:ln>
                        <a:solidFill>
                          <a:srgbClr val="00B05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/>
                        <a:ea typeface="+mn-ea"/>
                        <a:cs typeface="Arial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E501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26599">
                <a:tc gridSpan="13"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</a:p>
                    <a:p>
                      <a:pPr algn="ctr">
                        <a:defRPr/>
                      </a:pP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 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12700" algn="ctr">
                      <a:noFill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729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Средний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Хроно</a:t>
                      </a:r>
                      <a:endParaRPr sz="800" dirty="0"/>
                    </a:p>
                  </a:txBody>
                  <a:tcPr marL="7620" marR="7620" marT="7620" marB="0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ru-RU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Промо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lang="en-US" sz="800" b="1" i="0" u="none" strike="noStrike" dirty="0">
                        <a:solidFill>
                          <a:srgbClr val="BF9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Имидж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bg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507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Итого</a:t>
                      </a:r>
                      <a:endParaRPr sz="800" dirty="0"/>
                    </a:p>
                  </a:txBody>
                  <a:tcPr marL="7620" marR="7620" marT="7620" marB="0" anchor="b">
                    <a:lnL w="12700" algn="ctr">
                      <a:noFill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BF9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cs typeface="Arial"/>
                        </a:rPr>
                        <a:t>-</a:t>
                      </a: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endParaRPr sz="8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358053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4" name="chart__all_retail_delivery_split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7096572"/>
              </p:ext>
            </p:extLst>
          </p:nvPr>
        </p:nvGraphicFramePr>
        <p:xfrm>
          <a:off x="156610" y="1204230"/>
          <a:ext cx="7263642" cy="29260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chart__all_retail_media_mix_by_brand">
            <a:extLst>
              <a:ext uri="{FF2B5EF4-FFF2-40B4-BE49-F238E27FC236}">
                <a16:creationId xmlns:a16="http://schemas.microsoft.com/office/drawing/2014/main" id="{84E94CCB-BA90-B8AB-1B62-0312C774F7B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28012917"/>
              </p:ext>
            </p:extLst>
          </p:nvPr>
        </p:nvGraphicFramePr>
        <p:xfrm>
          <a:off x="418756" y="3526146"/>
          <a:ext cx="7129357" cy="30714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357797" y="389827"/>
            <a:ext cx="10662684" cy="827248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0" name="TextBox 9"/>
          <p:cNvSpPr txBox="1"/>
          <p:nvPr/>
        </p:nvSpPr>
        <p:spPr bwMode="auto">
          <a:xfrm>
            <a:off x="19086" y="1266555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100" dirty="0">
                <a:solidFill>
                  <a:schemeClr val="bg1">
                    <a:lumMod val="50000"/>
                  </a:schemeClr>
                </a:solidFill>
              </a:rPr>
              <a:t>Млн. </a:t>
            </a:r>
            <a:r>
              <a:rPr lang="ru-RU" sz="1100" dirty="0" err="1">
                <a:solidFill>
                  <a:schemeClr val="bg1">
                    <a:lumMod val="50000"/>
                  </a:schemeClr>
                </a:solidFill>
              </a:rPr>
              <a:t>руб</a:t>
            </a:r>
            <a:endParaRPr lang="ru-RU" sz="11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TextBox 5"/>
          <p:cNvSpPr txBox="1"/>
          <p:nvPr/>
        </p:nvSpPr>
        <p:spPr bwMode="auto">
          <a:xfrm>
            <a:off x="19086" y="3694850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100">
                <a:solidFill>
                  <a:schemeClr val="bg1">
                    <a:lumMod val="50000"/>
                  </a:schemeClr>
                </a:solidFill>
              </a:rPr>
              <a:t>Млн. руб</a:t>
            </a:r>
          </a:p>
        </p:txBody>
      </p:sp>
      <p:sp>
        <p:nvSpPr>
          <p:cNvPr id="13" name="Footer Placeholder 3"/>
          <p:cNvSpPr txBox="1"/>
          <p:nvPr/>
        </p:nvSpPr>
        <p:spPr bwMode="auto">
          <a:xfrm>
            <a:off x="7719753" y="1340951"/>
            <a:ext cx="4120633" cy="4624326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sp>
        <p:nvSpPr>
          <p:cNvPr id="16" name="TextBox 15"/>
          <p:cNvSpPr txBox="1"/>
          <p:nvPr/>
        </p:nvSpPr>
        <p:spPr bwMode="auto">
          <a:xfrm>
            <a:off x="284471" y="6389818"/>
            <a:ext cx="1148877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СМИ, Оффлайн медиа,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GB" dirty="0"/>
              <a:t>{jan_current_month_1}</a:t>
            </a:r>
            <a:r>
              <a:rPr lang="en-US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Ритейл вкл. Доставку. Другие: </a:t>
            </a:r>
            <a:r>
              <a:rPr lang="en-US" dirty="0"/>
              <a:t>{brands}</a:t>
            </a:r>
            <a:endParaRPr lang="ru-RU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1" y="0"/>
            <a:ext cx="10780890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(реклама офлайн магазинов, смешанная и доставки), </a:t>
            </a:r>
            <a:r>
              <a:rPr lang="ru-RU" sz="1600" dirty="0" err="1"/>
              <a:t>осн</a:t>
            </a:r>
            <a:r>
              <a:rPr lang="ru-RU" sz="1600" dirty="0"/>
              <a:t>. бренды. Все медиа. </a:t>
            </a:r>
            <a:r>
              <a:rPr lang="en-GB" sz="1600" dirty="0">
                <a:solidFill>
                  <a:srgbClr val="FFFF00"/>
                </a:solidFill>
              </a:rPr>
              <a:t>{jan_current_month_1}</a:t>
            </a:r>
            <a:endParaRPr lang="ru-RU" sz="1600" dirty="0">
              <a:solidFill>
                <a:srgbClr val="FFFF00"/>
              </a:solidFill>
            </a:endParaRPr>
          </a:p>
        </p:txBody>
      </p:sp>
      <p:graphicFrame>
        <p:nvGraphicFramePr>
          <p:cNvPr id="17" name="table__all_retail_media_mix_labels">
            <a:extLst>
              <a:ext uri="{FF2B5EF4-FFF2-40B4-BE49-F238E27FC236}">
                <a16:creationId xmlns:a16="http://schemas.microsoft.com/office/drawing/2014/main" id="{1303DA5B-E751-2375-28AD-B46E477640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801178"/>
              </p:ext>
            </p:extLst>
          </p:nvPr>
        </p:nvGraphicFramePr>
        <p:xfrm>
          <a:off x="681198" y="1509576"/>
          <a:ext cx="6739050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9270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580765096"/>
                    </a:ext>
                  </a:extLst>
                </a:gridCol>
                <a:gridCol w="449270">
                  <a:extLst>
                    <a:ext uri="{9D8B030D-6E8A-4147-A177-3AD203B41FA5}">
                      <a16:colId xmlns:a16="http://schemas.microsoft.com/office/drawing/2014/main" val="2502036317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5" name="chart__delivery_type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40462937"/>
              </p:ext>
            </p:extLst>
          </p:nvPr>
        </p:nvGraphicFramePr>
        <p:xfrm>
          <a:off x="216430" y="2040576"/>
          <a:ext cx="11790188" cy="28536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2" name="chart__delivery_type_dynamic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26262170"/>
              </p:ext>
            </p:extLst>
          </p:nvPr>
        </p:nvGraphicFramePr>
        <p:xfrm>
          <a:off x="3322865" y="2217981"/>
          <a:ext cx="8683754" cy="24505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285049" y="202257"/>
            <a:ext cx="10662684" cy="1416548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3" name="TextBox 2"/>
          <p:cNvSpPr txBox="1"/>
          <p:nvPr/>
        </p:nvSpPr>
        <p:spPr bwMode="auto">
          <a:xfrm>
            <a:off x="185382" y="6493837"/>
            <a:ext cx="1158786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</a:t>
            </a:r>
            <a:r>
              <a:rPr lang="en-US" dirty="0"/>
              <a:t>, </a:t>
            </a:r>
            <a:r>
              <a:rPr lang="ru-RU" dirty="0"/>
              <a:t>Оффлайн медиа</a:t>
            </a:r>
            <a:r>
              <a:rPr lang="en-US" dirty="0"/>
              <a:t>,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GB" dirty="0"/>
              <a:t>{jan_current_month_1}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</a:t>
            </a:r>
            <a:r>
              <a:rPr lang="en-US" dirty="0"/>
              <a:t>, </a:t>
            </a:r>
            <a:r>
              <a:rPr lang="ru-RU" dirty="0"/>
              <a:t>Ритейл вкл. Доставку и Ритейл без Доставки</a:t>
            </a:r>
            <a:endParaRPr dirty="0"/>
          </a:p>
        </p:txBody>
      </p:sp>
      <p:sp>
        <p:nvSpPr>
          <p:cNvPr id="6" name="TextBox 5"/>
          <p:cNvSpPr txBox="1"/>
          <p:nvPr/>
        </p:nvSpPr>
        <p:spPr bwMode="auto">
          <a:xfrm>
            <a:off x="408872" y="2132330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100">
                <a:solidFill>
                  <a:schemeClr val="tx1">
                    <a:lumMod val="50000"/>
                    <a:lumOff val="50000"/>
                  </a:schemeClr>
                </a:solidFill>
              </a:rPr>
              <a:t>Млн. руб</a:t>
            </a:r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1" y="0"/>
            <a:ext cx="10780890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(реклама офлайн магазинов, смешанная и доставки), </a:t>
            </a:r>
            <a:r>
              <a:rPr lang="ru-RU" sz="1600" dirty="0" err="1"/>
              <a:t>осн</a:t>
            </a:r>
            <a:r>
              <a:rPr lang="ru-RU" sz="1600" dirty="0"/>
              <a:t>. бренды. Все медиа. </a:t>
            </a:r>
            <a:r>
              <a:rPr lang="en-GB" sz="1600" dirty="0">
                <a:solidFill>
                  <a:srgbClr val="FFFF00"/>
                </a:solidFill>
              </a:rPr>
              <a:t>{jan_current_month_1}</a:t>
            </a:r>
            <a:endParaRPr lang="ru-RU" sz="1600" dirty="0">
              <a:solidFill>
                <a:srgbClr val="FFFF00"/>
              </a:solidFill>
            </a:endParaRPr>
          </a:p>
        </p:txBody>
      </p:sp>
      <p:sp>
        <p:nvSpPr>
          <p:cNvPr id="19" name="Footer Placeholder 3"/>
          <p:cNvSpPr txBox="1"/>
          <p:nvPr/>
        </p:nvSpPr>
        <p:spPr bwMode="auto">
          <a:xfrm>
            <a:off x="185382" y="5117068"/>
            <a:ext cx="11790188" cy="1778874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</a:p>
        </p:txBody>
      </p:sp>
      <p:sp>
        <p:nvSpPr>
          <p:cNvPr id="9" name="TextBox 8"/>
          <p:cNvSpPr txBox="1"/>
          <p:nvPr/>
        </p:nvSpPr>
        <p:spPr bwMode="auto">
          <a:xfrm>
            <a:off x="2008638" y="2091031"/>
            <a:ext cx="66075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1400" b="1" dirty="0">
                <a:solidFill>
                  <a:srgbClr val="FF0000"/>
                </a:solidFill>
              </a:rPr>
              <a:t>{del1}</a:t>
            </a:r>
            <a:endParaRPr lang="ru-RU" sz="1400" b="1" dirty="0">
              <a:solidFill>
                <a:srgbClr val="FF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 bwMode="auto">
          <a:xfrm>
            <a:off x="717853" y="1619597"/>
            <a:ext cx="4064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ru-RU" sz="1200" b="1" dirty="0"/>
              <a:t>Распределение (</a:t>
            </a:r>
            <a:r>
              <a:rPr lang="en-US" sz="1200" b="1" dirty="0"/>
              <a:t>SOS</a:t>
            </a:r>
            <a:r>
              <a:rPr lang="ru-RU" sz="1200" b="1" dirty="0"/>
              <a:t>) рекламных инвестиций </a:t>
            </a:r>
            <a:r>
              <a:rPr lang="en-US" sz="1200" b="1" dirty="0"/>
              <a:t>Food Retail</a:t>
            </a:r>
            <a:r>
              <a:rPr lang="ru-RU" sz="1200" b="1" dirty="0"/>
              <a:t> по типу коммуникации</a:t>
            </a:r>
            <a:endParaRPr sz="1600" b="1" dirty="0"/>
          </a:p>
        </p:txBody>
      </p:sp>
      <p:sp>
        <p:nvSpPr>
          <p:cNvPr id="12" name="TextBox 11"/>
          <p:cNvSpPr txBox="1"/>
          <p:nvPr/>
        </p:nvSpPr>
        <p:spPr bwMode="auto">
          <a:xfrm>
            <a:off x="6180425" y="1619597"/>
            <a:ext cx="5126723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400"/>
            </a:lvl1pPr>
          </a:lstStyle>
          <a:p>
            <a:pPr>
              <a:defRPr/>
            </a:pPr>
            <a:r>
              <a:rPr lang="ru-RU" sz="1200" b="1" dirty="0"/>
              <a:t>Распределение рекламных бюджетов по типу коммуникации</a:t>
            </a:r>
            <a:endParaRPr sz="1200" b="1" dirty="0"/>
          </a:p>
          <a:p>
            <a:pPr>
              <a:defRPr/>
            </a:pPr>
            <a:r>
              <a:rPr lang="ru-RU" sz="1200" b="1" dirty="0"/>
              <a:t>у основных брендов </a:t>
            </a:r>
            <a:r>
              <a:rPr lang="en-US" sz="1200" b="1" dirty="0"/>
              <a:t>({jan_current_month_1}</a:t>
            </a:r>
            <a:r>
              <a:rPr lang="ru-RU" sz="1200" b="1" dirty="0"/>
              <a:t> </a:t>
            </a:r>
            <a:r>
              <a:rPr lang="en-US" sz="1200" b="1" dirty="0"/>
              <a:t>vs </a:t>
            </a:r>
            <a:r>
              <a:rPr lang="en-GB" sz="1200" b="1" dirty="0"/>
              <a:t>{</a:t>
            </a:r>
            <a:r>
              <a:rPr lang="en-GB" sz="1200" b="1" dirty="0" err="1"/>
              <a:t>jan_ly_month</a:t>
            </a:r>
            <a:r>
              <a:rPr lang="ru-RU" sz="1200" b="1" dirty="0"/>
              <a:t>_1</a:t>
            </a:r>
            <a:r>
              <a:rPr lang="en-GB" sz="1200" b="1" dirty="0"/>
              <a:t>}</a:t>
            </a:r>
            <a:r>
              <a:rPr lang="en-US" sz="1200" b="1" dirty="0"/>
              <a:t>)</a:t>
            </a:r>
            <a:endParaRPr lang="ru-RU" sz="1200" b="1" dirty="0"/>
          </a:p>
          <a:p>
            <a:pPr>
              <a:defRPr/>
            </a:pPr>
            <a:endParaRPr lang="ru-RU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 bwMode="auto"/>
        <p:txBody>
          <a:bodyPr anchor="ctr">
            <a:normAutofit/>
          </a:bodyPr>
          <a:lstStyle/>
          <a:p>
            <a:pPr>
              <a:defRPr/>
            </a:pPr>
            <a:r>
              <a:rPr lang="ru-RU" sz="6000"/>
              <a:t>3</a:t>
            </a:r>
            <a:r>
              <a:rPr lang="ru-RU" sz="6000">
                <a:latin typeface="5ka Sans Design Black"/>
                <a:ea typeface="5ka Sans Design Black"/>
                <a:cs typeface="5ka Sans Design Black"/>
              </a:rPr>
              <a:t>. </a:t>
            </a:r>
            <a:r>
              <a:rPr lang="ru-RU" sz="6000"/>
              <a:t>Реклама офлайн магазинов и смешанная реклама </a:t>
            </a:r>
            <a:endParaRPr/>
          </a:p>
        </p:txBody>
      </p:sp>
      <p:sp>
        <p:nvSpPr>
          <p:cNvPr id="8" name="Текст 7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{</a:t>
            </a:r>
            <a:r>
              <a:rPr lang="en-GB" b="1" dirty="0" err="1">
                <a:solidFill>
                  <a:schemeClr val="accent6">
                    <a:lumMod val="75000"/>
                  </a:schemeClr>
                </a:solidFill>
              </a:rPr>
              <a:t>current_month</a:t>
            </a: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}</a:t>
            </a:r>
            <a:endParaRPr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0" y="4039986"/>
            <a:ext cx="12192000" cy="15794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4176179"/>
            <a:ext cx="12192000" cy="15794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2" name="chart__offline_brand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26194710"/>
              </p:ext>
            </p:extLst>
          </p:nvPr>
        </p:nvGraphicFramePr>
        <p:xfrm>
          <a:off x="0" y="1031543"/>
          <a:ext cx="7847635" cy="29978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58477" y="337372"/>
            <a:ext cx="10515600" cy="766989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-1" y="1"/>
            <a:ext cx="10780890" cy="386802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без Доставки, основные бренды. ТВ (</a:t>
            </a:r>
            <a:r>
              <a:rPr lang="ru-RU" sz="1600" dirty="0" err="1"/>
              <a:t>Нац+Рег</a:t>
            </a:r>
            <a:r>
              <a:rPr lang="ru-RU" sz="1600" dirty="0"/>
              <a:t>, без </a:t>
            </a:r>
            <a:r>
              <a:rPr lang="ru-RU" sz="1600" dirty="0" err="1"/>
              <a:t>Спонс</a:t>
            </a:r>
            <a:r>
              <a:rPr lang="ru-RU" sz="1600" dirty="0"/>
              <a:t>)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7" name="TextBox 6"/>
          <p:cNvSpPr txBox="1"/>
          <p:nvPr/>
        </p:nvSpPr>
        <p:spPr bwMode="auto">
          <a:xfrm>
            <a:off x="202984" y="6571883"/>
            <a:ext cx="1169468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US" dirty="0"/>
              <a:t>{</a:t>
            </a:r>
            <a:r>
              <a:rPr lang="en-US" dirty="0" err="1"/>
              <a:t>ly_first_month</a:t>
            </a:r>
            <a:r>
              <a:rPr lang="en-US" dirty="0"/>
              <a:t>} - {</a:t>
            </a:r>
            <a:r>
              <a:rPr lang="en-US" dirty="0" err="1"/>
              <a:t>cur_month</a:t>
            </a:r>
            <a:r>
              <a:rPr lang="en-US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спонсорства); </a:t>
            </a:r>
            <a:r>
              <a:rPr lang="en-US" dirty="0"/>
              <a:t>Food Retail </a:t>
            </a:r>
            <a:r>
              <a:rPr lang="ru-RU" dirty="0"/>
              <a:t>вкл. Доставку, Ключевые конкуренты, Другие:</a:t>
            </a:r>
            <a:r>
              <a:rPr lang="en-US" dirty="0"/>
              <a:t> </a:t>
            </a:r>
            <a:r>
              <a:rPr lang="en-GB" dirty="0"/>
              <a:t>{brands}</a:t>
            </a:r>
            <a:endParaRPr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61784C-C07E-53CA-DFE8-64AB23D50830}"/>
              </a:ext>
            </a:extLst>
          </p:cNvPr>
          <p:cNvSpPr txBox="1"/>
          <p:nvPr/>
        </p:nvSpPr>
        <p:spPr bwMode="auto">
          <a:xfrm>
            <a:off x="7571805" y="1430163"/>
            <a:ext cx="4170106" cy="2693045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graphicFrame>
        <p:nvGraphicFramePr>
          <p:cNvPr id="4" name="chart__offline_invest_dynamic">
            <a:extLst>
              <a:ext uri="{FF2B5EF4-FFF2-40B4-BE49-F238E27FC236}">
                <a16:creationId xmlns:a16="http://schemas.microsoft.com/office/drawing/2014/main" id="{47CFFA2C-649E-7D14-26CC-AAEFBD7994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38521504"/>
              </p:ext>
            </p:extLst>
          </p:nvPr>
        </p:nvGraphicFramePr>
        <p:xfrm>
          <a:off x="111967" y="4029385"/>
          <a:ext cx="7194772" cy="2465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chart__offline_tvr_dynamic">
            <a:extLst>
              <a:ext uri="{FF2B5EF4-FFF2-40B4-BE49-F238E27FC236}">
                <a16:creationId xmlns:a16="http://schemas.microsoft.com/office/drawing/2014/main" id="{0B1C2FB0-DF9C-4EBB-1E66-E1518F97B59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95835767"/>
              </p:ext>
            </p:extLst>
          </p:nvPr>
        </p:nvGraphicFramePr>
        <p:xfrm>
          <a:off x="6035039" y="4029385"/>
          <a:ext cx="6228081" cy="2465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Прямоугольник 20">
            <a:extLst>
              <a:ext uri="{FF2B5EF4-FFF2-40B4-BE49-F238E27FC236}">
                <a16:creationId xmlns:a16="http://schemas.microsoft.com/office/drawing/2014/main" id="{1842F619-1A00-B271-4A42-272ED8A68986}"/>
              </a:ext>
            </a:extLst>
          </p:cNvPr>
          <p:cNvSpPr/>
          <p:nvPr/>
        </p:nvSpPr>
        <p:spPr bwMode="auto">
          <a:xfrm>
            <a:off x="3141133" y="4449452"/>
            <a:ext cx="2063037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2618C63-1790-57E9-928A-6DDCE1CFB9AA}"/>
              </a:ext>
            </a:extLst>
          </p:cNvPr>
          <p:cNvSpPr txBox="1"/>
          <p:nvPr/>
        </p:nvSpPr>
        <p:spPr bwMode="auto">
          <a:xfrm>
            <a:off x="3750844" y="4234561"/>
            <a:ext cx="7732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sp>
        <p:nvSpPr>
          <p:cNvPr id="23" name="Прямоугольник 22">
            <a:extLst>
              <a:ext uri="{FF2B5EF4-FFF2-40B4-BE49-F238E27FC236}">
                <a16:creationId xmlns:a16="http://schemas.microsoft.com/office/drawing/2014/main" id="{81564FEE-57B1-96D5-6332-84584CED9D15}"/>
              </a:ext>
            </a:extLst>
          </p:cNvPr>
          <p:cNvSpPr/>
          <p:nvPr/>
        </p:nvSpPr>
        <p:spPr bwMode="auto">
          <a:xfrm>
            <a:off x="9931400" y="4590502"/>
            <a:ext cx="1953828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6A27B8F-66C2-AB6B-3BF9-68BCFD0BE5B2}"/>
              </a:ext>
            </a:extLst>
          </p:cNvPr>
          <p:cNvSpPr txBox="1"/>
          <p:nvPr/>
        </p:nvSpPr>
        <p:spPr bwMode="auto">
          <a:xfrm>
            <a:off x="10589003" y="4365366"/>
            <a:ext cx="7732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graphicFrame>
        <p:nvGraphicFramePr>
          <p:cNvPr id="25" name="table__offline_brand_yoy_labels">
            <a:extLst>
              <a:ext uri="{FF2B5EF4-FFF2-40B4-BE49-F238E27FC236}">
                <a16:creationId xmlns:a16="http://schemas.microsoft.com/office/drawing/2014/main" id="{C1AB8D74-22F1-68EF-1316-4A35EA26F3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18131"/>
              </p:ext>
            </p:extLst>
          </p:nvPr>
        </p:nvGraphicFramePr>
        <p:xfrm>
          <a:off x="3241963" y="1505261"/>
          <a:ext cx="2377441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131">
                  <a:extLst>
                    <a:ext uri="{9D8B030D-6E8A-4147-A177-3AD203B41FA5}">
                      <a16:colId xmlns:a16="http://schemas.microsoft.com/office/drawing/2014/main" val="3407914027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827973181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34233818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2768102473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3961096344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246962975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701797752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3025563876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17237034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37826346"/>
                    </a:ext>
                  </a:extLst>
                </a:gridCol>
                <a:gridCol w="216131">
                  <a:extLst>
                    <a:ext uri="{9D8B030D-6E8A-4147-A177-3AD203B41FA5}">
                      <a16:colId xmlns:a16="http://schemas.microsoft.com/office/drawing/2014/main" val="1518393871"/>
                    </a:ext>
                  </a:extLst>
                </a:gridCol>
              </a:tblGrid>
              <a:tr h="224673"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9533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002672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4" name="chart__offline_delivery_split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79426337"/>
              </p:ext>
            </p:extLst>
          </p:nvPr>
        </p:nvGraphicFramePr>
        <p:xfrm>
          <a:off x="350069" y="1378910"/>
          <a:ext cx="6764120" cy="26614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9" name="chart__offline_media_mix_by_brand">
            <a:extLst>
              <a:ext uri="{FF2B5EF4-FFF2-40B4-BE49-F238E27FC236}">
                <a16:creationId xmlns:a16="http://schemas.microsoft.com/office/drawing/2014/main" id="{33AF74E1-DAAA-864E-60A1-0FC24D701F8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91906618"/>
              </p:ext>
            </p:extLst>
          </p:nvPr>
        </p:nvGraphicFramePr>
        <p:xfrm>
          <a:off x="418756" y="3603078"/>
          <a:ext cx="7129357" cy="29944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13100" y="405566"/>
            <a:ext cx="10282499" cy="827248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0" name="TextBox 9"/>
          <p:cNvSpPr txBox="1"/>
          <p:nvPr/>
        </p:nvSpPr>
        <p:spPr bwMode="auto">
          <a:xfrm>
            <a:off x="165493" y="1490822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100">
                <a:solidFill>
                  <a:schemeClr val="bg1">
                    <a:lumMod val="50000"/>
                  </a:schemeClr>
                </a:solidFill>
              </a:rPr>
              <a:t>Млн. руб</a:t>
            </a:r>
          </a:p>
        </p:txBody>
      </p:sp>
      <p:sp>
        <p:nvSpPr>
          <p:cNvPr id="13" name="Footer Placeholder 3"/>
          <p:cNvSpPr txBox="1"/>
          <p:nvPr/>
        </p:nvSpPr>
        <p:spPr bwMode="auto">
          <a:xfrm>
            <a:off x="7489952" y="1313379"/>
            <a:ext cx="4107881" cy="4913801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</a:p>
        </p:txBody>
      </p:sp>
      <p:sp>
        <p:nvSpPr>
          <p:cNvPr id="16" name="TextBox 15"/>
          <p:cNvSpPr txBox="1"/>
          <p:nvPr/>
        </p:nvSpPr>
        <p:spPr bwMode="auto">
          <a:xfrm>
            <a:off x="165493" y="6388311"/>
            <a:ext cx="1171329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</a:t>
            </a:r>
            <a:r>
              <a:rPr lang="en-US" dirty="0"/>
              <a:t>, </a:t>
            </a:r>
            <a:r>
              <a:rPr lang="ru-RU" dirty="0"/>
              <a:t>Оффлайн медиа</a:t>
            </a:r>
            <a:r>
              <a:rPr lang="en-US" dirty="0"/>
              <a:t>,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GB" dirty="0"/>
              <a:t>{jan_current_month_1}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Коммуникация продвижения магазинов и смешанная коммуникация</a:t>
            </a:r>
            <a:endParaRPr lang="en-US" dirty="0"/>
          </a:p>
          <a:p>
            <a:r>
              <a:rPr lang="ru-RU" dirty="0"/>
              <a:t>Другие: </a:t>
            </a:r>
            <a:r>
              <a:rPr lang="en-US" dirty="0"/>
              <a:t>{brands}</a:t>
            </a:r>
            <a:endParaRPr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2" y="0"/>
            <a:ext cx="10795601" cy="33936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(без Доставки), основные бренды, все медиа. </a:t>
            </a:r>
            <a:r>
              <a:rPr lang="en-GB" sz="1600" dirty="0">
                <a:solidFill>
                  <a:srgbClr val="FFFF00"/>
                </a:solidFill>
              </a:rPr>
              <a:t>{jan_current_month_1}</a:t>
            </a:r>
            <a:endParaRPr lang="ru-RU" sz="1600" dirty="0"/>
          </a:p>
        </p:txBody>
      </p:sp>
      <p:sp>
        <p:nvSpPr>
          <p:cNvPr id="6" name="TextBox 5"/>
          <p:cNvSpPr txBox="1"/>
          <p:nvPr/>
        </p:nvSpPr>
        <p:spPr bwMode="auto">
          <a:xfrm>
            <a:off x="54777" y="3616833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100">
                <a:solidFill>
                  <a:schemeClr val="bg1">
                    <a:lumMod val="50000"/>
                  </a:schemeClr>
                </a:solidFill>
              </a:rPr>
              <a:t>Млн. руб</a:t>
            </a:r>
          </a:p>
        </p:txBody>
      </p:sp>
      <p:graphicFrame>
        <p:nvGraphicFramePr>
          <p:cNvPr id="20" name="table__offline_media_mix_labels">
            <a:extLst>
              <a:ext uri="{FF2B5EF4-FFF2-40B4-BE49-F238E27FC236}">
                <a16:creationId xmlns:a16="http://schemas.microsoft.com/office/drawing/2014/main" id="{85E22BCB-B6F3-1BF0-19F0-2DF01C9315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300316"/>
              </p:ext>
            </p:extLst>
          </p:nvPr>
        </p:nvGraphicFramePr>
        <p:xfrm>
          <a:off x="853476" y="1473338"/>
          <a:ext cx="602547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3498">
                  <a:extLst>
                    <a:ext uri="{9D8B030D-6E8A-4147-A177-3AD203B41FA5}">
                      <a16:colId xmlns:a16="http://schemas.microsoft.com/office/drawing/2014/main" val="2867437024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2054547521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3544048423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1315455271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2438295813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3254160213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2711305366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966831670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1199098788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1335253762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1356134703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2660603595"/>
                    </a:ext>
                  </a:extLst>
                </a:gridCol>
                <a:gridCol w="463498">
                  <a:extLst>
                    <a:ext uri="{9D8B030D-6E8A-4147-A177-3AD203B41FA5}">
                      <a16:colId xmlns:a16="http://schemas.microsoft.com/office/drawing/2014/main" val="457827149"/>
                    </a:ext>
                  </a:extLst>
                </a:gridCol>
              </a:tblGrid>
              <a:tr h="122904"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alpha val="0"/>
                          </a:scheme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alpha val="0"/>
                            </a:prstClr>
                          </a:solidFill>
                          <a:effectLst/>
                          <a:uLnTx/>
                          <a:uFillTx/>
                          <a:latin typeface="5ka Sans Design"/>
                          <a:ea typeface="5ka Sans Design"/>
                          <a:cs typeface="5ka Sans Design"/>
                        </a:rPr>
                        <a:t>-</a:t>
                      </a:r>
                      <a:endParaRPr kumimoji="0" 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alpha val="0"/>
                          </a:prstClr>
                        </a:solidFill>
                        <a:effectLst/>
                        <a:uLnTx/>
                        <a:uFillTx/>
                        <a:latin typeface="Aptos"/>
                        <a:cs typeface="Arial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22624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" name="Заголовок 10"/>
          <p:cNvSpPr>
            <a:spLocks noGrp="1"/>
          </p:cNvSpPr>
          <p:nvPr>
            <p:ph type="title"/>
          </p:nvPr>
        </p:nvSpPr>
        <p:spPr bwMode="auto">
          <a:xfrm>
            <a:off x="436418" y="339365"/>
            <a:ext cx="10479938" cy="1162056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5" name="TextBox 14"/>
          <p:cNvSpPr txBox="1"/>
          <p:nvPr/>
        </p:nvSpPr>
        <p:spPr bwMode="auto">
          <a:xfrm>
            <a:off x="202984" y="6435646"/>
            <a:ext cx="1169468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jan_current_month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</a:t>
            </a:r>
            <a:r>
              <a:rPr lang="en-US" dirty="0"/>
              <a:t>+</a:t>
            </a:r>
            <a:r>
              <a:rPr lang="ru-RU" dirty="0" err="1"/>
              <a:t>Спонс+Рег.ТВ</a:t>
            </a:r>
            <a:r>
              <a:rPr lang="ru-RU" dirty="0"/>
              <a:t> (рег. </a:t>
            </a:r>
            <a:r>
              <a:rPr lang="en-US" dirty="0"/>
              <a:t>TRPs</a:t>
            </a:r>
            <a:r>
              <a:rPr lang="ru-RU" dirty="0"/>
              <a:t> пересчитаны на Россия 0+); </a:t>
            </a:r>
            <a:r>
              <a:rPr lang="en-US" dirty="0"/>
              <a:t>Food Retail </a:t>
            </a:r>
            <a:r>
              <a:rPr lang="ru-RU" dirty="0"/>
              <a:t>без Доставки, Ключевые конкуренты, внедомашнее ТВ смотрение не включено</a:t>
            </a:r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2" y="0"/>
            <a:ext cx="10795601" cy="33936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(без Доставки), основные бренды. ТВ (нац., рег., спонсорство).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current_month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graphicFrame>
        <p:nvGraphicFramePr>
          <p:cNvPr id="22" name="chart__offline_tv_nat_reg_sov_cur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44671891"/>
              </p:ext>
            </p:extLst>
          </p:nvPr>
        </p:nvGraphicFramePr>
        <p:xfrm>
          <a:off x="0" y="1840786"/>
          <a:ext cx="12191999" cy="37998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3" name="chart__offline_tv_nat_reg_sov_din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13041306"/>
              </p:ext>
            </p:extLst>
          </p:nvPr>
        </p:nvGraphicFramePr>
        <p:xfrm>
          <a:off x="4772297" y="1840786"/>
          <a:ext cx="6863322" cy="38459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77176" y="349762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graphicFrame>
        <p:nvGraphicFramePr>
          <p:cNvPr id="3" name="chart__offline_aww_city_pyaterochka_nat_magnit">
            <a:extLst>
              <a:ext uri="{FF2B5EF4-FFF2-40B4-BE49-F238E27FC236}">
                <a16:creationId xmlns:a16="http://schemas.microsoft.com/office/drawing/2014/main" id="{E554AA5F-147F-563F-B2DB-4BEA8575CCF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96765903"/>
              </p:ext>
            </p:extLst>
          </p:nvPr>
        </p:nvGraphicFramePr>
        <p:xfrm>
          <a:off x="477176" y="1569156"/>
          <a:ext cx="10795601" cy="40414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EB2C90A9-DFC8-3CFA-861F-9A81C858C3CA}"/>
              </a:ext>
            </a:extLst>
          </p:cNvPr>
          <p:cNvSpPr txBox="1"/>
          <p:nvPr/>
        </p:nvSpPr>
        <p:spPr bwMode="auto">
          <a:xfrm>
            <a:off x="10504170" y="1776793"/>
            <a:ext cx="8242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1000" dirty="0"/>
              <a:t>AWW, TRPs</a:t>
            </a:r>
            <a:endParaRPr lang="ru-RU" sz="1000" dirty="0"/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1898192A-0B0E-5E3C-5EF4-7BA5D89651C3}"/>
              </a:ext>
            </a:extLst>
          </p:cNvPr>
          <p:cNvSpPr/>
          <p:nvPr/>
        </p:nvSpPr>
        <p:spPr bwMode="auto">
          <a:xfrm>
            <a:off x="-2" y="0"/>
            <a:ext cx="10795601" cy="33936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(без Доставки), основные бренды. </a:t>
            </a:r>
            <a:r>
              <a:rPr lang="ru-RU" sz="1600" dirty="0" err="1"/>
              <a:t>Нац</a:t>
            </a:r>
            <a:r>
              <a:rPr lang="ru-RU" sz="1600" dirty="0"/>
              <a:t> ТВ (доставка по городам).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jan_current_month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962E272-9F50-52A8-3435-2B553953BB4D}"/>
              </a:ext>
            </a:extLst>
          </p:cNvPr>
          <p:cNvSpPr txBox="1"/>
          <p:nvPr/>
        </p:nvSpPr>
        <p:spPr bwMode="auto">
          <a:xfrm>
            <a:off x="202984" y="6435646"/>
            <a:ext cx="1169468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jan_current_month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</a:t>
            </a:r>
            <a:r>
              <a:rPr lang="ru-RU" dirty="0" err="1"/>
              <a:t>Нац.ТВ</a:t>
            </a:r>
            <a:r>
              <a:rPr lang="ru-RU" dirty="0"/>
              <a:t> (доставка в города); </a:t>
            </a:r>
            <a:r>
              <a:rPr lang="en-US" dirty="0"/>
              <a:t>Food Retail </a:t>
            </a:r>
            <a:r>
              <a:rPr lang="ru-RU" dirty="0"/>
              <a:t>без Доставки, Ключевые конкуренты, внедомашнее ТВ смотрение не включено, </a:t>
            </a:r>
            <a:r>
              <a:rPr lang="en-US" dirty="0"/>
              <a:t>AWW – average weekly weight</a:t>
            </a:r>
            <a:endParaRPr lang="ru-RU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703DAD7-5812-9577-3023-AD0D6086D23A}"/>
              </a:ext>
            </a:extLst>
          </p:cNvPr>
          <p:cNvSpPr txBox="1"/>
          <p:nvPr/>
        </p:nvSpPr>
        <p:spPr>
          <a:xfrm>
            <a:off x="731521" y="5288844"/>
            <a:ext cx="10983304" cy="923330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2143170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77176" y="349762"/>
            <a:ext cx="10515600" cy="132556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2" y="0"/>
            <a:ext cx="10795601" cy="33936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(без Доставки), основные бренды. </a:t>
            </a:r>
            <a:r>
              <a:rPr lang="ru-RU" sz="1600" dirty="0" err="1"/>
              <a:t>Рег</a:t>
            </a:r>
            <a:r>
              <a:rPr lang="ru-RU" sz="1600" dirty="0"/>
              <a:t> ТВ по городам.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jan_current_month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graphicFrame>
        <p:nvGraphicFramePr>
          <p:cNvPr id="5" name="chart__offline_aww_city_pyaterochka_magnit_reg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82793570"/>
              </p:ext>
            </p:extLst>
          </p:nvPr>
        </p:nvGraphicFramePr>
        <p:xfrm>
          <a:off x="477176" y="1569156"/>
          <a:ext cx="10795601" cy="40414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/>
          <p:cNvSpPr txBox="1"/>
          <p:nvPr/>
        </p:nvSpPr>
        <p:spPr bwMode="auto">
          <a:xfrm>
            <a:off x="10580643" y="1791847"/>
            <a:ext cx="8242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1000" dirty="0"/>
              <a:t>AWW, TRPs</a:t>
            </a:r>
            <a:endParaRPr lang="ru-RU" sz="1000" dirty="0"/>
          </a:p>
        </p:txBody>
      </p:sp>
      <p:sp>
        <p:nvSpPr>
          <p:cNvPr id="8" name="TextBox 7"/>
          <p:cNvSpPr txBox="1"/>
          <p:nvPr/>
        </p:nvSpPr>
        <p:spPr bwMode="auto">
          <a:xfrm>
            <a:off x="202984" y="6435646"/>
            <a:ext cx="11694686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 sz="1050">
                <a:solidFill>
                  <a:schemeClr val="bg1">
                    <a:lumMod val="50000"/>
                  </a:schemeClr>
                </a:solidFill>
                <a:latin typeface="Arial"/>
                <a:cs typeface="Arial"/>
              </a:defRPr>
            </a:lvl1pPr>
          </a:lstStyle>
          <a:p>
            <a:pPr defTabSz="228578">
              <a:defRPr/>
            </a:pP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Источник</a:t>
            </a:r>
            <a:r>
              <a:rPr lang="en-US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sz="105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Mediascope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en-GB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{</a:t>
            </a:r>
            <a:r>
              <a:rPr lang="en-GB" sz="105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jan_current_month</a:t>
            </a:r>
            <a:r>
              <a:rPr lang="en-GB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}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en-US" sz="1050" dirty="0">
                <a:solidFill>
                  <a:schemeClr val="tx1">
                    <a:lumMod val="50000"/>
                    <a:lumOff val="50000"/>
                  </a:schemeClr>
                </a:solidFill>
                <a:ea typeface="5ka Sans Design"/>
                <a:cs typeface="5ka Sans Design"/>
              </a:rPr>
              <a:t>TRP’s all 18+ 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ea typeface="5ka Sans Design"/>
                <a:cs typeface="5ka Sans Design"/>
              </a:rPr>
              <a:t>, 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Рег.ТВ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(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доставка в города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); </a:t>
            </a:r>
            <a:r>
              <a:rPr lang="en-US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Food Retail 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без Доставки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ea typeface="5ka Sans Design"/>
                <a:cs typeface="5ka Sans Design"/>
              </a:rPr>
              <a:t>Ключевые конкуренты, внедомашнее ТВ смотрение не включено, </a:t>
            </a:r>
            <a:r>
              <a:rPr lang="en-US" sz="1050" dirty="0">
                <a:solidFill>
                  <a:schemeClr val="tx1">
                    <a:lumMod val="50000"/>
                    <a:lumOff val="50000"/>
                  </a:schemeClr>
                </a:solidFill>
                <a:ea typeface="5ka Sans Design"/>
                <a:cs typeface="5ka Sans Design"/>
              </a:rPr>
              <a:t>AWW – average weekly weight</a:t>
            </a:r>
            <a:endParaRPr lang="ru-RU" sz="105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CC12F34-5373-F1CD-1C25-AE9CEA210398}"/>
              </a:ext>
            </a:extLst>
          </p:cNvPr>
          <p:cNvSpPr txBox="1"/>
          <p:nvPr/>
        </p:nvSpPr>
        <p:spPr bwMode="auto">
          <a:xfrm>
            <a:off x="731521" y="5288844"/>
            <a:ext cx="10983304" cy="646331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6991551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46439" y="419713"/>
            <a:ext cx="10795601" cy="677567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ru-RU" sz="2400" dirty="0"/>
              <a:t>Промо-коммуникации лидируют в категории. </a:t>
            </a:r>
            <a:endParaRPr sz="2400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2" y="0"/>
            <a:ext cx="10795601" cy="33936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без Доставки, Основные конкуренты. Нац. ТВ и Рег. ТВ (</a:t>
            </a:r>
            <a:r>
              <a:rPr lang="ru-RU" sz="1600" dirty="0" err="1"/>
              <a:t>взв</a:t>
            </a:r>
            <a:r>
              <a:rPr lang="ru-RU" sz="1600" dirty="0"/>
              <a:t>. на Россию 0</a:t>
            </a:r>
            <a:r>
              <a:rPr lang="ru-RU" sz="1600"/>
              <a:t>+). </a:t>
            </a:r>
            <a:r>
              <a:rPr lang="en-GB" sz="1600">
                <a:solidFill>
                  <a:srgbClr val="FFFF00"/>
                </a:solidFill>
              </a:rPr>
              <a:t>{ly_first_month} </a:t>
            </a:r>
            <a:r>
              <a:rPr lang="en-GB" sz="1600" dirty="0">
                <a:solidFill>
                  <a:srgbClr val="FFFF00"/>
                </a:solidFill>
              </a:rPr>
              <a:t>- {</a:t>
            </a:r>
            <a:r>
              <a:rPr lang="en-GB" sz="1600" dirty="0" err="1">
                <a:solidFill>
                  <a:srgbClr val="FFFF00"/>
                </a:solidFill>
              </a:rPr>
              <a:t>cur_month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>
              <a:solidFill>
                <a:srgbClr val="FFFF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 bwMode="auto">
          <a:xfrm>
            <a:off x="202984" y="6435646"/>
            <a:ext cx="116946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</a:t>
            </a:r>
            <a:r>
              <a:rPr lang="en-US" dirty="0"/>
              <a:t>+</a:t>
            </a:r>
            <a:r>
              <a:rPr lang="ru-RU" dirty="0" err="1"/>
              <a:t>Спонс+Рег.ТВ</a:t>
            </a:r>
            <a:r>
              <a:rPr lang="ru-RU" dirty="0"/>
              <a:t> (рег. </a:t>
            </a:r>
            <a:r>
              <a:rPr lang="en-US" dirty="0"/>
              <a:t>TRPs</a:t>
            </a:r>
            <a:r>
              <a:rPr lang="ru-RU" dirty="0"/>
              <a:t> пересчитаны на Россия 0+); </a:t>
            </a:r>
            <a:r>
              <a:rPr lang="en-US" dirty="0"/>
              <a:t>Food Retail </a:t>
            </a:r>
            <a:r>
              <a:rPr lang="ru-RU" dirty="0"/>
              <a:t>без Доставки, Ключевые конкуренты, внедомашнее ТВ смотрение не включено. Промо включает акции с ценой, акции без цены, СТМ. </a:t>
            </a: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086546D6-E74E-5D45-2F16-09FCCA1285D2}"/>
              </a:ext>
            </a:extLst>
          </p:cNvPr>
          <p:cNvSpPr txBox="1">
            <a:spLocks/>
          </p:cNvSpPr>
          <p:nvPr/>
        </p:nvSpPr>
        <p:spPr bwMode="auto">
          <a:xfrm>
            <a:off x="446439" y="1262904"/>
            <a:ext cx="6919211" cy="415498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44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ru-RU" sz="1400" dirty="0"/>
              <a:t>Доля промо в коммуникации брендов Food Retail категории, </a:t>
            </a:r>
            <a:r>
              <a:rPr lang="en-GB" sz="1400" dirty="0"/>
              <a:t>{</a:t>
            </a:r>
            <a:r>
              <a:rPr lang="en-GB" sz="1400" dirty="0" err="1"/>
              <a:t>ly</a:t>
            </a:r>
            <a:r>
              <a:rPr lang="en-GB" sz="1400" dirty="0"/>
              <a:t>}-{</a:t>
            </a:r>
            <a:r>
              <a:rPr lang="en-GB" sz="1400" dirty="0" err="1"/>
              <a:t>c_year</a:t>
            </a:r>
            <a:r>
              <a:rPr lang="en-GB" sz="1400" dirty="0"/>
              <a:t>}</a:t>
            </a:r>
            <a:r>
              <a:rPr lang="ru-RU" sz="1400" dirty="0"/>
              <a:t>, </a:t>
            </a:r>
            <a:r>
              <a:rPr lang="ru-RU" sz="1400" dirty="0" err="1"/>
              <a:t>Нац.ТВ</a:t>
            </a:r>
            <a:endParaRPr lang="ru-RU" sz="140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BF535DC3-919E-8589-4C26-CE34E018CB22}"/>
              </a:ext>
            </a:extLst>
          </p:cNvPr>
          <p:cNvSpPr txBox="1">
            <a:spLocks/>
          </p:cNvSpPr>
          <p:nvPr/>
        </p:nvSpPr>
        <p:spPr bwMode="auto">
          <a:xfrm>
            <a:off x="446439" y="3296847"/>
            <a:ext cx="6919211" cy="415498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44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ru-RU" sz="1400" dirty="0"/>
              <a:t>Доля промо в коммуникации брендов Food Retail категории, </a:t>
            </a:r>
            <a:r>
              <a:rPr lang="en-GB" sz="1400" dirty="0"/>
              <a:t>{</a:t>
            </a:r>
            <a:r>
              <a:rPr lang="en-GB" sz="1400" dirty="0" err="1"/>
              <a:t>ly</a:t>
            </a:r>
            <a:r>
              <a:rPr lang="en-GB" sz="1400" dirty="0"/>
              <a:t>}-{</a:t>
            </a:r>
            <a:r>
              <a:rPr lang="en-GB" sz="1400" dirty="0" err="1"/>
              <a:t>c_year</a:t>
            </a:r>
            <a:r>
              <a:rPr lang="en-GB" sz="1400" dirty="0"/>
              <a:t>}</a:t>
            </a:r>
            <a:r>
              <a:rPr lang="ru-RU" sz="1400" dirty="0"/>
              <a:t>, </a:t>
            </a:r>
            <a:r>
              <a:rPr lang="ru-RU" sz="1400" dirty="0" err="1"/>
              <a:t>Рег.ТВ</a:t>
            </a:r>
            <a:endParaRPr lang="ru-RU" sz="1400" dirty="0"/>
          </a:p>
        </p:txBody>
      </p:sp>
      <p:graphicFrame>
        <p:nvGraphicFramePr>
          <p:cNvPr id="10" name="table__offline_promo_nat">
            <a:extLst>
              <a:ext uri="{FF2B5EF4-FFF2-40B4-BE49-F238E27FC236}">
                <a16:creationId xmlns:a16="http://schemas.microsoft.com/office/drawing/2014/main" id="{55CF13A5-C73E-EE8B-B23C-838F966D3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34557"/>
              </p:ext>
            </p:extLst>
          </p:nvPr>
        </p:nvGraphicFramePr>
        <p:xfrm>
          <a:off x="446438" y="1766337"/>
          <a:ext cx="11451226" cy="1371600"/>
        </p:xfrm>
        <a:graphic>
          <a:graphicData uri="http://schemas.openxmlformats.org/drawingml/2006/table">
            <a:tbl>
              <a:tblPr/>
              <a:tblGrid>
                <a:gridCol w="1040986">
                  <a:extLst>
                    <a:ext uri="{9D8B030D-6E8A-4147-A177-3AD203B41FA5}">
                      <a16:colId xmlns:a16="http://schemas.microsoft.com/office/drawing/2014/main" val="56905770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714439453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050374756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164533423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635433981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4086757242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474203631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619504072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879155506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865165909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881542916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762296337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588823626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117761897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957221438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855869507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106801119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53824593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936230719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491582966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1144401534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4262946634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237920637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43116760"/>
                    </a:ext>
                  </a:extLst>
                </a:gridCol>
                <a:gridCol w="433760">
                  <a:extLst>
                    <a:ext uri="{9D8B030D-6E8A-4147-A177-3AD203B41FA5}">
                      <a16:colId xmlns:a16="http://schemas.microsoft.com/office/drawing/2014/main" val="3865286456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Доля Промо</a:t>
                      </a:r>
                      <a:br>
                        <a:rPr 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</a:br>
                      <a:r>
                        <a:rPr lang="ru-RU" sz="10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Нац</a:t>
                      </a:r>
                      <a:r>
                        <a:rPr lang="ru-RU" sz="10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.ТВ</a:t>
                      </a:r>
                      <a:endParaRPr lang="ru-RU" sz="1000" b="1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апр.2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май.2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июн.2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июл.2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авг.2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сен.2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окт.2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ноя.2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дек.2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354830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Пятерочка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3526488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Магнит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196277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Категория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29734"/>
                  </a:ext>
                </a:extLst>
              </a:tr>
            </a:tbl>
          </a:graphicData>
        </a:graphic>
      </p:graphicFrame>
      <p:graphicFrame>
        <p:nvGraphicFramePr>
          <p:cNvPr id="16" name="table__offline_promo_reg">
            <a:extLst>
              <a:ext uri="{FF2B5EF4-FFF2-40B4-BE49-F238E27FC236}">
                <a16:creationId xmlns:a16="http://schemas.microsoft.com/office/drawing/2014/main" id="{1E422919-1035-49F4-E201-40BBA392D5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6643567"/>
              </p:ext>
            </p:extLst>
          </p:nvPr>
        </p:nvGraphicFramePr>
        <p:xfrm>
          <a:off x="446438" y="3802610"/>
          <a:ext cx="11451202" cy="1371600"/>
        </p:xfrm>
        <a:graphic>
          <a:graphicData uri="http://schemas.openxmlformats.org/drawingml/2006/table">
            <a:tbl>
              <a:tblPr/>
              <a:tblGrid>
                <a:gridCol w="1053178">
                  <a:extLst>
                    <a:ext uri="{9D8B030D-6E8A-4147-A177-3AD203B41FA5}">
                      <a16:colId xmlns:a16="http://schemas.microsoft.com/office/drawing/2014/main" val="182513827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936113573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3076544229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245789399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847890946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155584675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497396660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051882435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842907913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2860784628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3215887006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4199847640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2393513680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2436395514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4078035941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424462414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1456987492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4162370379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3687159313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614675615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3491121052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2922366076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771917221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945130083"/>
                    </a:ext>
                  </a:extLst>
                </a:gridCol>
                <a:gridCol w="433251">
                  <a:extLst>
                    <a:ext uri="{9D8B030D-6E8A-4147-A177-3AD203B41FA5}">
                      <a16:colId xmlns:a16="http://schemas.microsoft.com/office/drawing/2014/main" val="4134663892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Доля Промо </a:t>
                      </a:r>
                      <a:br>
                        <a:rPr 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</a:br>
                      <a:r>
                        <a:rPr lang="ru-RU" sz="10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Рег.ТВ</a:t>
                      </a:r>
                      <a:endParaRPr lang="ru-RU" sz="1000" b="1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4763" marR="4763" marT="4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апр.2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май.2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июн.2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июл.2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авг.2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сен.2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окт.2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ноя.2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fontAlgn="ctr">
                        <a:defRPr/>
                      </a:pPr>
                      <a:r>
                        <a:rPr lang="ru-RU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дек.2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</a:rPr>
                        <a:t>6</a:t>
                      </a:r>
                      <a:endParaRPr sz="1000" b="0" i="0" u="none" strike="noStrike" dirty="0">
                        <a:solidFill>
                          <a:srgbClr val="FFFFFF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</a:endParaRPr>
                    </a:p>
                  </a:txBody>
                  <a:tcPr marL="3763" marR="3763" marT="3763" marB="0" anchor="ctr">
                    <a:lnL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6906217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Пятерочка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0631637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Магнит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4542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Категория</a:t>
                      </a:r>
                    </a:p>
                  </a:txBody>
                  <a:tcPr marL="4763" marR="4763" marT="4763" marB="0" anchor="ctr">
                    <a:lnL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ADAD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kumimoji="0" lang="ru-RU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uLnTx/>
                        <a:uFillTx/>
                        <a:latin typeface="Aptos Narrow" panose="020B0004020202020204" pitchFamily="34" charset="0"/>
                        <a:cs typeface="Arial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442313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642339E5-CCA8-8696-39D5-35A84DAEA4A8}"/>
              </a:ext>
            </a:extLst>
          </p:cNvPr>
          <p:cNvSpPr txBox="1"/>
          <p:nvPr/>
        </p:nvSpPr>
        <p:spPr>
          <a:xfrm>
            <a:off x="446439" y="5390320"/>
            <a:ext cx="1129912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defTabSz="109516">
              <a:spcBef>
                <a:spcPts val="1000"/>
              </a:spcBef>
              <a:buFont typeface="Wingdings"/>
              <a:buChar char="§"/>
            </a:pPr>
            <a:r>
              <a:rPr lang="en-US" sz="1400" dirty="0">
                <a:solidFill>
                  <a:srgbClr val="E7E6E6">
                    <a:lumMod val="10000"/>
                  </a:srgbClr>
                </a:solidFill>
                <a:cs typeface="Arial"/>
              </a:rPr>
              <a:t>{text}</a:t>
            </a:r>
            <a:endParaRPr lang="ru-RU" sz="1400" dirty="0">
              <a:solidFill>
                <a:srgbClr val="E7E6E6">
                  <a:lumMod val="10000"/>
                </a:srgbClr>
              </a:solidFill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6" name="chart__offline_pyaterochka_aww_goods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48289554"/>
              </p:ext>
            </p:extLst>
          </p:nvPr>
        </p:nvGraphicFramePr>
        <p:xfrm>
          <a:off x="918184" y="1373552"/>
          <a:ext cx="5177816" cy="2541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" name="Заголовок 2"/>
          <p:cNvSpPr txBox="1"/>
          <p:nvPr/>
        </p:nvSpPr>
        <p:spPr bwMode="auto">
          <a:xfrm>
            <a:off x="5560166" y="1692224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marR="0" lvl="0" indent="0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5ka Sans Design Cond"/>
                <a:cs typeface="5ka Sans Design Cond"/>
              </a:defRPr>
            </a:lvl1pPr>
            <a:lvl2pPr indent="0">
              <a:defRPr sz="1100"/>
            </a:lvl2pPr>
            <a:lvl3pPr indent="0">
              <a:defRPr sz="1100"/>
            </a:lvl3pPr>
            <a:lvl4pPr indent="0">
              <a:defRPr sz="1100"/>
            </a:lvl4pPr>
            <a:lvl5pPr indent="0">
              <a:defRPr sz="1100"/>
            </a:lvl5pPr>
            <a:lvl6pPr indent="0">
              <a:defRPr sz="1100"/>
            </a:lvl6pPr>
            <a:lvl7pPr indent="0">
              <a:defRPr sz="1100"/>
            </a:lvl7pPr>
            <a:lvl8pPr indent="0">
              <a:defRPr sz="1100"/>
            </a:lvl8pPr>
            <a:lvl9pPr indent="0">
              <a:defRPr sz="1100"/>
            </a:lvl9pPr>
          </a:lstStyle>
          <a:p>
            <a:r>
              <a:rPr lang="en-US"/>
              <a:t>AWW</a:t>
            </a:r>
            <a:endParaRPr lang="ru-RU" dirty="0"/>
          </a:p>
        </p:txBody>
      </p:sp>
      <p:graphicFrame>
        <p:nvGraphicFramePr>
          <p:cNvPr id="18" name="chart__offline_magnit_aww_goods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97157841"/>
              </p:ext>
            </p:extLst>
          </p:nvPr>
        </p:nvGraphicFramePr>
        <p:xfrm>
          <a:off x="918184" y="3813406"/>
          <a:ext cx="5377049" cy="24857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pic>
        <p:nvPicPr>
          <p:cNvPr id="23" name="Picture 9"/>
          <p:cNvPicPr>
            <a:picLocks noChangeAspect="1" noChangeArrowheads="1"/>
          </p:cNvPicPr>
          <p:nvPr/>
        </p:nvPicPr>
        <p:blipFill>
          <a:blip r:embed="rId5"/>
          <a:srcRect b="22341"/>
          <a:stretch/>
        </p:blipFill>
        <p:spPr bwMode="auto">
          <a:xfrm>
            <a:off x="529390" y="4820778"/>
            <a:ext cx="291908" cy="299052"/>
          </a:xfrm>
          <a:prstGeom prst="rect">
            <a:avLst/>
          </a:prstGeom>
          <a:noFill/>
        </p:spPr>
      </p:pic>
      <p:pic>
        <p:nvPicPr>
          <p:cNvPr id="24" name="Рисунок 113"/>
          <p:cNvPicPr>
            <a:picLocks noChangeAspect="1"/>
          </p:cNvPicPr>
          <p:nvPr/>
        </p:nvPicPr>
        <p:blipFill>
          <a:blip r:embed="rId6"/>
          <a:stretch/>
        </p:blipFill>
        <p:spPr bwMode="auto">
          <a:xfrm>
            <a:off x="398385" y="2320341"/>
            <a:ext cx="553917" cy="406188"/>
          </a:xfrm>
          <a:prstGeom prst="rect">
            <a:avLst/>
          </a:prstGeom>
        </p:spPr>
      </p:pic>
      <p:sp>
        <p:nvSpPr>
          <p:cNvPr id="26" name="Заголовок 25"/>
          <p:cNvSpPr>
            <a:spLocks noGrp="1"/>
          </p:cNvSpPr>
          <p:nvPr>
            <p:ph type="title"/>
          </p:nvPr>
        </p:nvSpPr>
        <p:spPr bwMode="auto">
          <a:xfrm>
            <a:off x="248656" y="317327"/>
            <a:ext cx="11025160" cy="1175393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34" name="TextBox 33"/>
          <p:cNvSpPr txBox="1"/>
          <p:nvPr/>
        </p:nvSpPr>
        <p:spPr bwMode="auto">
          <a:xfrm>
            <a:off x="248656" y="6371306"/>
            <a:ext cx="116946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en-US" dirty="0"/>
              <a:t>, TRP’s all 18+ </a:t>
            </a:r>
            <a:r>
              <a:rPr lang="ru-RU" dirty="0"/>
              <a:t>, Нац. ТВ, ТВ спонсорские заставки и рег. ТВ</a:t>
            </a:r>
            <a:r>
              <a:rPr lang="en-US" dirty="0"/>
              <a:t> – </a:t>
            </a:r>
            <a:r>
              <a:rPr lang="ru-RU" dirty="0"/>
              <a:t>региональная доставка, Москва; Ключевые конкуренты, Доставка не включена; </a:t>
            </a:r>
          </a:p>
          <a:p>
            <a:r>
              <a:rPr lang="ru-RU" dirty="0"/>
              <a:t>,Кол-во товаров считается по количеству уникальных роликов в неделю, доставленных в регион; Ср. недельный вес на 1 товар считается как </a:t>
            </a:r>
            <a:r>
              <a:rPr lang="ru-RU" dirty="0" err="1"/>
              <a:t>тотал</a:t>
            </a:r>
            <a:r>
              <a:rPr lang="ru-RU" dirty="0"/>
              <a:t> доставленный ср.  рег. вес в неделю деленный на кол-во товаров</a:t>
            </a:r>
            <a:endParaRPr dirty="0"/>
          </a:p>
        </p:txBody>
      </p:sp>
      <p:sp>
        <p:nvSpPr>
          <p:cNvPr id="2" name="TextBox 1"/>
          <p:cNvSpPr txBox="1"/>
          <p:nvPr/>
        </p:nvSpPr>
        <p:spPr bwMode="auto">
          <a:xfrm>
            <a:off x="554044" y="4157744"/>
            <a:ext cx="1036567" cy="205176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defTabSz="914355">
              <a:lnSpc>
                <a:spcPct val="100000"/>
              </a:lnSpc>
              <a:spcBef>
                <a:spcPts val="0"/>
              </a:spcBef>
              <a:defRPr sz="800" b="0">
                <a:solidFill>
                  <a:prstClr val="black">
                    <a:lumMod val="50000"/>
                    <a:lumOff val="50000"/>
                  </a:prstClr>
                </a:solidFill>
                <a:latin typeface="5ka Sans Design Cond"/>
                <a:ea typeface="5ka Sans Design Cond"/>
                <a:cs typeface="5ka Sans Design Cond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lt"/>
              </a:rPr>
              <a:t>Кол-во </a:t>
            </a:r>
            <a:endParaRPr kumimoji="0" sz="9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lt"/>
            </a:endParaRPr>
          </a:p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lt"/>
              </a:rPr>
              <a:t>товаров</a:t>
            </a:r>
            <a:endParaRPr kumimoji="0" sz="9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3" name="TextBox 2"/>
          <p:cNvSpPr txBox="1"/>
          <p:nvPr/>
        </p:nvSpPr>
        <p:spPr bwMode="auto">
          <a:xfrm>
            <a:off x="558208" y="1591781"/>
            <a:ext cx="1036567" cy="205176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defTabSz="914355">
              <a:lnSpc>
                <a:spcPct val="100000"/>
              </a:lnSpc>
              <a:spcBef>
                <a:spcPts val="0"/>
              </a:spcBef>
              <a:defRPr sz="800" b="0">
                <a:solidFill>
                  <a:prstClr val="black">
                    <a:lumMod val="50000"/>
                    <a:lumOff val="50000"/>
                  </a:prstClr>
                </a:solidFill>
                <a:latin typeface="5ka Sans Design Cond"/>
                <a:ea typeface="5ka Sans Design Cond"/>
                <a:cs typeface="5ka Sans Design Cond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lt"/>
              </a:rPr>
              <a:t>Кол-во </a:t>
            </a:r>
            <a:endParaRPr kumimoji="0" sz="9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lt"/>
            </a:endParaRPr>
          </a:p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+mn-lt"/>
              </a:rPr>
              <a:t>товаров</a:t>
            </a:r>
            <a:endParaRPr kumimoji="0" sz="9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+mn-lt"/>
            </a:endParaRPr>
          </a:p>
        </p:txBody>
      </p:sp>
      <p:sp>
        <p:nvSpPr>
          <p:cNvPr id="4" name="Заголовок 2"/>
          <p:cNvSpPr txBox="1"/>
          <p:nvPr/>
        </p:nvSpPr>
        <p:spPr bwMode="auto">
          <a:xfrm>
            <a:off x="5560166" y="4260332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marR="0" lvl="0" indent="0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5ka Sans Design Cond"/>
                <a:cs typeface="5ka Sans Design Cond"/>
              </a:defRPr>
            </a:lvl1pPr>
            <a:lvl2pPr indent="0">
              <a:defRPr sz="1100"/>
            </a:lvl2pPr>
            <a:lvl3pPr indent="0">
              <a:defRPr sz="1100"/>
            </a:lvl3pPr>
            <a:lvl4pPr indent="0">
              <a:defRPr sz="1100"/>
            </a:lvl4pPr>
            <a:lvl5pPr indent="0">
              <a:defRPr sz="1100"/>
            </a:lvl5pPr>
            <a:lvl6pPr indent="0">
              <a:defRPr sz="1100"/>
            </a:lvl6pPr>
            <a:lvl7pPr indent="0">
              <a:defRPr sz="1100"/>
            </a:lvl7pPr>
            <a:lvl8pPr indent="0">
              <a:defRPr sz="1100"/>
            </a:lvl8pPr>
            <a:lvl9pPr indent="0">
              <a:defRPr sz="1100"/>
            </a:lvl9pPr>
          </a:lstStyle>
          <a:p>
            <a:r>
              <a:rPr lang="en-US"/>
              <a:t>AWW</a:t>
            </a:r>
            <a:endParaRPr lang="ru-RU" dirty="0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без Доставки, основные бренды, Нац. ТВ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и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Рег.ТВ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взв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на Россию 0+).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cur_month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7" name="Заголовок 2">
            <a:extLst>
              <a:ext uri="{FF2B5EF4-FFF2-40B4-BE49-F238E27FC236}">
                <a16:creationId xmlns:a16="http://schemas.microsoft.com/office/drawing/2014/main" id="{08454109-9269-B2A2-E261-50E59722A8DC}"/>
              </a:ext>
            </a:extLst>
          </p:cNvPr>
          <p:cNvSpPr txBox="1"/>
          <p:nvPr/>
        </p:nvSpPr>
        <p:spPr bwMode="auto">
          <a:xfrm>
            <a:off x="6220718" y="3686416"/>
            <a:ext cx="5722621" cy="2612784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graphicFrame>
        <p:nvGraphicFramePr>
          <p:cNvPr id="8" name="chart__offline_diksi_aww_goods">
            <a:extLst>
              <a:ext uri="{FF2B5EF4-FFF2-40B4-BE49-F238E27FC236}">
                <a16:creationId xmlns:a16="http://schemas.microsoft.com/office/drawing/2014/main" id="{1B95B75E-C32A-4B83-91FA-892856DFBBC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75400679"/>
              </p:ext>
            </p:extLst>
          </p:nvPr>
        </p:nvGraphicFramePr>
        <p:xfrm>
          <a:off x="6706177" y="1322856"/>
          <a:ext cx="5177816" cy="2541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2363BD8-2D52-ED34-788B-A62B9603A028}"/>
              </a:ext>
            </a:extLst>
          </p:cNvPr>
          <p:cNvSpPr txBox="1"/>
          <p:nvPr/>
        </p:nvSpPr>
        <p:spPr bwMode="auto">
          <a:xfrm>
            <a:off x="6295233" y="1457678"/>
            <a:ext cx="821888" cy="359064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marR="0" lvl="0" indent="0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5ka Sans Design Cond"/>
                <a:cs typeface="5ka Sans Design Cond"/>
              </a:defRPr>
            </a:lvl1pPr>
            <a:lvl2pPr indent="0">
              <a:defRPr sz="1100"/>
            </a:lvl2pPr>
            <a:lvl3pPr indent="0">
              <a:defRPr sz="1100"/>
            </a:lvl3pPr>
            <a:lvl4pPr indent="0">
              <a:defRPr sz="1100"/>
            </a:lvl4pPr>
            <a:lvl5pPr indent="0">
              <a:defRPr sz="1100"/>
            </a:lvl5pPr>
            <a:lvl6pPr indent="0">
              <a:defRPr sz="1100"/>
            </a:lvl6pPr>
            <a:lvl7pPr indent="0">
              <a:defRPr sz="1100"/>
            </a:lvl7pPr>
            <a:lvl8pPr indent="0">
              <a:defRPr sz="1100"/>
            </a:lvl8pPr>
            <a:lvl9pPr indent="0">
              <a:defRPr sz="1100"/>
            </a:lvl9pPr>
          </a:lstStyle>
          <a:p>
            <a:r>
              <a:rPr lang="ru-RU" dirty="0"/>
              <a:t>Кол-во </a:t>
            </a:r>
            <a:endParaRPr dirty="0"/>
          </a:p>
          <a:p>
            <a:r>
              <a:rPr lang="ru-RU" dirty="0"/>
              <a:t>товаров</a:t>
            </a:r>
            <a:endParaRPr dirty="0"/>
          </a:p>
        </p:txBody>
      </p:sp>
      <p:sp>
        <p:nvSpPr>
          <p:cNvPr id="12" name="Заголовок 2">
            <a:extLst>
              <a:ext uri="{FF2B5EF4-FFF2-40B4-BE49-F238E27FC236}">
                <a16:creationId xmlns:a16="http://schemas.microsoft.com/office/drawing/2014/main" id="{B5360C3A-40BD-60A7-8D90-D002C0E0E257}"/>
              </a:ext>
            </a:extLst>
          </p:cNvPr>
          <p:cNvSpPr txBox="1"/>
          <p:nvPr/>
        </p:nvSpPr>
        <p:spPr bwMode="auto">
          <a:xfrm>
            <a:off x="11251965" y="1571883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marR="0" lvl="0" indent="0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900" b="0" i="0" u="none" strike="noStrike" kern="0" cap="none" spc="0" normalizeH="0" baseline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ea typeface="5ka Sans Design Cond"/>
                <a:cs typeface="5ka Sans Design Cond"/>
              </a:defRPr>
            </a:lvl1pPr>
            <a:lvl2pPr indent="0">
              <a:defRPr sz="1100"/>
            </a:lvl2pPr>
            <a:lvl3pPr indent="0">
              <a:defRPr sz="1100"/>
            </a:lvl3pPr>
            <a:lvl4pPr indent="0">
              <a:defRPr sz="1100"/>
            </a:lvl4pPr>
            <a:lvl5pPr indent="0">
              <a:defRPr sz="1100"/>
            </a:lvl5pPr>
            <a:lvl6pPr indent="0">
              <a:defRPr sz="1100"/>
            </a:lvl6pPr>
            <a:lvl7pPr indent="0">
              <a:defRPr sz="1100"/>
            </a:lvl7pPr>
            <a:lvl8pPr indent="0">
              <a:defRPr sz="1100"/>
            </a:lvl8pPr>
            <a:lvl9pPr indent="0">
              <a:defRPr sz="1100"/>
            </a:lvl9pPr>
          </a:lstStyle>
          <a:p>
            <a:r>
              <a:rPr lang="en-US"/>
              <a:t>AWW</a:t>
            </a:r>
            <a:endParaRPr lang="ru-RU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D5D5AB-152E-5455-F4E5-333CF8F8CF73}"/>
              </a:ext>
            </a:extLst>
          </p:cNvPr>
          <p:cNvSpPr txBox="1"/>
          <p:nvPr/>
        </p:nvSpPr>
        <p:spPr bwMode="auto">
          <a:xfrm>
            <a:off x="8612623" y="1880425"/>
            <a:ext cx="360996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ly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0B23618-D768-8890-C0B2-B0FB8E51153C}"/>
              </a:ext>
            </a:extLst>
          </p:cNvPr>
          <p:cNvSpPr txBox="1"/>
          <p:nvPr/>
        </p:nvSpPr>
        <p:spPr bwMode="auto">
          <a:xfrm>
            <a:off x="11110484" y="1875557"/>
            <a:ext cx="646331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c_year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pic>
        <p:nvPicPr>
          <p:cNvPr id="1026" name="Picture 2" descr="Дикси - Скачать логотип в векторе SVG или PNG без фона">
            <a:extLst>
              <a:ext uri="{FF2B5EF4-FFF2-40B4-BE49-F238E27FC236}">
                <a16:creationId xmlns:a16="http://schemas.microsoft.com/office/drawing/2014/main" id="{B1E50620-919B-1A95-AC91-D8257C734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813" y="2266306"/>
            <a:ext cx="513291" cy="5132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5372643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31" name="table__offline_sos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5413144"/>
              </p:ext>
            </p:extLst>
          </p:nvPr>
        </p:nvGraphicFramePr>
        <p:xfrm>
          <a:off x="289839" y="1757659"/>
          <a:ext cx="11469147" cy="1221059"/>
        </p:xfrm>
        <a:graphic>
          <a:graphicData uri="http://schemas.openxmlformats.org/drawingml/2006/table">
            <a:tbl>
              <a:tblPr/>
              <a:tblGrid>
                <a:gridCol w="1501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72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20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98224">
                <a:tc rowSpan="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ly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c_year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solidFill>
                      <a:srgbClr val="DAF2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9939">
                <a:tc vMerge="1">
                  <a:txBody>
                    <a:bodyPr/>
                    <a:lstStyle/>
                    <a:p>
                      <a:pPr>
                        <a:defRPr/>
                      </a:pPr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ПЯТЕРОЧКА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ПЕРЕКРЕСТОК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ЧИЖИК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МАГНИТ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5" name="TextBox 94"/>
          <p:cNvSpPr txBox="1"/>
          <p:nvPr/>
        </p:nvSpPr>
        <p:spPr bwMode="auto">
          <a:xfrm>
            <a:off x="202984" y="6510329"/>
            <a:ext cx="11694686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algn="l">
              <a:defRPr sz="1600">
                <a:solidFill>
                  <a:srgbClr val="000000"/>
                </a:solidFill>
                <a:latin typeface="5ka Sans Design"/>
                <a:ea typeface="5ka Sans Design"/>
                <a:cs typeface="5ka Sans Design"/>
              </a:defRPr>
            </a:lvl1pPr>
          </a:lstStyle>
          <a:p>
            <a:pPr defTabSz="228578">
              <a:defRPr/>
            </a:pPr>
            <a:r>
              <a:rPr lang="ru-RU" sz="900" dirty="0">
                <a:latin typeface="+mn-lt"/>
              </a:rPr>
              <a:t>Источник</a:t>
            </a:r>
            <a:r>
              <a:rPr lang="en-US" sz="900" dirty="0">
                <a:latin typeface="+mn-lt"/>
              </a:rPr>
              <a:t> </a:t>
            </a:r>
            <a:r>
              <a:rPr lang="en-US" sz="900" dirty="0" err="1">
                <a:latin typeface="+mn-lt"/>
              </a:rPr>
              <a:t>Mediascope</a:t>
            </a:r>
            <a:r>
              <a:rPr lang="ru-RU" sz="900">
                <a:latin typeface="+mn-lt"/>
              </a:rPr>
              <a:t>, </a:t>
            </a:r>
            <a:r>
              <a:rPr lang="en-GB" sz="900">
                <a:latin typeface="+mn-lt"/>
              </a:rPr>
              <a:t>{ly_first_month} </a:t>
            </a:r>
            <a:r>
              <a:rPr lang="en-GB" sz="900" dirty="0">
                <a:latin typeface="+mn-lt"/>
              </a:rPr>
              <a:t>- {</a:t>
            </a:r>
            <a:r>
              <a:rPr lang="en-GB" sz="900" dirty="0" err="1">
                <a:latin typeface="+mn-lt"/>
              </a:rPr>
              <a:t>cur_month</a:t>
            </a:r>
            <a:r>
              <a:rPr lang="en-GB" sz="900" dirty="0">
                <a:latin typeface="+mn-lt"/>
              </a:rPr>
              <a:t>}</a:t>
            </a:r>
            <a:r>
              <a:rPr lang="ru-RU" sz="900" dirty="0">
                <a:latin typeface="+mn-lt"/>
              </a:rPr>
              <a:t>, </a:t>
            </a:r>
            <a:r>
              <a:rPr lang="en-US" sz="900" dirty="0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TRP’s all 18+ </a:t>
            </a:r>
            <a:r>
              <a:rPr lang="ru-RU" sz="900" dirty="0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, реклама Магазинов и смешанная коммуникация, Бюджеты включают нац., </a:t>
            </a:r>
            <a:r>
              <a:rPr lang="ru-RU" sz="900" dirty="0" err="1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рег</a:t>
            </a:r>
            <a:r>
              <a:rPr lang="ru-RU" sz="900" dirty="0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 ТВ и спонсорство; веса включают Нац. ТВ, </a:t>
            </a:r>
            <a:r>
              <a:rPr lang="ru-RU" sz="900" dirty="0" err="1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спонсорство,и</a:t>
            </a:r>
            <a:r>
              <a:rPr lang="ru-RU" sz="900" dirty="0">
                <a:solidFill>
                  <a:srgbClr val="000000"/>
                </a:solidFill>
                <a:latin typeface="+mn-lt"/>
                <a:ea typeface="5ka Sans Design"/>
                <a:cs typeface="5ka Sans Design"/>
              </a:rPr>
              <a:t> взвешенные на нац. панель рег. Рейтинги.</a:t>
            </a:r>
            <a:r>
              <a:rPr lang="ru-RU" sz="900" dirty="0">
                <a:latin typeface="+mn-lt"/>
              </a:rPr>
              <a:t> </a:t>
            </a:r>
            <a:r>
              <a:rPr lang="en-US" sz="900" dirty="0">
                <a:latin typeface="+mn-lt"/>
              </a:rPr>
              <a:t>SOV - Share of Voice</a:t>
            </a:r>
            <a:r>
              <a:rPr lang="ru-RU" sz="900" dirty="0">
                <a:latin typeface="+mn-lt"/>
              </a:rPr>
              <a:t> </a:t>
            </a:r>
            <a:r>
              <a:rPr lang="en-US" sz="900" dirty="0">
                <a:latin typeface="+mn-lt"/>
              </a:rPr>
              <a:t>, </a:t>
            </a:r>
            <a:r>
              <a:rPr lang="ru-RU" sz="900" dirty="0">
                <a:latin typeface="+mn-lt"/>
              </a:rPr>
              <a:t>доля голоса</a:t>
            </a:r>
            <a:r>
              <a:rPr lang="en-US" sz="900" dirty="0">
                <a:latin typeface="+mn-lt"/>
              </a:rPr>
              <a:t>.</a:t>
            </a:r>
            <a:r>
              <a:rPr lang="ru-RU" sz="900" dirty="0">
                <a:latin typeface="+mn-lt"/>
              </a:rPr>
              <a:t> </a:t>
            </a:r>
            <a:r>
              <a:rPr lang="en-US" sz="900" dirty="0">
                <a:latin typeface="+mn-lt"/>
              </a:rPr>
              <a:t>SOS – Share of Spends</a:t>
            </a:r>
            <a:r>
              <a:rPr lang="ru-RU" sz="900" dirty="0">
                <a:latin typeface="+mn-lt"/>
              </a:rPr>
              <a:t>, доля затрат.</a:t>
            </a:r>
            <a:endParaRPr sz="1800" dirty="0">
              <a:latin typeface="+mn-lt"/>
            </a:endParaRPr>
          </a:p>
        </p:txBody>
      </p:sp>
      <p:sp>
        <p:nvSpPr>
          <p:cNvPr id="13" name="Заголовок 12"/>
          <p:cNvSpPr>
            <a:spLocks noGrp="1"/>
          </p:cNvSpPr>
          <p:nvPr>
            <p:ph type="title"/>
          </p:nvPr>
        </p:nvSpPr>
        <p:spPr bwMode="auto">
          <a:xfrm>
            <a:off x="389364" y="467195"/>
            <a:ext cx="10607905" cy="1040129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lang="ru-RU" sz="2400" dirty="0"/>
          </a:p>
        </p:txBody>
      </p:sp>
      <p:sp>
        <p:nvSpPr>
          <p:cNvPr id="21" name="TextBox 20"/>
          <p:cNvSpPr txBox="1"/>
          <p:nvPr/>
        </p:nvSpPr>
        <p:spPr bwMode="auto">
          <a:xfrm>
            <a:off x="64298" y="4856464"/>
            <a:ext cx="12028641" cy="1513235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sp>
        <p:nvSpPr>
          <p:cNvPr id="8" name="Прямоугольник 7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 без Доставки, основные бренды, Нац. ТВ</a:t>
            </a:r>
            <a:r>
              <a:rPr lang="en-US" sz="1600" dirty="0"/>
              <a:t>+</a:t>
            </a:r>
            <a:r>
              <a:rPr lang="ru-RU" sz="1600" dirty="0" err="1"/>
              <a:t>Рег.ТВ</a:t>
            </a:r>
            <a:r>
              <a:rPr lang="ru-RU" sz="1600" dirty="0"/>
              <a:t> </a:t>
            </a:r>
            <a:r>
              <a:rPr lang="ru-RU" sz="1600" dirty="0" err="1"/>
              <a:t>взвш</a:t>
            </a:r>
            <a:r>
              <a:rPr lang="ru-RU" sz="1600" dirty="0"/>
              <a:t>. на Россию 0</a:t>
            </a:r>
            <a:r>
              <a:rPr lang="ru-RU" sz="1600"/>
              <a:t>+. </a:t>
            </a:r>
            <a:r>
              <a:rPr lang="en-GB" sz="1600">
                <a:solidFill>
                  <a:srgbClr val="FFFF00"/>
                </a:solidFill>
              </a:rPr>
              <a:t>{ly_first_month} </a:t>
            </a:r>
            <a:r>
              <a:rPr lang="en-GB" sz="1600" dirty="0">
                <a:solidFill>
                  <a:srgbClr val="FFFF00"/>
                </a:solidFill>
              </a:rPr>
              <a:t>- {</a:t>
            </a:r>
            <a:r>
              <a:rPr lang="en-GB" sz="1600" dirty="0" err="1">
                <a:solidFill>
                  <a:srgbClr val="FFFF00"/>
                </a:solidFill>
              </a:rPr>
              <a:t>cur_month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graphicFrame>
        <p:nvGraphicFramePr>
          <p:cNvPr id="10" name="table__offline_sov_table">
            <a:extLst>
              <a:ext uri="{FF2B5EF4-FFF2-40B4-BE49-F238E27FC236}">
                <a16:creationId xmlns:a16="http://schemas.microsoft.com/office/drawing/2014/main" id="{3CD62879-2950-F069-3393-E79541B923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9664268"/>
              </p:ext>
            </p:extLst>
          </p:nvPr>
        </p:nvGraphicFramePr>
        <p:xfrm>
          <a:off x="289838" y="3479387"/>
          <a:ext cx="11469147" cy="1221059"/>
        </p:xfrm>
        <a:graphic>
          <a:graphicData uri="http://schemas.openxmlformats.org/drawingml/2006/table">
            <a:tbl>
              <a:tblPr/>
              <a:tblGrid>
                <a:gridCol w="1501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72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20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98224">
                <a:tc rowSpan="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18+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(All 18+)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ly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(All 18+)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c_year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solidFill>
                      <a:srgbClr val="DAF2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9939">
                <a:tc vMerge="1">
                  <a:txBody>
                    <a:bodyPr/>
                    <a:lstStyle/>
                    <a:p>
                      <a:pPr>
                        <a:defRPr/>
                      </a:pPr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ПЯТЕРОЧКА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ПЕРЕКРЕСТОК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ЧИЖИК 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224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МАГНИТ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 bwMode="auto"/>
        <p:txBody>
          <a:bodyPr anchor="ctr">
            <a:normAutofit/>
          </a:bodyPr>
          <a:lstStyle/>
          <a:p>
            <a:pPr>
              <a:defRPr/>
            </a:pPr>
            <a:r>
              <a:rPr lang="ru-RU" sz="6000"/>
              <a:t>4</a:t>
            </a:r>
            <a:r>
              <a:rPr lang="ru-RU" sz="6000">
                <a:latin typeface="5ka Sans Design Black"/>
                <a:ea typeface="5ka Sans Design Black"/>
                <a:cs typeface="5ka Sans Design Black"/>
              </a:rPr>
              <a:t>. </a:t>
            </a:r>
            <a:r>
              <a:rPr lang="ru-RU">
                <a:latin typeface="5ka Sans Design Black"/>
                <a:ea typeface="5ka Sans Design Black"/>
                <a:cs typeface="5ka Sans Design Black"/>
              </a:rPr>
              <a:t>Доставка</a:t>
            </a:r>
            <a:endParaRPr/>
          </a:p>
        </p:txBody>
      </p:sp>
      <p:sp>
        <p:nvSpPr>
          <p:cNvPr id="8" name="Текст 7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{</a:t>
            </a:r>
            <a:r>
              <a:rPr lang="en-GB" b="1" dirty="0" err="1">
                <a:solidFill>
                  <a:schemeClr val="accent6">
                    <a:lumMod val="75000"/>
                  </a:schemeClr>
                </a:solidFill>
              </a:rPr>
              <a:t>current_month</a:t>
            </a: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}</a:t>
            </a:r>
            <a:endParaRPr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0" y="4039986"/>
            <a:ext cx="12192000" cy="15794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4176179"/>
            <a:ext cx="12192000" cy="15794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2" name="chart__delivery_brand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36388298"/>
              </p:ext>
            </p:extLst>
          </p:nvPr>
        </p:nvGraphicFramePr>
        <p:xfrm>
          <a:off x="228390" y="1031543"/>
          <a:ext cx="7619245" cy="29978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458477" y="337372"/>
            <a:ext cx="10515600" cy="766989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-1" y="1"/>
            <a:ext cx="10780890" cy="386802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доставки), ТВ (Нац. ТВ +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Рег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ТВ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перевзв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., без </a:t>
            </a:r>
            <a:r>
              <a:rPr lang="ru-RU" sz="1600" dirty="0">
                <a:solidFill>
                  <a:prstClr val="white"/>
                </a:solidFill>
                <a:latin typeface="Aptos"/>
                <a:cs typeface="Arial"/>
              </a:rPr>
              <a:t>С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понс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), основные бренды.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7" name="TextBox 6"/>
          <p:cNvSpPr txBox="1"/>
          <p:nvPr/>
        </p:nvSpPr>
        <p:spPr bwMode="auto">
          <a:xfrm>
            <a:off x="202984" y="6579577"/>
            <a:ext cx="11694686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US" dirty="0"/>
              <a:t>{</a:t>
            </a:r>
            <a:r>
              <a:rPr lang="en-US" dirty="0" err="1"/>
              <a:t>ly_first_month</a:t>
            </a:r>
            <a:r>
              <a:rPr lang="en-US" dirty="0"/>
              <a:t>} - {</a:t>
            </a:r>
            <a:r>
              <a:rPr lang="en-US" dirty="0" err="1"/>
              <a:t>cur_month</a:t>
            </a:r>
            <a:r>
              <a:rPr lang="en-US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спонсорства); </a:t>
            </a:r>
            <a:r>
              <a:rPr lang="en-US" dirty="0"/>
              <a:t>Food Retail </a:t>
            </a:r>
            <a:r>
              <a:rPr lang="ru-RU" dirty="0"/>
              <a:t>вкл. Доставку, Ключевые конкуренты, Другие: </a:t>
            </a:r>
            <a:r>
              <a:rPr lang="en-GB" dirty="0"/>
              <a:t>{brands}</a:t>
            </a:r>
            <a:endParaRPr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61784C-C07E-53CA-DFE8-64AB23D50830}"/>
              </a:ext>
            </a:extLst>
          </p:cNvPr>
          <p:cNvSpPr txBox="1"/>
          <p:nvPr/>
        </p:nvSpPr>
        <p:spPr bwMode="auto">
          <a:xfrm>
            <a:off x="7591349" y="1340486"/>
            <a:ext cx="4493836" cy="2790508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lang="ru-RU" dirty="0"/>
          </a:p>
        </p:txBody>
      </p:sp>
      <p:graphicFrame>
        <p:nvGraphicFramePr>
          <p:cNvPr id="9" name="chart__delivery_trp_dynamic">
            <a:extLst>
              <a:ext uri="{FF2B5EF4-FFF2-40B4-BE49-F238E27FC236}">
                <a16:creationId xmlns:a16="http://schemas.microsoft.com/office/drawing/2014/main" id="{E6B92D6E-6857-21CB-BBE4-DE88804B2E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41818974"/>
              </p:ext>
            </p:extLst>
          </p:nvPr>
        </p:nvGraphicFramePr>
        <p:xfrm>
          <a:off x="6237445" y="4017598"/>
          <a:ext cx="5726165" cy="25565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chart__delivery_invest_dynamic">
            <a:extLst>
              <a:ext uri="{FF2B5EF4-FFF2-40B4-BE49-F238E27FC236}">
                <a16:creationId xmlns:a16="http://schemas.microsoft.com/office/drawing/2014/main" id="{76409019-0743-F7D2-3CF0-B58D51B2469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62839102"/>
              </p:ext>
            </p:extLst>
          </p:nvPr>
        </p:nvGraphicFramePr>
        <p:xfrm>
          <a:off x="200371" y="4017958"/>
          <a:ext cx="7306740" cy="2465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C881ED46-9127-0688-183F-A24B52600F5E}"/>
              </a:ext>
            </a:extLst>
          </p:cNvPr>
          <p:cNvSpPr/>
          <p:nvPr/>
        </p:nvSpPr>
        <p:spPr bwMode="auto">
          <a:xfrm>
            <a:off x="3200400" y="4449452"/>
            <a:ext cx="1913468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932769-216E-9E52-8435-F57CA09F6E89}"/>
              </a:ext>
            </a:extLst>
          </p:cNvPr>
          <p:cNvSpPr txBox="1"/>
          <p:nvPr/>
        </p:nvSpPr>
        <p:spPr bwMode="auto">
          <a:xfrm>
            <a:off x="3773059" y="4212199"/>
            <a:ext cx="84127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1A738505-FF12-D2C1-C06B-DE5060CC1E9D}"/>
              </a:ext>
            </a:extLst>
          </p:cNvPr>
          <p:cNvSpPr/>
          <p:nvPr/>
        </p:nvSpPr>
        <p:spPr bwMode="auto">
          <a:xfrm>
            <a:off x="9838267" y="4590502"/>
            <a:ext cx="2046961" cy="1783068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450D1FC-85C3-C866-2448-CEAEABC3244A}"/>
              </a:ext>
            </a:extLst>
          </p:cNvPr>
          <p:cNvSpPr txBox="1"/>
          <p:nvPr/>
        </p:nvSpPr>
        <p:spPr bwMode="auto">
          <a:xfrm>
            <a:off x="10547886" y="4212199"/>
            <a:ext cx="8101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dirty="0">
                <a:latin typeface="5ka Sans Design"/>
              </a:rPr>
              <a:t>Прогноз</a:t>
            </a:r>
          </a:p>
        </p:txBody>
      </p:sp>
      <p:graphicFrame>
        <p:nvGraphicFramePr>
          <p:cNvPr id="22" name="table__delivery_brand_yoy_labels">
            <a:extLst>
              <a:ext uri="{FF2B5EF4-FFF2-40B4-BE49-F238E27FC236}">
                <a16:creationId xmlns:a16="http://schemas.microsoft.com/office/drawing/2014/main" id="{831389C1-2CEC-2EF7-5D23-740312C9C2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77760"/>
              </p:ext>
            </p:extLst>
          </p:nvPr>
        </p:nvGraphicFramePr>
        <p:xfrm>
          <a:off x="3131896" y="1402508"/>
          <a:ext cx="2707640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4079140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279731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423381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6810247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109634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696297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70179775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2556387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7237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2634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51839387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45581393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86735944"/>
                    </a:ext>
                  </a:extLst>
                </a:gridCol>
              </a:tblGrid>
              <a:tr h="224673"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Aptos"/>
                          <a:cs typeface="Arial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RU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alpha val="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cs typeface="+mn-cs"/>
                        </a:rPr>
                        <a:t>-</a:t>
                      </a:r>
                      <a:endParaRPr lang="en-RU" sz="1000" dirty="0">
                        <a:solidFill>
                          <a:schemeClr val="tx1">
                            <a:alpha val="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9533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645320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17" name="chart__delivery_split_yoy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58467078"/>
              </p:ext>
            </p:extLst>
          </p:nvPr>
        </p:nvGraphicFramePr>
        <p:xfrm>
          <a:off x="340463" y="1079615"/>
          <a:ext cx="7494471" cy="2578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0" name="chart__delivery_media_mix_by_brand">
            <a:extLst>
              <a:ext uri="{FF2B5EF4-FFF2-40B4-BE49-F238E27FC236}">
                <a16:creationId xmlns:a16="http://schemas.microsoft.com/office/drawing/2014/main" id="{27048912-A64E-0657-D469-BFB0778966D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9795066"/>
              </p:ext>
            </p:extLst>
          </p:nvPr>
        </p:nvGraphicFramePr>
        <p:xfrm>
          <a:off x="355400" y="3348578"/>
          <a:ext cx="7129357" cy="29944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TextBox 15"/>
          <p:cNvSpPr txBox="1"/>
          <p:nvPr/>
        </p:nvSpPr>
        <p:spPr bwMode="auto">
          <a:xfrm>
            <a:off x="177843" y="1222225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1200">
                <a:solidFill>
                  <a:schemeClr val="tx1">
                    <a:lumMod val="75000"/>
                    <a:lumOff val="25000"/>
                  </a:schemeClr>
                </a:solidFill>
              </a:rPr>
              <a:t>Млн. руб</a:t>
            </a:r>
          </a:p>
        </p:txBody>
      </p:sp>
      <p:sp>
        <p:nvSpPr>
          <p:cNvPr id="7" name="Footer Placeholder 3"/>
          <p:cNvSpPr txBox="1"/>
          <p:nvPr/>
        </p:nvSpPr>
        <p:spPr bwMode="auto">
          <a:xfrm>
            <a:off x="8024345" y="1201658"/>
            <a:ext cx="3927763" cy="5199976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518160" y="255449"/>
            <a:ext cx="10303811" cy="831908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4" name="TextBox 3"/>
          <p:cNvSpPr txBox="1"/>
          <p:nvPr/>
        </p:nvSpPr>
        <p:spPr bwMode="auto">
          <a:xfrm>
            <a:off x="194234" y="6312158"/>
            <a:ext cx="5546166" cy="466786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</a:t>
            </a:r>
            <a:r>
              <a:rPr lang="en-US" dirty="0"/>
              <a:t>, </a:t>
            </a:r>
            <a:r>
              <a:rPr lang="ru-RU" dirty="0"/>
              <a:t>Оффлайн медиа</a:t>
            </a:r>
            <a:r>
              <a:rPr lang="en-US" dirty="0"/>
              <a:t>, </a:t>
            </a:r>
            <a:r>
              <a:rPr lang="ru-RU" dirty="0" err="1"/>
              <a:t>Диджитал</a:t>
            </a:r>
            <a:r>
              <a:rPr lang="ru-RU" dirty="0"/>
              <a:t>, </a:t>
            </a:r>
            <a:r>
              <a:rPr lang="en-GB" dirty="0"/>
              <a:t>{jan_current_month_1}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агентства; </a:t>
            </a:r>
            <a:endParaRPr lang="en-US" dirty="0"/>
          </a:p>
          <a:p>
            <a:r>
              <a:rPr lang="ru-RU" dirty="0"/>
              <a:t>Другие: </a:t>
            </a:r>
            <a:r>
              <a:rPr lang="en-US" dirty="0"/>
              <a:t>{brands}</a:t>
            </a:r>
            <a:endParaRPr dirty="0"/>
          </a:p>
        </p:txBody>
      </p:sp>
      <p:sp>
        <p:nvSpPr>
          <p:cNvPr id="8" name="TextBox 7"/>
          <p:cNvSpPr txBox="1"/>
          <p:nvPr/>
        </p:nvSpPr>
        <p:spPr bwMode="auto">
          <a:xfrm>
            <a:off x="5896686" y="6422156"/>
            <a:ext cx="6101080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Важно: информация о рекламе в интернете ограничена.  </a:t>
            </a:r>
            <a:r>
              <a:rPr lang="en-US" dirty="0" err="1"/>
              <a:t>CrossWeb</a:t>
            </a:r>
            <a:r>
              <a:rPr lang="ru-RU" dirty="0"/>
              <a:t> - Мониторинг видеорекламы</a:t>
            </a:r>
            <a:r>
              <a:rPr lang="en-US" dirty="0"/>
              <a:t>, </a:t>
            </a:r>
            <a:r>
              <a:rPr lang="ru-RU" dirty="0" err="1"/>
              <a:t>Эстимация</a:t>
            </a:r>
            <a:r>
              <a:rPr lang="ru-RU" dirty="0"/>
              <a:t> агентства; </a:t>
            </a:r>
            <a:r>
              <a:rPr lang="en-US" dirty="0" err="1"/>
              <a:t>SimilarWeb</a:t>
            </a:r>
            <a:r>
              <a:rPr lang="en-US" dirty="0"/>
              <a:t>, </a:t>
            </a:r>
            <a:r>
              <a:rPr lang="en-GB" dirty="0"/>
              <a:t>{</a:t>
            </a:r>
            <a:r>
              <a:rPr lang="en-GB" dirty="0" err="1"/>
              <a:t>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en-US" dirty="0"/>
              <a:t>, </a:t>
            </a:r>
            <a:r>
              <a:rPr lang="en-US" dirty="0" err="1"/>
              <a:t>desktop&amp;mobile</a:t>
            </a:r>
            <a:r>
              <a:rPr lang="en-US" dirty="0"/>
              <a:t>,</a:t>
            </a:r>
            <a:r>
              <a:rPr lang="ru-RU" dirty="0"/>
              <a:t> </a:t>
            </a:r>
            <a:r>
              <a:rPr lang="ru-RU" dirty="0" err="1"/>
              <a:t>Эстимация</a:t>
            </a:r>
            <a:r>
              <a:rPr lang="ru-RU" dirty="0"/>
              <a:t> агентства</a:t>
            </a:r>
            <a:endParaRPr dirty="0"/>
          </a:p>
        </p:txBody>
      </p:sp>
      <p:sp>
        <p:nvSpPr>
          <p:cNvPr id="12" name="Прямоугольник 11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, реклама Доставки, основные бренды, Все медиа. </a:t>
            </a:r>
            <a:r>
              <a:rPr lang="en-GB" sz="1600" dirty="0">
                <a:solidFill>
                  <a:srgbClr val="FFFF00"/>
                </a:solidFill>
              </a:rPr>
              <a:t>{jan_current_month_1}</a:t>
            </a:r>
            <a:endParaRPr lang="ru-RU" sz="160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" name="Заголовок 10"/>
          <p:cNvSpPr>
            <a:spLocks noGrp="1"/>
          </p:cNvSpPr>
          <p:nvPr>
            <p:ph type="title"/>
          </p:nvPr>
        </p:nvSpPr>
        <p:spPr bwMode="auto">
          <a:xfrm>
            <a:off x="254365" y="712190"/>
            <a:ext cx="10479938" cy="814092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15" name="TextBox 14"/>
          <p:cNvSpPr txBox="1"/>
          <p:nvPr/>
        </p:nvSpPr>
        <p:spPr bwMode="auto">
          <a:xfrm>
            <a:off x="202984" y="6548501"/>
            <a:ext cx="11694686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/>
              <a:t>, </a:t>
            </a:r>
            <a:r>
              <a:rPr lang="en-GB"/>
              <a:t>{ly_first_month} </a:t>
            </a:r>
            <a:r>
              <a:rPr lang="en-GB" dirty="0"/>
              <a:t>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</a:t>
            </a:r>
            <a:r>
              <a:rPr lang="en-US" dirty="0"/>
              <a:t>+</a:t>
            </a:r>
            <a:r>
              <a:rPr lang="ru-RU" dirty="0" err="1"/>
              <a:t>Спонс+Рег.ТВ</a:t>
            </a:r>
            <a:r>
              <a:rPr lang="ru-RU" dirty="0"/>
              <a:t> (рег. </a:t>
            </a:r>
            <a:r>
              <a:rPr lang="en-US" dirty="0"/>
              <a:t>TRPs</a:t>
            </a:r>
            <a:r>
              <a:rPr lang="ru-RU" dirty="0"/>
              <a:t> пересчитаны на Россия 0+); </a:t>
            </a:r>
            <a:r>
              <a:rPr lang="en-US" dirty="0"/>
              <a:t>Food Retail </a:t>
            </a:r>
            <a:r>
              <a:rPr lang="ru-RU" dirty="0"/>
              <a:t> реклама Доставки, Ключевые конкуренты, внедомашнее ТВ смотрение не включено</a:t>
            </a:r>
          </a:p>
        </p:txBody>
      </p:sp>
      <p:graphicFrame>
        <p:nvGraphicFramePr>
          <p:cNvPr id="22" name="chart__delivery_tv_nat_reg_sov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23422679"/>
              </p:ext>
            </p:extLst>
          </p:nvPr>
        </p:nvGraphicFramePr>
        <p:xfrm>
          <a:off x="338667" y="1898168"/>
          <a:ext cx="11130843" cy="35838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3" name="chart__delivery_tv_nat_reg_din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9238824"/>
              </p:ext>
            </p:extLst>
          </p:nvPr>
        </p:nvGraphicFramePr>
        <p:xfrm>
          <a:off x="5689601" y="1956639"/>
          <a:ext cx="6163732" cy="35838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4" name="TextBox 23"/>
          <p:cNvSpPr txBox="1"/>
          <p:nvPr/>
        </p:nvSpPr>
        <p:spPr bwMode="auto">
          <a:xfrm>
            <a:off x="5689601" y="2298271"/>
            <a:ext cx="5104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TRPs</a:t>
            </a:r>
            <a:endParaRPr lang="ru-RU" sz="12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, реклама Доставки, основные бренды, ТВ (Нац. и </a:t>
            </a:r>
            <a:r>
              <a:rPr lang="ru-RU" sz="1600" dirty="0" err="1"/>
              <a:t>Рег</a:t>
            </a:r>
            <a:r>
              <a:rPr lang="ru-RU" sz="1600"/>
              <a:t>). </a:t>
            </a:r>
            <a:r>
              <a:rPr lang="en-GB" sz="1600">
                <a:solidFill>
                  <a:srgbClr val="FFFF00"/>
                </a:solidFill>
              </a:rPr>
              <a:t>{ly_first_month} </a:t>
            </a:r>
            <a:r>
              <a:rPr lang="en-GB" sz="1600" dirty="0">
                <a:solidFill>
                  <a:srgbClr val="FFFF00"/>
                </a:solidFill>
              </a:rPr>
              <a:t>- {</a:t>
            </a:r>
            <a:r>
              <a:rPr lang="en-GB" sz="1600" dirty="0" err="1">
                <a:solidFill>
                  <a:srgbClr val="FFFF00"/>
                </a:solidFill>
              </a:rPr>
              <a:t>cur_month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2ED3A41-D97A-89BA-2D0B-275CC926DDE3}"/>
              </a:ext>
            </a:extLst>
          </p:cNvPr>
          <p:cNvSpPr txBox="1"/>
          <p:nvPr/>
        </p:nvSpPr>
        <p:spPr>
          <a:xfrm>
            <a:off x="634640" y="5137283"/>
            <a:ext cx="111308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defTabSz="109516">
              <a:spcBef>
                <a:spcPts val="1000"/>
              </a:spcBef>
              <a:buFont typeface="Wingdings"/>
              <a:buChar char="§"/>
            </a:pPr>
            <a:r>
              <a:rPr lang="en-US" sz="1400" dirty="0">
                <a:solidFill>
                  <a:srgbClr val="E7E6E6">
                    <a:lumMod val="10000"/>
                  </a:srgbClr>
                </a:solidFill>
                <a:cs typeface="Arial"/>
              </a:rPr>
              <a:t>{text}</a:t>
            </a:r>
            <a:endParaRPr lang="ru-RU" sz="1400" dirty="0">
              <a:solidFill>
                <a:srgbClr val="E7E6E6">
                  <a:lumMod val="10000"/>
                </a:srgbClr>
              </a:solidFill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aphicFrame>
        <p:nvGraphicFramePr>
          <p:cNvPr id="4" name="chart__delivery_samokat_aww_goods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67453857"/>
              </p:ext>
            </p:extLst>
          </p:nvPr>
        </p:nvGraphicFramePr>
        <p:xfrm>
          <a:off x="924898" y="1354405"/>
          <a:ext cx="5177816" cy="2541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Заголовок 2"/>
          <p:cNvSpPr txBox="1"/>
          <p:nvPr/>
        </p:nvSpPr>
        <p:spPr bwMode="auto">
          <a:xfrm>
            <a:off x="6220718" y="3686416"/>
            <a:ext cx="5722621" cy="2612784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  <a:endParaRPr dirty="0"/>
          </a:p>
        </p:txBody>
      </p:sp>
      <p:graphicFrame>
        <p:nvGraphicFramePr>
          <p:cNvPr id="6" name="chart__delivery_pyaterochka_aww_goods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11204069"/>
              </p:ext>
            </p:extLst>
          </p:nvPr>
        </p:nvGraphicFramePr>
        <p:xfrm>
          <a:off x="6706177" y="1322856"/>
          <a:ext cx="5177816" cy="2541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5" name="Заголовок 2"/>
          <p:cNvSpPr txBox="1"/>
          <p:nvPr/>
        </p:nvSpPr>
        <p:spPr bwMode="auto">
          <a:xfrm>
            <a:off x="5552282" y="1592078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algn="l" defTabSz="914400">
              <a:lnSpc>
                <a:spcPct val="90000"/>
              </a:lnSpc>
              <a:spcBef>
                <a:spcPts val="0"/>
              </a:spcBef>
              <a:defRPr sz="4800" b="1">
                <a:solidFill>
                  <a:prstClr val="black"/>
                </a:solidFill>
                <a:latin typeface="5ka Sans Design Black"/>
                <a:ea typeface="5ka Sans Design Black"/>
                <a:cs typeface="5ka Sans Design Black"/>
              </a:defRPr>
            </a:lvl1pPr>
          </a:lstStyle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  <a:ea typeface="5ka Sans Design Cond"/>
                <a:cs typeface="5ka Sans Design Cond"/>
              </a:rPr>
              <a:t>AWW</a:t>
            </a:r>
            <a:endParaRPr kumimoji="0" lang="ru-RU" sz="10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  <a:ea typeface="5ka Sans Design Cond"/>
              <a:cs typeface="5ka Sans Design Cond"/>
            </a:endParaRPr>
          </a:p>
        </p:txBody>
      </p:sp>
      <p:graphicFrame>
        <p:nvGraphicFramePr>
          <p:cNvPr id="18" name="chart__delivery_magnit_aww_goods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95472178"/>
              </p:ext>
            </p:extLst>
          </p:nvPr>
        </p:nvGraphicFramePr>
        <p:xfrm>
          <a:off x="918184" y="3813406"/>
          <a:ext cx="5177815" cy="24857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23" name="Picture 9"/>
          <p:cNvPicPr>
            <a:picLocks noChangeAspect="1" noChangeArrowheads="1"/>
          </p:cNvPicPr>
          <p:nvPr/>
        </p:nvPicPr>
        <p:blipFill>
          <a:blip r:embed="rId6"/>
          <a:srcRect b="22341"/>
          <a:stretch/>
        </p:blipFill>
        <p:spPr bwMode="auto">
          <a:xfrm>
            <a:off x="529390" y="4820778"/>
            <a:ext cx="291908" cy="299052"/>
          </a:xfrm>
          <a:prstGeom prst="rect">
            <a:avLst/>
          </a:prstGeom>
          <a:noFill/>
        </p:spPr>
      </p:pic>
      <p:pic>
        <p:nvPicPr>
          <p:cNvPr id="24" name="Рисунок 113"/>
          <p:cNvPicPr>
            <a:picLocks noChangeAspect="1"/>
          </p:cNvPicPr>
          <p:nvPr/>
        </p:nvPicPr>
        <p:blipFill>
          <a:blip r:embed="rId7"/>
          <a:stretch/>
        </p:blipFill>
        <p:spPr bwMode="auto">
          <a:xfrm>
            <a:off x="6295233" y="2363271"/>
            <a:ext cx="553917" cy="406188"/>
          </a:xfrm>
          <a:prstGeom prst="rect">
            <a:avLst/>
          </a:prstGeom>
        </p:spPr>
      </p:pic>
      <p:sp>
        <p:nvSpPr>
          <p:cNvPr id="26" name="Заголовок 25"/>
          <p:cNvSpPr>
            <a:spLocks noGrp="1"/>
          </p:cNvSpPr>
          <p:nvPr>
            <p:ph type="title"/>
          </p:nvPr>
        </p:nvSpPr>
        <p:spPr bwMode="auto">
          <a:xfrm>
            <a:off x="220664" y="412411"/>
            <a:ext cx="10554012" cy="961141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sz="2400" dirty="0"/>
          </a:p>
        </p:txBody>
      </p:sp>
      <p:sp>
        <p:nvSpPr>
          <p:cNvPr id="34" name="TextBox 33"/>
          <p:cNvSpPr txBox="1"/>
          <p:nvPr/>
        </p:nvSpPr>
        <p:spPr bwMode="auto">
          <a:xfrm>
            <a:off x="248656" y="6386695"/>
            <a:ext cx="11694686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Mediascope</a:t>
            </a:r>
            <a:r>
              <a:rPr lang="en-GB" dirty="0"/>
              <a:t> {</a:t>
            </a:r>
            <a:r>
              <a:rPr lang="en-GB" dirty="0" err="1"/>
              <a:t>ly_first_month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рег. ТВ и нац. ТВ</a:t>
            </a:r>
            <a:r>
              <a:rPr lang="en-US" dirty="0"/>
              <a:t> – </a:t>
            </a:r>
            <a:r>
              <a:rPr lang="ru-RU" dirty="0"/>
              <a:t>региональная доставка, Москва, спонсорство не учтено; Ключевые конкуренты, Доставка; </a:t>
            </a:r>
          </a:p>
          <a:p>
            <a:r>
              <a:rPr lang="ru-RU" dirty="0"/>
              <a:t>Кол-во товаров считается по количеству уникальных товаров в роликах за неделю  </a:t>
            </a:r>
          </a:p>
        </p:txBody>
      </p:sp>
      <p:sp>
        <p:nvSpPr>
          <p:cNvPr id="2" name="TextBox 1"/>
          <p:cNvSpPr txBox="1"/>
          <p:nvPr/>
        </p:nvSpPr>
        <p:spPr bwMode="auto">
          <a:xfrm>
            <a:off x="675344" y="3914492"/>
            <a:ext cx="821888" cy="359064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defTabSz="914355">
              <a:lnSpc>
                <a:spcPct val="100000"/>
              </a:lnSpc>
              <a:spcBef>
                <a:spcPts val="0"/>
              </a:spcBef>
              <a:defRPr sz="800" b="0">
                <a:solidFill>
                  <a:prstClr val="black">
                    <a:lumMod val="50000"/>
                    <a:lumOff val="50000"/>
                  </a:prstClr>
                </a:solidFill>
                <a:latin typeface="5ka Sans Design Cond"/>
                <a:ea typeface="5ka Sans Design Cond"/>
                <a:cs typeface="5ka Sans Design Cond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Кол-во 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товаров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</p:txBody>
      </p:sp>
      <p:pic>
        <p:nvPicPr>
          <p:cNvPr id="3074" name="Picture 2" descr="Picture background"/>
          <p:cNvPicPr>
            <a:picLocks noChangeAspect="1" noChangeArrowheads="1"/>
          </p:cNvPicPr>
          <p:nvPr/>
        </p:nvPicPr>
        <p:blipFill>
          <a:blip r:embed="rId8"/>
          <a:stretch/>
        </p:blipFill>
        <p:spPr bwMode="auto">
          <a:xfrm>
            <a:off x="220664" y="2145511"/>
            <a:ext cx="498762" cy="472546"/>
          </a:xfrm>
          <a:prstGeom prst="rect">
            <a:avLst/>
          </a:prstGeom>
          <a:noFill/>
        </p:spPr>
      </p:pic>
      <p:sp>
        <p:nvSpPr>
          <p:cNvPr id="7" name="TextBox 6"/>
          <p:cNvSpPr txBox="1"/>
          <p:nvPr/>
        </p:nvSpPr>
        <p:spPr bwMode="auto">
          <a:xfrm>
            <a:off x="613065" y="1457678"/>
            <a:ext cx="821888" cy="359064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defTabSz="914355">
              <a:lnSpc>
                <a:spcPct val="100000"/>
              </a:lnSpc>
              <a:spcBef>
                <a:spcPts val="0"/>
              </a:spcBef>
              <a:defRPr sz="800" b="0">
                <a:solidFill>
                  <a:prstClr val="black">
                    <a:lumMod val="50000"/>
                    <a:lumOff val="50000"/>
                  </a:prstClr>
                </a:solidFill>
                <a:latin typeface="5ka Sans Design Cond"/>
                <a:ea typeface="5ka Sans Design Cond"/>
                <a:cs typeface="5ka Sans Design Cond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Кол-во 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товаров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</p:txBody>
      </p:sp>
      <p:sp>
        <p:nvSpPr>
          <p:cNvPr id="8" name="TextBox 7"/>
          <p:cNvSpPr txBox="1"/>
          <p:nvPr/>
        </p:nvSpPr>
        <p:spPr bwMode="auto">
          <a:xfrm>
            <a:off x="6295233" y="1457678"/>
            <a:ext cx="821888" cy="359064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marL="180975" defTabSz="914355">
              <a:lnSpc>
                <a:spcPct val="100000"/>
              </a:lnSpc>
              <a:spcBef>
                <a:spcPts val="0"/>
              </a:spcBef>
              <a:defRPr sz="800" b="0">
                <a:solidFill>
                  <a:prstClr val="black">
                    <a:lumMod val="50000"/>
                    <a:lumOff val="50000"/>
                  </a:prstClr>
                </a:solidFill>
                <a:latin typeface="5ka Sans Design Cond"/>
                <a:ea typeface="5ka Sans Design Cond"/>
                <a:cs typeface="5ka Sans Design Cond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Кол-во 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  <a:p>
            <a:pPr marL="180975" marR="0" lvl="0" indent="0" algn="ctr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</a:rPr>
              <a:t>товаров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</a:endParaRPr>
          </a:p>
        </p:txBody>
      </p:sp>
      <p:sp>
        <p:nvSpPr>
          <p:cNvPr id="9" name="Заголовок 2"/>
          <p:cNvSpPr txBox="1"/>
          <p:nvPr/>
        </p:nvSpPr>
        <p:spPr bwMode="auto">
          <a:xfrm>
            <a:off x="5486675" y="4151126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algn="l" defTabSz="914400">
              <a:lnSpc>
                <a:spcPct val="90000"/>
              </a:lnSpc>
              <a:spcBef>
                <a:spcPts val="0"/>
              </a:spcBef>
              <a:defRPr sz="4800" b="1">
                <a:solidFill>
                  <a:prstClr val="black"/>
                </a:solidFill>
                <a:latin typeface="5ka Sans Design Black"/>
                <a:ea typeface="5ka Sans Design Black"/>
                <a:cs typeface="5ka Sans Design Black"/>
              </a:defRPr>
            </a:lvl1pPr>
          </a:lstStyle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  <a:ea typeface="5ka Sans Design Cond"/>
                <a:cs typeface="5ka Sans Design Cond"/>
              </a:rPr>
              <a:t>AWW</a:t>
            </a:r>
            <a:endParaRPr kumimoji="0" lang="ru-RU" sz="10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  <a:ea typeface="5ka Sans Design Cond"/>
              <a:cs typeface="5ka Sans Design Cond"/>
            </a:endParaRPr>
          </a:p>
        </p:txBody>
      </p:sp>
      <p:sp>
        <p:nvSpPr>
          <p:cNvPr id="10" name="Заголовок 2"/>
          <p:cNvSpPr txBox="1"/>
          <p:nvPr/>
        </p:nvSpPr>
        <p:spPr bwMode="auto">
          <a:xfrm>
            <a:off x="11251965" y="1571883"/>
            <a:ext cx="852164" cy="244859"/>
          </a:xfrm>
          <a:prstGeom prst="rect">
            <a:avLst/>
          </a:prstGeom>
        </p:spPr>
        <p:txBody>
          <a:bodyPr vert="horz" lIns="91434" tIns="45717" rIns="91434" bIns="45717" rtlCol="0" anchor="ctr">
            <a:no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algn="l" defTabSz="914400">
              <a:lnSpc>
                <a:spcPct val="90000"/>
              </a:lnSpc>
              <a:spcBef>
                <a:spcPts val="0"/>
              </a:spcBef>
              <a:defRPr sz="4800" b="1">
                <a:solidFill>
                  <a:prstClr val="black"/>
                </a:solidFill>
                <a:latin typeface="5ka Sans Design Black"/>
                <a:ea typeface="5ka Sans Design Black"/>
                <a:cs typeface="5ka Sans Design Black"/>
              </a:defRPr>
            </a:lvl1pPr>
          </a:lstStyle>
          <a:p>
            <a:pPr marL="180975" marR="0" lvl="0" indent="0" algn="l" defTabSz="91435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5ka Sans Design Cond"/>
                <a:ea typeface="5ka Sans Design Cond"/>
                <a:cs typeface="5ka Sans Design Cond"/>
              </a:rPr>
              <a:t>AWW</a:t>
            </a:r>
            <a:endParaRPr kumimoji="0" lang="ru-RU" sz="8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5ka Sans Design Cond"/>
              <a:ea typeface="5ka Sans Design Cond"/>
              <a:cs typeface="5ka Sans Design Cond"/>
            </a:endParaRPr>
          </a:p>
        </p:txBody>
      </p:sp>
      <p:sp>
        <p:nvSpPr>
          <p:cNvPr id="3" name="Прямоугольник 2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, реклама Доставки, основные бренды, ТВ (Нац. и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Рег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).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cur_month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FBBCB73-392B-4FD2-DAFB-0ABF3EDF7A19}"/>
              </a:ext>
            </a:extLst>
          </p:cNvPr>
          <p:cNvSpPr txBox="1"/>
          <p:nvPr/>
        </p:nvSpPr>
        <p:spPr>
          <a:xfrm>
            <a:off x="2613450" y="1903674"/>
            <a:ext cx="360996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ly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5601249-BA14-F0C7-33DC-76D39DD28BBE}"/>
              </a:ext>
            </a:extLst>
          </p:cNvPr>
          <p:cNvSpPr txBox="1"/>
          <p:nvPr/>
        </p:nvSpPr>
        <p:spPr bwMode="auto">
          <a:xfrm>
            <a:off x="5111311" y="1898806"/>
            <a:ext cx="646331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c_year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265B953-90F4-FC23-EBBA-A27FB7464F83}"/>
              </a:ext>
            </a:extLst>
          </p:cNvPr>
          <p:cNvSpPr txBox="1"/>
          <p:nvPr/>
        </p:nvSpPr>
        <p:spPr bwMode="auto">
          <a:xfrm>
            <a:off x="8612623" y="1880425"/>
            <a:ext cx="360996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ly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94CF326-D4CE-A042-7F57-5ECAC351414E}"/>
              </a:ext>
            </a:extLst>
          </p:cNvPr>
          <p:cNvSpPr txBox="1"/>
          <p:nvPr/>
        </p:nvSpPr>
        <p:spPr bwMode="auto">
          <a:xfrm>
            <a:off x="11110484" y="1875557"/>
            <a:ext cx="646331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c_year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F98A43B-A588-79EE-FD91-820D254B3C6E}"/>
              </a:ext>
            </a:extLst>
          </p:cNvPr>
          <p:cNvSpPr txBox="1"/>
          <p:nvPr/>
        </p:nvSpPr>
        <p:spPr bwMode="auto">
          <a:xfrm>
            <a:off x="2613450" y="4109132"/>
            <a:ext cx="360996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ly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F424E4D-53BF-4CB5-414B-D9EE7F8BAF81}"/>
              </a:ext>
            </a:extLst>
          </p:cNvPr>
          <p:cNvSpPr txBox="1"/>
          <p:nvPr/>
        </p:nvSpPr>
        <p:spPr bwMode="auto">
          <a:xfrm>
            <a:off x="5077957" y="4088989"/>
            <a:ext cx="646331" cy="25391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c_year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1501586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95" name="TextBox 94"/>
          <p:cNvSpPr txBox="1"/>
          <p:nvPr/>
        </p:nvSpPr>
        <p:spPr bwMode="auto">
          <a:xfrm>
            <a:off x="202984" y="6510329"/>
            <a:ext cx="11694686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/>
              <a:t>, </a:t>
            </a:r>
            <a:r>
              <a:rPr lang="en-GB"/>
              <a:t>{ly_first_month} </a:t>
            </a:r>
            <a:r>
              <a:rPr lang="en-GB" dirty="0"/>
              <a:t>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Бюджеты включают нац., </a:t>
            </a:r>
            <a:r>
              <a:rPr lang="ru-RU" dirty="0" err="1"/>
              <a:t>рег</a:t>
            </a:r>
            <a:r>
              <a:rPr lang="ru-RU" dirty="0"/>
              <a:t> ТВ и спонсорство; веса включают Нац. ТВ, спонсорство, и взвешенные на нац. панель рег. Рейтинги. </a:t>
            </a:r>
            <a:r>
              <a:rPr lang="en-US" dirty="0"/>
              <a:t>SOV - Share of Voice</a:t>
            </a:r>
            <a:r>
              <a:rPr lang="ru-RU" dirty="0"/>
              <a:t> </a:t>
            </a:r>
            <a:r>
              <a:rPr lang="en-US" dirty="0"/>
              <a:t>, </a:t>
            </a:r>
            <a:r>
              <a:rPr lang="ru-RU" dirty="0"/>
              <a:t>доля голоса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SOS – Share of Spends</a:t>
            </a:r>
            <a:r>
              <a:rPr lang="ru-RU" dirty="0"/>
              <a:t>, доля затрат.</a:t>
            </a:r>
            <a:endParaRPr dirty="0"/>
          </a:p>
        </p:txBody>
      </p:sp>
      <p:sp>
        <p:nvSpPr>
          <p:cNvPr id="13" name="Заголовок 12"/>
          <p:cNvSpPr>
            <a:spLocks noGrp="1"/>
          </p:cNvSpPr>
          <p:nvPr>
            <p:ph type="title"/>
          </p:nvPr>
        </p:nvSpPr>
        <p:spPr bwMode="auto">
          <a:xfrm>
            <a:off x="289838" y="463265"/>
            <a:ext cx="10959799" cy="888677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00000"/>
              </a:lnSpc>
            </a:pPr>
            <a:r>
              <a:rPr lang="en-US" sz="2400" dirty="0"/>
              <a:t>{header}</a:t>
            </a:r>
            <a:endParaRPr lang="ru-RU" sz="2400" dirty="0"/>
          </a:p>
        </p:txBody>
      </p:sp>
      <p:sp>
        <p:nvSpPr>
          <p:cNvPr id="21" name="TextBox 20"/>
          <p:cNvSpPr txBox="1"/>
          <p:nvPr/>
        </p:nvSpPr>
        <p:spPr bwMode="auto">
          <a:xfrm>
            <a:off x="149314" y="5122779"/>
            <a:ext cx="11802026" cy="651460"/>
          </a:xfrm>
          <a:prstGeom prst="rect">
            <a:avLst/>
          </a:prstGeom>
        </p:spPr>
        <p:txBody>
          <a:bodyPr vert="horz" wrap="square" lIns="36000" tIns="36000" rIns="36000" bIns="36000" numCol="1" rtlCol="0" anchor="t" anchorCtr="0" compatLnSpc="1">
            <a:prstTxWarp prst="textNoShape">
              <a:avLst/>
            </a:prstTxWarp>
            <a:noAutofit/>
          </a:bodyPr>
          <a:lstStyle>
            <a:defPPr>
              <a:defRPr lang="ru-RU"/>
            </a:defPPr>
            <a:lvl1pPr marL="285750" marR="0" lvl="0" indent="-285750" defTabSz="109516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Wingdings"/>
              <a:buChar char="§"/>
              <a:tabLst/>
              <a:defRPr kumimoji="0" sz="1400" b="0" i="0" u="none" strike="noStrike" kern="0" cap="none" spc="0" normalizeH="0" baseline="0">
                <a:ln>
                  <a:noFill/>
                </a:ln>
                <a:solidFill>
                  <a:srgbClr val="E7E6E6">
                    <a:lumMod val="10000"/>
                  </a:srgbClr>
                </a:solidFill>
                <a:effectLst/>
                <a:uLnTx/>
                <a:uFillTx/>
                <a:cs typeface="Arial"/>
              </a:defRPr>
            </a:lvl1pPr>
            <a:lvl2pPr indent="85721" algn="ctr" defTabSz="219063">
              <a:defRPr sz="1900"/>
            </a:lvl2pPr>
            <a:lvl3pPr indent="171442" algn="ctr" defTabSz="219063">
              <a:defRPr sz="1900"/>
            </a:lvl3pPr>
            <a:lvl4pPr indent="257163" algn="ctr" defTabSz="219063">
              <a:defRPr sz="1900"/>
            </a:lvl4pPr>
            <a:lvl5pPr indent="342882" algn="ctr" defTabSz="219063">
              <a:defRPr sz="1900"/>
            </a:lvl5pPr>
            <a:lvl6pPr indent="428603" algn="ctr" defTabSz="219063">
              <a:defRPr sz="1900"/>
            </a:lvl6pPr>
            <a:lvl7pPr indent="514324" algn="ctr" defTabSz="219063">
              <a:defRPr sz="1900"/>
            </a:lvl7pPr>
            <a:lvl8pPr indent="600045" algn="ctr" defTabSz="219063">
              <a:defRPr sz="1900"/>
            </a:lvl8pPr>
            <a:lvl9pPr indent="685766" algn="ctr" defTabSz="219063">
              <a:defRPr sz="1900"/>
            </a:lvl9pPr>
          </a:lstStyle>
          <a:p>
            <a:r>
              <a:rPr lang="en-US" dirty="0"/>
              <a:t>{text}</a:t>
            </a:r>
          </a:p>
        </p:txBody>
      </p:sp>
      <p:sp>
        <p:nvSpPr>
          <p:cNvPr id="2" name="Прямоугольник 1"/>
          <p:cNvSpPr/>
          <p:nvPr/>
        </p:nvSpPr>
        <p:spPr bwMode="auto">
          <a:xfrm>
            <a:off x="0" y="0"/>
            <a:ext cx="10734303" cy="340305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600" dirty="0"/>
              <a:t>Food-Retail </a:t>
            </a:r>
            <a:r>
              <a:rPr lang="ru-RU" sz="1600" dirty="0"/>
              <a:t>, реклама Доставки, основные бренды, ТВ (Нац. и </a:t>
            </a:r>
            <a:r>
              <a:rPr lang="ru-RU" sz="1600" dirty="0" err="1"/>
              <a:t>Рег</a:t>
            </a:r>
            <a:r>
              <a:rPr lang="ru-RU" sz="1600" dirty="0"/>
              <a:t>). </a:t>
            </a:r>
            <a:r>
              <a:rPr lang="en-GB" sz="1600" dirty="0">
                <a:solidFill>
                  <a:srgbClr val="FFFF00"/>
                </a:solidFill>
              </a:rPr>
              <a:t>{</a:t>
            </a:r>
            <a:r>
              <a:rPr lang="en-GB" sz="1600" dirty="0" err="1">
                <a:solidFill>
                  <a:srgbClr val="FFFF00"/>
                </a:solidFill>
              </a:rPr>
              <a:t>ly_first_month</a:t>
            </a:r>
            <a:r>
              <a:rPr lang="en-GB" sz="1600" dirty="0">
                <a:solidFill>
                  <a:srgbClr val="FFFF00"/>
                </a:solidFill>
              </a:rPr>
              <a:t>} - {</a:t>
            </a:r>
            <a:r>
              <a:rPr lang="en-GB" sz="1600" dirty="0" err="1">
                <a:solidFill>
                  <a:srgbClr val="FFFF00"/>
                </a:solidFill>
              </a:rPr>
              <a:t>cur_month</a:t>
            </a:r>
            <a:r>
              <a:rPr lang="en-GB" sz="1600" dirty="0">
                <a:solidFill>
                  <a:srgbClr val="FFFF00"/>
                </a:solidFill>
              </a:rPr>
              <a:t>}</a:t>
            </a:r>
            <a:endParaRPr lang="ru-RU" sz="1600" dirty="0"/>
          </a:p>
        </p:txBody>
      </p:sp>
      <p:graphicFrame>
        <p:nvGraphicFramePr>
          <p:cNvPr id="11" name="table__delivery_sos_table">
            <a:extLst>
              <a:ext uri="{FF2B5EF4-FFF2-40B4-BE49-F238E27FC236}">
                <a16:creationId xmlns:a16="http://schemas.microsoft.com/office/drawing/2014/main" id="{5FBEDE4F-B038-D18F-2D6E-6FB81A04FE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8318222"/>
              </p:ext>
            </p:extLst>
          </p:nvPr>
        </p:nvGraphicFramePr>
        <p:xfrm>
          <a:off x="289838" y="1835995"/>
          <a:ext cx="11469147" cy="1300717"/>
        </p:xfrm>
        <a:graphic>
          <a:graphicData uri="http://schemas.openxmlformats.org/drawingml/2006/table">
            <a:tbl>
              <a:tblPr/>
              <a:tblGrid>
                <a:gridCol w="1501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72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20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52077">
                <a:tc rowSpan="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ly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SOS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c_year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solidFill>
                      <a:srgbClr val="DAF2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2409">
                <a:tc vMerge="1">
                  <a:txBody>
                    <a:bodyPr/>
                    <a:lstStyle/>
                    <a:p>
                      <a:pPr>
                        <a:defRPr/>
                      </a:pPr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ПЯТЕРОЧКА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ПЕРЕКРЕСТОК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МАГНИТ</a:t>
                      </a:r>
                      <a:endParaRPr lang="ru-RU"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2" name="table__delivery_sov_table">
            <a:extLst>
              <a:ext uri="{FF2B5EF4-FFF2-40B4-BE49-F238E27FC236}">
                <a16:creationId xmlns:a16="http://schemas.microsoft.com/office/drawing/2014/main" id="{DA0C4847-658D-DA1F-95D0-000E680D6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843209"/>
              </p:ext>
            </p:extLst>
          </p:nvPr>
        </p:nvGraphicFramePr>
        <p:xfrm>
          <a:off x="289838" y="3479387"/>
          <a:ext cx="11469147" cy="1300717"/>
        </p:xfrm>
        <a:graphic>
          <a:graphicData uri="http://schemas.openxmlformats.org/drawingml/2006/table">
            <a:tbl>
              <a:tblPr/>
              <a:tblGrid>
                <a:gridCol w="1501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72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20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410556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52077">
                <a:tc rowSpan="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18+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solidFill>
                      <a:srgbClr val="FFFF99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(All 18+) 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ly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 gridSpan="12"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SOV (All 18+)  {</a:t>
                      </a:r>
                      <a:r>
                        <a:rPr lang="en-US" sz="900" b="1" i="0" u="none" strike="noStrike" dirty="0" err="1">
                          <a:solidFill>
                            <a:srgbClr val="000000"/>
                          </a:solidFill>
                          <a:latin typeface="Aptos Narrow"/>
                        </a:rPr>
                        <a:t>c_year</a:t>
                      </a:r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}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solidFill>
                      <a:srgbClr val="DAF2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2409">
                <a:tc vMerge="1">
                  <a:txBody>
                    <a:bodyPr/>
                    <a:lstStyle/>
                    <a:p>
                      <a:pPr>
                        <a:defRPr/>
                      </a:pPr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endParaRPr lang="ru-RU" sz="900" b="1" i="0" u="none" strike="noStrike">
                        <a:solidFill>
                          <a:srgbClr val="000000"/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2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3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4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5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6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7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8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9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10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11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12</a:t>
                      </a:r>
                      <a:endParaRPr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ПЯТЕРОЧКА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ПЕРЕКРЕСТОК</a:t>
                      </a:r>
                      <a:endParaRPr sz="2400" b="1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077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МАГНИТ</a:t>
                      </a:r>
                      <a:endParaRPr lang="ru-RU" sz="2400" b="1" dirty="0"/>
                    </a:p>
                  </a:txBody>
                  <a:tcPr marL="7620" marR="7620" marT="7620" marB="0" anchor="ctr">
                    <a:lnL w="12700" algn="ctr">
                      <a:solidFill>
                        <a:srgbClr val="FFC000"/>
                      </a:solidFill>
                    </a:lnL>
                    <a:ln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FFC000"/>
                      </a:solidFill>
                    </a:lnL>
                    <a:lnR w="12700" algn="ctr">
                      <a:solidFill>
                        <a:srgbClr val="FFC000"/>
                      </a:solidFill>
                    </a:lnR>
                    <a:lnT w="12700" algn="ctr">
                      <a:solidFill>
                        <a:srgbClr val="FFC000"/>
                      </a:solidFill>
                    </a:lnT>
                    <a:lnB w="12700" algn="ctr">
                      <a:solidFill>
                        <a:srgbClr val="FFC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noFill/>
                    </a:lnT>
                    <a:lnB w="12700" algn="ctr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rgbClr val="3C7D2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/>
                          <a:ea typeface="+mn-ea"/>
                          <a:cs typeface="Arial"/>
                        </a:rPr>
                        <a:t>-</a:t>
                      </a:r>
                      <a:endParaRPr lang="ru-RU" sz="9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rgbClr val="3C7D22"/>
                      </a:solidFill>
                    </a:lnL>
                    <a:lnR w="12700" algn="ctr">
                      <a:solidFill>
                        <a:srgbClr val="3C7D22"/>
                      </a:solidFill>
                    </a:lnR>
                    <a:lnT w="12700" algn="ctr">
                      <a:solidFill>
                        <a:srgbClr val="3C7D22"/>
                      </a:solidFill>
                    </a:lnT>
                    <a:lnB w="12700" algn="ctr">
                      <a:solidFill>
                        <a:srgbClr val="3C7D22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 bwMode="auto"/>
        <p:txBody>
          <a:bodyPr anchor="ctr">
            <a:normAutofit/>
          </a:bodyPr>
          <a:lstStyle/>
          <a:p>
            <a:pPr>
              <a:defRPr/>
            </a:pPr>
            <a:r>
              <a:rPr lang="ru-RU" sz="6000" dirty="0">
                <a:latin typeface="5ka Sans Design Black"/>
                <a:ea typeface="5ka Sans Design Black"/>
                <a:cs typeface="5ka Sans Design Black"/>
              </a:rPr>
              <a:t>6. </a:t>
            </a:r>
            <a:r>
              <a:rPr lang="ru-RU" dirty="0">
                <a:latin typeface="5ka Sans Design Black"/>
                <a:ea typeface="5ka Sans Design Black"/>
                <a:cs typeface="5ka Sans Design Black"/>
              </a:rPr>
              <a:t>Таблицы</a:t>
            </a:r>
            <a:endParaRPr dirty="0"/>
          </a:p>
        </p:txBody>
      </p:sp>
      <p:sp>
        <p:nvSpPr>
          <p:cNvPr id="8" name="Текст 7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{</a:t>
            </a:r>
            <a:r>
              <a:rPr lang="en-GB" b="1" dirty="0" err="1">
                <a:solidFill>
                  <a:schemeClr val="accent6">
                    <a:lumMod val="75000"/>
                  </a:schemeClr>
                </a:solidFill>
              </a:rPr>
              <a:t>current_month</a:t>
            </a:r>
            <a:r>
              <a:rPr lang="en-GB" b="1" dirty="0">
                <a:solidFill>
                  <a:schemeClr val="accent6">
                    <a:lumMod val="75000"/>
                  </a:schemeClr>
                </a:solidFill>
              </a:rPr>
              <a:t>}</a:t>
            </a:r>
            <a:endParaRPr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0" y="4039986"/>
            <a:ext cx="12192000" cy="15794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0" y="4176179"/>
            <a:ext cx="12192000" cy="157942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118872" y="365126"/>
            <a:ext cx="10662017" cy="718174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Реклама оффлайн-магазинов, смешанная реклама, доставка в Ритейле: расходы (</a:t>
            </a:r>
            <a:r>
              <a:rPr lang="ru-RU" sz="2000" dirty="0" err="1"/>
              <a:t>руб</a:t>
            </a:r>
            <a:r>
              <a:rPr lang="ru-RU" sz="2000" dirty="0"/>
              <a:t>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lang="ru-RU" sz="2000" dirty="0"/>
          </a:p>
        </p:txBody>
      </p:sp>
      <p:sp>
        <p:nvSpPr>
          <p:cNvPr id="6" name="TextBox 5"/>
          <p:cNvSpPr txBox="1"/>
          <p:nvPr/>
        </p:nvSpPr>
        <p:spPr bwMode="auto">
          <a:xfrm>
            <a:off x="351613" y="6605729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СМИ, Все медиа,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</a:t>
            </a:r>
            <a:r>
              <a:rPr lang="en-US" dirty="0" err="1"/>
              <a:t>SimilarWeb</a:t>
            </a:r>
            <a:r>
              <a:rPr lang="en-US" dirty="0"/>
              <a:t>, desktop &amp; mobile, </a:t>
            </a:r>
            <a:r>
              <a:rPr lang="ru-RU" dirty="0"/>
              <a:t>Ритейл вкл. Оффлайн, смешанную коммуникацию и Доставку.</a:t>
            </a:r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1" y="0"/>
            <a:ext cx="1094105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Food-Retail(реклама оффлайн-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магазинов,смешанная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и доставки),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осн.бренды.Все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медиа.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3" name="table__total_invest_2025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713937"/>
              </p:ext>
            </p:extLst>
          </p:nvPr>
        </p:nvGraphicFramePr>
        <p:xfrm>
          <a:off x="243836" y="1115307"/>
          <a:ext cx="11596550" cy="25979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3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Бренд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фев.25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апр.25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май.25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июл.25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авг.25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сен.25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окт.25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ноя.25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дек.25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Итого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МАГНИТ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САМОКАТ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ПЯТЕРОЧКА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КУПЕР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ЯНДЕКС.ЛАВКА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ПЕРЕКРЕСТОК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ЛЕНТА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OZON</a:t>
                      </a: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 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FRESH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ЧИЖИК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АШАН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ДИКСИ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ОКЕЙ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METRO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SPAR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ВКУСВИЛЛ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GLOBUS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МОНЕТКА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АЗБУКА ВКУСА</a:t>
                      </a: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Общий итог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8168"/>
                  </a:ext>
                </a:extLst>
              </a:tr>
            </a:tbl>
          </a:graphicData>
        </a:graphic>
      </p:graphicFrame>
      <p:graphicFrame>
        <p:nvGraphicFramePr>
          <p:cNvPr id="2" name="table__total_invest_2026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6979453"/>
              </p:ext>
            </p:extLst>
          </p:nvPr>
        </p:nvGraphicFramePr>
        <p:xfrm>
          <a:off x="243830" y="3824280"/>
          <a:ext cx="11596549" cy="25807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5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7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05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10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77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510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65549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Бренд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фев.2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апр.2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май.2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июл.2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авг.2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сен.2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окт.2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ноя.2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дек.2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Итого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МАГНИТ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САМОКАТ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ПЯТЕРОЧКА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КУПЕР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ЯНДЕКС.ЛАВКА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ПЕРЕКРЕСТОК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ЛЕНТА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OZON</a:t>
                      </a: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 </a:t>
                      </a: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FRESH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ЧИЖИК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АШАН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round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ДИКСИ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bevel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ОКЕЙ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METRO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SPAR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ВКУСВИЛЛ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GLOBUS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МОНЕТКА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cs typeface="Arial"/>
                        </a:rPr>
                        <a:t>АЗБУКА ВКУСА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Общий итог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63091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118872" y="365126"/>
            <a:ext cx="10941050" cy="718174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ru-RU" sz="2000" dirty="0"/>
              <a:t>Реклама оффлайн-магазинов, смешанная реклама, без доставки в Ритейле: расходы (</a:t>
            </a:r>
            <a:r>
              <a:rPr lang="ru-RU" sz="2000" dirty="0" err="1"/>
              <a:t>руб</a:t>
            </a:r>
            <a:r>
              <a:rPr lang="ru-RU" sz="2000" dirty="0"/>
              <a:t>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lang="ru-RU" sz="3600" dirty="0"/>
          </a:p>
        </p:txBody>
      </p:sp>
      <p:sp>
        <p:nvSpPr>
          <p:cNvPr id="6" name="TextBox 5"/>
          <p:cNvSpPr txBox="1"/>
          <p:nvPr/>
        </p:nvSpPr>
        <p:spPr bwMode="auto">
          <a:xfrm>
            <a:off x="351613" y="6605729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СМИ, Все медиа,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</a:t>
            </a:r>
            <a:r>
              <a:rPr lang="en-US" dirty="0" err="1"/>
              <a:t>SimilarWeb</a:t>
            </a:r>
            <a:r>
              <a:rPr lang="en-US" dirty="0"/>
              <a:t>, desktop &amp; mobile, </a:t>
            </a:r>
            <a:r>
              <a:rPr lang="ru-RU" dirty="0"/>
              <a:t>Ритейл оффлайн, смешанная коммуникация, без  Доставки</a:t>
            </a:r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1" y="0"/>
            <a:ext cx="1094105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Food-Retail(реклама Ритейл категории без доставки),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осн.бренды.Все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медиа.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3" name="table__offline_invest_2025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864337"/>
              </p:ext>
            </p:extLst>
          </p:nvPr>
        </p:nvGraphicFramePr>
        <p:xfrm>
          <a:off x="243830" y="1148534"/>
          <a:ext cx="11596550" cy="25979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3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Бренд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фев.25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апр.25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май.25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июл.25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авг.25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сен.25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окт.25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ноя.25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дек.25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Итого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МАГНИТ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САМОКАТ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ПЯТЕРОЧКА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КУПЕР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ЯНДЕКС.ЛАВКА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ПЕРЕКРЕСТОК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ЛЕНТА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OZONF</a:t>
                      </a: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 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RESH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ЧИЖИК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АШАН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ДИКСИ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ОКЕЙ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METRO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SPAR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ВКУСВИЛЛ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GLOBUS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МОНЕТКА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АЗБУКА ВКУСА</a:t>
                      </a: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Общий итог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8168"/>
                  </a:ext>
                </a:extLst>
              </a:tr>
            </a:tbl>
          </a:graphicData>
        </a:graphic>
      </p:graphicFrame>
      <p:graphicFrame>
        <p:nvGraphicFramePr>
          <p:cNvPr id="2" name="table__offline_invest_2026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895644"/>
              </p:ext>
            </p:extLst>
          </p:nvPr>
        </p:nvGraphicFramePr>
        <p:xfrm>
          <a:off x="243830" y="3824280"/>
          <a:ext cx="11596549" cy="25807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5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7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05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10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77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510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65549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Бренд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фев.2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апр.2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май.2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июл.2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авг.2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сен.2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окт.2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ноя.2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дек.2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Итого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МАГНИТ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САМОКАТ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ПЯТЕРОЧКА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КУПЕР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ЯНДЕКС.ЛАВКА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ПЕРЕКРЕСТОК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ЛЕНТА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OZON</a:t>
                      </a: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 </a:t>
                      </a: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FRESH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ЧИЖИК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АШАН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round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ДИКСИ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bevel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ОКЕЙ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METRO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SPAR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ВКУСВИЛЛ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GLOBUS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МОНЕТКА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cs typeface="Arial"/>
                        </a:rPr>
                        <a:t>АЗБУКА ВКУСА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Общий итог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6309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906610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243830" y="365126"/>
            <a:ext cx="10537059" cy="718174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Реклама доставки в Ритейл категории : расходы (</a:t>
            </a:r>
            <a:r>
              <a:rPr lang="ru-RU" sz="2000" dirty="0" err="1"/>
              <a:t>руб</a:t>
            </a:r>
            <a:r>
              <a:rPr lang="ru-RU" sz="2000" dirty="0"/>
              <a:t>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lang="ru-RU" sz="3600" dirty="0"/>
          </a:p>
        </p:txBody>
      </p:sp>
      <p:sp>
        <p:nvSpPr>
          <p:cNvPr id="6" name="TextBox 5"/>
          <p:cNvSpPr txBox="1"/>
          <p:nvPr/>
        </p:nvSpPr>
        <p:spPr bwMode="auto">
          <a:xfrm>
            <a:off x="351613" y="6524938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 </a:t>
            </a:r>
            <a:r>
              <a:rPr lang="ru-RU" dirty="0"/>
              <a:t>Мониторинг СМИ, Все медиа,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</a:t>
            </a:r>
            <a:r>
              <a:rPr lang="en-US" dirty="0" err="1"/>
              <a:t>SimilarWeb</a:t>
            </a:r>
            <a:r>
              <a:rPr lang="en-US" dirty="0"/>
              <a:t>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desktop &amp; mobile, </a:t>
            </a:r>
            <a:r>
              <a:rPr lang="ru-RU" dirty="0"/>
              <a:t>Ритейл реклама только Доставки.</a:t>
            </a:r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1" y="0"/>
            <a:ext cx="1094105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Food-Retail(реклама Ритейл категории только Доставка),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осн.бренды.Все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медиа.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3" name="table__delivery_invest_2025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65498"/>
              </p:ext>
            </p:extLst>
          </p:nvPr>
        </p:nvGraphicFramePr>
        <p:xfrm>
          <a:off x="243830" y="1101068"/>
          <a:ext cx="11596550" cy="25979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3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33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86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Бренд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фев.25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апр.25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май.25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июл.25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авг.25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сен.25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окт.25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ноя.25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дек.25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Итого</a:t>
                      </a:r>
                      <a:endParaRPr dirty="0"/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МАГНИТ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САМОКАТ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ПЯТЕРОЧКА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КУПЕР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ЯНДЕКС.ЛАВКА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ПЕРЕКРЕСТОК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ЛЕНТА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OZON</a:t>
                      </a: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 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FRESH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ЧИЖИК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АШАН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ДИКСИ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ОКЕЙ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METRO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SPAR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ВКУСВИЛЛ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GLOBUS</a:t>
                      </a:r>
                      <a:endParaRPr lang="en-US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  <a:round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МОНЕТКА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round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867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АЗБУКА ВКУСА</a:t>
                      </a: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</a:rPr>
                        <a:t>Общий итог</a:t>
                      </a:r>
                      <a:endParaRPr lang="ru-RU" sz="700" b="1" i="0" u="none" strike="noStrike" dirty="0">
                        <a:solidFill>
                          <a:schemeClr val="bg1"/>
                        </a:solidFill>
                        <a:latin typeface="Aptos Narrow"/>
                      </a:endParaRPr>
                    </a:p>
                  </a:txBody>
                  <a:tcPr marL="4191" marR="4191" marT="4191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8168"/>
                  </a:ext>
                </a:extLst>
              </a:tr>
            </a:tbl>
          </a:graphicData>
        </a:graphic>
      </p:graphicFrame>
      <p:graphicFrame>
        <p:nvGraphicFramePr>
          <p:cNvPr id="2" name="table__delivery_invest_2026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9466"/>
              </p:ext>
            </p:extLst>
          </p:nvPr>
        </p:nvGraphicFramePr>
        <p:xfrm>
          <a:off x="243830" y="3824280"/>
          <a:ext cx="11596549" cy="25807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5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7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05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10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77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510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70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3581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3343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34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65549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Бренд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фев.2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апр.2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май.2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июл.2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авг.2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сен.2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окт.2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ноя.2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дек.2</a:t>
                      </a:r>
                      <a:r>
                        <a:rPr lang="en-US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6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Итого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МАГНИТ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САМОКАТ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ПЯТЕРОЧКА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  <a:round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КУПЕР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ЯНДЕКС.ЛАВКА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ПЕРЕКРЕСТОК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ЛЕНТА</a:t>
                      </a:r>
                      <a:endParaRPr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OZON</a:t>
                      </a: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 </a:t>
                      </a: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FRESH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ЧИЖИК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АШАН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round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ДИКСИ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bevel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bevel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ОКЕЙ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  <a:miter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METRO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SPAR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ВКУСВИЛЛ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en-US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GLOBUS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  <a:miter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МОНЕТКА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algn="ctr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cs typeface="Arial"/>
                        </a:rPr>
                        <a:t>АЗБУКА ВКУСА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algn="ctr">
                      <a:solidFill>
                        <a:schemeClr val="tx1"/>
                      </a:solidFill>
                    </a:lnL>
                    <a:lnR w="12700" algn="ctr">
                      <a:solidFill>
                        <a:schemeClr val="tx1"/>
                      </a:solidFill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0016">
                <a:tc>
                  <a:txBody>
                    <a:bodyPr/>
                    <a:lstStyle/>
                    <a:p>
                      <a:pPr marL="0" algn="ctr" defTabSz="914400">
                        <a:defRPr/>
                      </a:pPr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latin typeface="Aptos Narrow"/>
                          <a:ea typeface="Arial"/>
                          <a:cs typeface="Arial"/>
                        </a:rPr>
                        <a:t>Общий итог</a:t>
                      </a:r>
                      <a:endParaRPr dirty="0"/>
                    </a:p>
                  </a:txBody>
                  <a:tcPr marL="3763" marR="3763" marT="3763" marB="0" anchor="b">
                    <a:lnL w="12700" algn="ctr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7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6309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072419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241885" y="347359"/>
            <a:ext cx="10780890" cy="87184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ТВ реклама Ритейл категории: расходы (</a:t>
            </a:r>
            <a:r>
              <a:rPr lang="ru-RU" sz="2000" dirty="0" err="1"/>
              <a:t>руб</a:t>
            </a:r>
            <a:r>
              <a:rPr lang="ru-RU" sz="2000" dirty="0"/>
              <a:t>) и </a:t>
            </a:r>
            <a:r>
              <a:rPr lang="en-US" sz="2000" dirty="0"/>
              <a:t>SOS</a:t>
            </a:r>
            <a:r>
              <a:rPr lang="ru-RU" sz="2000" dirty="0"/>
              <a:t> (%)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sz="2000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1" y="0"/>
            <a:ext cx="1088136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офлайн магазинов, смешанная, доставка),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6" name="TextBox 15"/>
          <p:cNvSpPr txBox="1"/>
          <p:nvPr/>
        </p:nvSpPr>
        <p:spPr bwMode="auto">
          <a:xfrm>
            <a:off x="351613" y="6461419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/>
              <a:t>Mediascope,</a:t>
            </a:r>
            <a:r>
              <a:rPr lang="ru-RU" dirty="0"/>
              <a:t>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ТВ спонсорство),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</a:t>
            </a:r>
            <a:r>
              <a:rPr lang="en-US" dirty="0"/>
              <a:t> </a:t>
            </a:r>
            <a:r>
              <a:rPr lang="ru-RU" dirty="0"/>
              <a:t>весь Ритейл, </a:t>
            </a:r>
            <a:r>
              <a:rPr lang="ru-RU" dirty="0" err="1"/>
              <a:t>осн</a:t>
            </a:r>
            <a:r>
              <a:rPr lang="ru-RU" dirty="0"/>
              <a:t>. бренды</a:t>
            </a:r>
            <a:endParaRPr dirty="0"/>
          </a:p>
        </p:txBody>
      </p:sp>
      <p:graphicFrame>
        <p:nvGraphicFramePr>
          <p:cNvPr id="7" name="table__total_mix_2025_table">
            <a:extLst>
              <a:ext uri="{FF2B5EF4-FFF2-40B4-BE49-F238E27FC236}">
                <a16:creationId xmlns:a16="http://schemas.microsoft.com/office/drawing/2014/main" id="{A92F6A32-60B8-C5B3-3D11-EF6DBF1BDC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813650"/>
              </p:ext>
            </p:extLst>
          </p:nvPr>
        </p:nvGraphicFramePr>
        <p:xfrm>
          <a:off x="80332" y="1416506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6074041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0620428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85482981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320197513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36159557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537349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97697218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68092236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86718897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91688492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9387970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38984143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847009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477057034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50041134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626483995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713747126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19798303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029138151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393342758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857668122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684022848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443522470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563788811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176735754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2145005898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1428065523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3438907988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956696290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41537724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339204968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66634255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30952229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191210756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03165711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558804469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73295778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46637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928667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50927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745289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683426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501169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89686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10883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764229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89047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31979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09806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30226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7661625"/>
                  </a:ext>
                </a:extLst>
              </a:tr>
            </a:tbl>
          </a:graphicData>
        </a:graphic>
      </p:graphicFrame>
      <p:graphicFrame>
        <p:nvGraphicFramePr>
          <p:cNvPr id="9" name="table__total_mix_2026_table">
            <a:extLst>
              <a:ext uri="{FF2B5EF4-FFF2-40B4-BE49-F238E27FC236}">
                <a16:creationId xmlns:a16="http://schemas.microsoft.com/office/drawing/2014/main" id="{1BF6E769-F782-1994-4492-B4D99A2E6B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275956"/>
              </p:ext>
            </p:extLst>
          </p:nvPr>
        </p:nvGraphicFramePr>
        <p:xfrm>
          <a:off x="80332" y="3966252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20968265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4109585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926167471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558767421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156123623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9039136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95301434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2106410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90568431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9122203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33446691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10039092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5542549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892605747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806311158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825765432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92487938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75653174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984532088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96265815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21961636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948757129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80917836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6797921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027664577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61223830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369801362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202937355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345740687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80424215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1208769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332493340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31423483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731282790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038417539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470671313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4862043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1645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08534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057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541582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8565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53434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450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5834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8705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34839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1667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8878985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63686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460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241885" y="347359"/>
            <a:ext cx="10780890" cy="87184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ТВ реклама Ритейл категории без учета Доставки: расходы (</a:t>
            </a:r>
            <a:r>
              <a:rPr lang="ru-RU" sz="2000" dirty="0" err="1"/>
              <a:t>руб</a:t>
            </a:r>
            <a:r>
              <a:rPr lang="ru-RU" sz="2000" dirty="0"/>
              <a:t>) и </a:t>
            </a:r>
            <a:r>
              <a:rPr lang="en-US" sz="2000" dirty="0"/>
              <a:t>SOS</a:t>
            </a:r>
            <a:r>
              <a:rPr lang="ru-RU" sz="2000" dirty="0"/>
              <a:t> (%)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sz="2000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1" y="0"/>
            <a:ext cx="1088136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Ритейл категории без доставки),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6" name="TextBox 15"/>
          <p:cNvSpPr txBox="1"/>
          <p:nvPr/>
        </p:nvSpPr>
        <p:spPr bwMode="auto">
          <a:xfrm>
            <a:off x="241885" y="6542705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</a:t>
            </a:r>
            <a:r>
              <a:rPr lang="ru-RU" dirty="0"/>
              <a:t>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ТВ спонсорства),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весь Ритейл без учета Доставки, </a:t>
            </a:r>
            <a:r>
              <a:rPr lang="ru-RU" dirty="0" err="1"/>
              <a:t>осн</a:t>
            </a:r>
            <a:r>
              <a:rPr lang="ru-RU" dirty="0"/>
              <a:t>. бренды</a:t>
            </a:r>
            <a:endParaRPr dirty="0"/>
          </a:p>
        </p:txBody>
      </p:sp>
      <p:graphicFrame>
        <p:nvGraphicFramePr>
          <p:cNvPr id="7" name="table__offline_mix_2025_table">
            <a:extLst>
              <a:ext uri="{FF2B5EF4-FFF2-40B4-BE49-F238E27FC236}">
                <a16:creationId xmlns:a16="http://schemas.microsoft.com/office/drawing/2014/main" id="{A92F6A32-60B8-C5B3-3D11-EF6DBF1BDC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4461518"/>
              </p:ext>
            </p:extLst>
          </p:nvPr>
        </p:nvGraphicFramePr>
        <p:xfrm>
          <a:off x="80332" y="1416506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6074041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0620428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85482981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320197513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36159557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537349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97697218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68092236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86718897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91688492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9387970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38984143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847009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477057034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50041134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626483995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713747126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19798303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029138151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393342758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857668122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684022848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443522470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563788811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176735754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2145005898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1428065523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3438907988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956696290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41537724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339204968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66634255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30952229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191210756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03165711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558804469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73295778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46637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928667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50927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745289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683426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501169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89686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10883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764229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89047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31979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09806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30226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7661625"/>
                  </a:ext>
                </a:extLst>
              </a:tr>
            </a:tbl>
          </a:graphicData>
        </a:graphic>
      </p:graphicFrame>
      <p:graphicFrame>
        <p:nvGraphicFramePr>
          <p:cNvPr id="9" name="table__offline_mix_2026_table">
            <a:extLst>
              <a:ext uri="{FF2B5EF4-FFF2-40B4-BE49-F238E27FC236}">
                <a16:creationId xmlns:a16="http://schemas.microsoft.com/office/drawing/2014/main" id="{1BF6E769-F782-1994-4492-B4D99A2E6B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270207"/>
              </p:ext>
            </p:extLst>
          </p:nvPr>
        </p:nvGraphicFramePr>
        <p:xfrm>
          <a:off x="80332" y="3966252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20968265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4109585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926167471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558767421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156123623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9039136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95301434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2106410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90568431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9122203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33446691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10039092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5542549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892605747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806311158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825765432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92487938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75653174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984532088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96265815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21961636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948757129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80917836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6797921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027664577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61223830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369801362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202937355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345740687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80424215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1208769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332493340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31423483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731282790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038417539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470671313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4862043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1645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08534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057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541582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8565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53434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450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5834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8705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34839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1667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8878985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63686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4600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240111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241885" y="347359"/>
            <a:ext cx="10780890" cy="87184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ТВ реклама доставки в Ритейл категории : расходы (</a:t>
            </a:r>
            <a:r>
              <a:rPr lang="ru-RU" sz="2000" dirty="0" err="1"/>
              <a:t>руб</a:t>
            </a:r>
            <a:r>
              <a:rPr lang="ru-RU" sz="2000" dirty="0"/>
              <a:t>) и </a:t>
            </a:r>
            <a:r>
              <a:rPr lang="en-US" sz="2000" dirty="0"/>
              <a:t>SOS</a:t>
            </a:r>
            <a:r>
              <a:rPr lang="ru-RU" sz="2000" dirty="0"/>
              <a:t> (%)</a:t>
            </a:r>
            <a:br>
              <a:rPr lang="ru-RU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{current_month_1}</a:t>
            </a:r>
            <a:endParaRPr sz="2000" dirty="0"/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-1" y="0"/>
            <a:ext cx="10881361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Food-Retail(реклама Ритейл категории только Доставка),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{cur_month_1}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7" name="table__delivery_mix_2025_table">
            <a:extLst>
              <a:ext uri="{FF2B5EF4-FFF2-40B4-BE49-F238E27FC236}">
                <a16:creationId xmlns:a16="http://schemas.microsoft.com/office/drawing/2014/main" id="{A92F6A32-60B8-C5B3-3D11-EF6DBF1BDC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9688307"/>
              </p:ext>
            </p:extLst>
          </p:nvPr>
        </p:nvGraphicFramePr>
        <p:xfrm>
          <a:off x="171772" y="1416506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6074041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0620428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854829818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320197513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36159557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537349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97697218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68092236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86718897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91688492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59387970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38984143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8470094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477057034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50041134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626483995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713747126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19798303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029138151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393342758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857668122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684022848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443522470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563788811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176735754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2145005898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1428065523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3438907988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956696290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41537724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339204968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266634255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309522290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191210756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031657113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558804469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73295778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746637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928667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50927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745289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683426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501169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89686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10883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764229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89047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31979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09806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30226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7661625"/>
                  </a:ext>
                </a:extLst>
              </a:tr>
            </a:tbl>
          </a:graphicData>
        </a:graphic>
      </p:graphicFrame>
      <p:graphicFrame>
        <p:nvGraphicFramePr>
          <p:cNvPr id="9" name="table__delivery_mix_2026_table">
            <a:extLst>
              <a:ext uri="{FF2B5EF4-FFF2-40B4-BE49-F238E27FC236}">
                <a16:creationId xmlns:a16="http://schemas.microsoft.com/office/drawing/2014/main" id="{1BF6E769-F782-1994-4492-B4D99A2E6B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87407"/>
              </p:ext>
            </p:extLst>
          </p:nvPr>
        </p:nvGraphicFramePr>
        <p:xfrm>
          <a:off x="171772" y="3966252"/>
          <a:ext cx="11760054" cy="2444702"/>
        </p:xfrm>
        <a:graphic>
          <a:graphicData uri="http://schemas.openxmlformats.org/drawingml/2006/table">
            <a:tbl>
              <a:tblPr/>
              <a:tblGrid>
                <a:gridCol w="471581">
                  <a:extLst>
                    <a:ext uri="{9D8B030D-6E8A-4147-A177-3AD203B41FA5}">
                      <a16:colId xmlns:a16="http://schemas.microsoft.com/office/drawing/2014/main" val="320968265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41095857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926167471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558767421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156123623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903913605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95301434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42106410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3390568431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912220378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2334466917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100390925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155425493"/>
                    </a:ext>
                  </a:extLst>
                </a:gridCol>
                <a:gridCol w="324212">
                  <a:extLst>
                    <a:ext uri="{9D8B030D-6E8A-4147-A177-3AD203B41FA5}">
                      <a16:colId xmlns:a16="http://schemas.microsoft.com/office/drawing/2014/main" val="892605747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806311158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825765432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924879383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275653174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984532088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196265815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1219616365"/>
                    </a:ext>
                  </a:extLst>
                </a:gridCol>
                <a:gridCol w="363510">
                  <a:extLst>
                    <a:ext uri="{9D8B030D-6E8A-4147-A177-3AD203B41FA5}">
                      <a16:colId xmlns:a16="http://schemas.microsoft.com/office/drawing/2014/main" val="3948757129"/>
                    </a:ext>
                  </a:extLst>
                </a:gridCol>
                <a:gridCol w="284914">
                  <a:extLst>
                    <a:ext uri="{9D8B030D-6E8A-4147-A177-3AD203B41FA5}">
                      <a16:colId xmlns:a16="http://schemas.microsoft.com/office/drawing/2014/main" val="3080917836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3367979219"/>
                    </a:ext>
                  </a:extLst>
                </a:gridCol>
                <a:gridCol w="422459">
                  <a:extLst>
                    <a:ext uri="{9D8B030D-6E8A-4147-A177-3AD203B41FA5}">
                      <a16:colId xmlns:a16="http://schemas.microsoft.com/office/drawing/2014/main" val="2027664577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612238300"/>
                    </a:ext>
                  </a:extLst>
                </a:gridCol>
                <a:gridCol w="265264">
                  <a:extLst>
                    <a:ext uri="{9D8B030D-6E8A-4147-A177-3AD203B41FA5}">
                      <a16:colId xmlns:a16="http://schemas.microsoft.com/office/drawing/2014/main" val="3369801362"/>
                    </a:ext>
                  </a:extLst>
                </a:gridCol>
                <a:gridCol w="245615">
                  <a:extLst>
                    <a:ext uri="{9D8B030D-6E8A-4147-A177-3AD203B41FA5}">
                      <a16:colId xmlns:a16="http://schemas.microsoft.com/office/drawing/2014/main" val="202937355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3457406875"/>
                    </a:ext>
                  </a:extLst>
                </a:gridCol>
                <a:gridCol w="235790">
                  <a:extLst>
                    <a:ext uri="{9D8B030D-6E8A-4147-A177-3AD203B41FA5}">
                      <a16:colId xmlns:a16="http://schemas.microsoft.com/office/drawing/2014/main" val="180424215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120876984"/>
                    </a:ext>
                  </a:extLst>
                </a:gridCol>
                <a:gridCol w="225966">
                  <a:extLst>
                    <a:ext uri="{9D8B030D-6E8A-4147-A177-3AD203B41FA5}">
                      <a16:colId xmlns:a16="http://schemas.microsoft.com/office/drawing/2014/main" val="3324933409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3314234831"/>
                    </a:ext>
                  </a:extLst>
                </a:gridCol>
                <a:gridCol w="343861">
                  <a:extLst>
                    <a:ext uri="{9D8B030D-6E8A-4147-A177-3AD203B41FA5}">
                      <a16:colId xmlns:a16="http://schemas.microsoft.com/office/drawing/2014/main" val="731282790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038417539"/>
                    </a:ext>
                  </a:extLst>
                </a:gridCol>
                <a:gridCol w="304563">
                  <a:extLst>
                    <a:ext uri="{9D8B030D-6E8A-4147-A177-3AD203B41FA5}">
                      <a16:colId xmlns:a16="http://schemas.microsoft.com/office/drawing/2014/main" val="2470671313"/>
                    </a:ext>
                  </a:extLst>
                </a:gridCol>
              </a:tblGrid>
              <a:tr h="1573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8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8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4862043"/>
                  </a:ext>
                </a:extLst>
              </a:tr>
              <a:tr h="157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ТОТАЛ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1645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08534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0572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5415828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856583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534346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4507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5834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87052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348390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1667607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8878985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6368629"/>
                  </a:ext>
                </a:extLst>
              </a:tr>
              <a:tr h="16385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799" marR="5799" marT="5799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460072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D7B8A092-3F2B-05C7-B44E-E5316D356C11}"/>
              </a:ext>
            </a:extLst>
          </p:cNvPr>
          <p:cNvSpPr txBox="1"/>
          <p:nvPr/>
        </p:nvSpPr>
        <p:spPr bwMode="auto">
          <a:xfrm>
            <a:off x="241885" y="6542705"/>
            <a:ext cx="11488773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 </a:t>
            </a:r>
            <a:r>
              <a:rPr lang="en-US" dirty="0" err="1"/>
              <a:t>Mediascope</a:t>
            </a:r>
            <a:r>
              <a:rPr lang="en-US" dirty="0"/>
              <a:t>,</a:t>
            </a:r>
            <a:r>
              <a:rPr lang="ru-RU" dirty="0"/>
              <a:t> ТВ (</a:t>
            </a:r>
            <a:r>
              <a:rPr lang="ru-RU" dirty="0" err="1"/>
              <a:t>нац</a:t>
            </a:r>
            <a:r>
              <a:rPr lang="ru-RU" dirty="0"/>
              <a:t> ТВ, </a:t>
            </a:r>
            <a:r>
              <a:rPr lang="ru-RU" dirty="0" err="1"/>
              <a:t>рег</a:t>
            </a:r>
            <a:r>
              <a:rPr lang="ru-RU" dirty="0"/>
              <a:t> ТВ, без ТВ спонсорства), </a:t>
            </a:r>
            <a:r>
              <a:rPr lang="en-GB" dirty="0"/>
              <a:t>{</a:t>
            </a:r>
            <a:r>
              <a:rPr lang="en-GB" dirty="0" err="1"/>
              <a:t>ly_first_month</a:t>
            </a:r>
            <a:r>
              <a:rPr lang="en-GB" dirty="0"/>
              <a:t>} - {cur_month_1}</a:t>
            </a:r>
            <a:r>
              <a:rPr lang="ru-RU" dirty="0"/>
              <a:t>. </a:t>
            </a:r>
            <a:r>
              <a:rPr lang="ru-RU" dirty="0" err="1"/>
              <a:t>Эстимация</a:t>
            </a:r>
            <a:r>
              <a:rPr lang="ru-RU" dirty="0"/>
              <a:t> агентства, Ритейл только Доставка, </a:t>
            </a:r>
            <a:r>
              <a:rPr lang="ru-RU" dirty="0" err="1"/>
              <a:t>осн</a:t>
            </a:r>
            <a:r>
              <a:rPr lang="ru-RU" dirty="0"/>
              <a:t>. бренды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5990060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265292" y="365126"/>
            <a:ext cx="10515597" cy="718174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Реклама оффлайн магазинов, смешанная реклама, доставка:</a:t>
            </a:r>
            <a:r>
              <a:rPr lang="en-US" sz="2000" dirty="0"/>
              <a:t> TRPs, SOV</a:t>
            </a:r>
            <a:br>
              <a:rPr lang="en-US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</a:t>
            </a:r>
            <a:r>
              <a:rPr lang="en-GB" sz="2000" dirty="0" err="1"/>
              <a:t>current_month</a:t>
            </a:r>
            <a:r>
              <a:rPr lang="en-GB" sz="2000" dirty="0"/>
              <a:t>}</a:t>
            </a:r>
            <a:endParaRPr sz="2000" dirty="0"/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2" y="0"/>
            <a:ext cx="11488775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офлайн магазинов, смешанная и доставки),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бренды.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cur_month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3" name="TextBox 12"/>
          <p:cNvSpPr txBox="1"/>
          <p:nvPr/>
        </p:nvSpPr>
        <p:spPr bwMode="auto">
          <a:xfrm>
            <a:off x="248656" y="6294362"/>
            <a:ext cx="11694686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22857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cs typeface="Arial"/>
              </a:defRPr>
            </a:lvl1pPr>
          </a:lstStyle>
          <a:p>
            <a:pPr marL="0" marR="0" lvl="0" indent="0" algn="l" defTabSz="2285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Источник: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 </a:t>
            </a:r>
            <a:r>
              <a:rPr kumimoji="0" lang="en-US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Mediascope</a:t>
            </a:r>
            <a:r>
              <a:rPr kumimoji="0" lang="ru-RU" sz="105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, </a:t>
            </a:r>
            <a:r>
              <a:rPr kumimoji="0" lang="en-GB" sz="105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{ly_first_month} 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- {</a:t>
            </a:r>
            <a:r>
              <a:rPr kumimoji="0" lang="en-GB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cur_month</a:t>
            </a: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}</a:t>
            </a: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, 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TRP’s all 18+ </a:t>
            </a: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, Нац. ТВ. 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Std_TRP_20”</a:t>
            </a: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 </a:t>
            </a:r>
            <a:r>
              <a:rPr kumimoji="0" lang="ru-RU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перевзвешены</a:t>
            </a: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cs typeface="Arial"/>
              </a:rPr>
              <a:t> на Россия 0+; Ключевые конкуренты, Реклама оффлайн магазинов, Смешанная реклама и реклама Доставки включены, </a:t>
            </a:r>
            <a:r>
              <a:rPr kumimoji="0" lang="ru-RU" sz="105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Arial"/>
                <a:ea typeface="5ka Sans Design"/>
                <a:cs typeface="5ka Sans Design"/>
              </a:rPr>
              <a:t>Ключевые конкуренты</a:t>
            </a:r>
            <a:r>
              <a:rPr lang="ru-RU" dirty="0">
                <a:solidFill>
                  <a:prstClr val="black">
                    <a:lumMod val="50000"/>
                    <a:lumOff val="50000"/>
                  </a:prstClr>
                </a:solidFill>
                <a:ea typeface="5ka Sans Design"/>
                <a:cs typeface="5ka Sans Design"/>
              </a:rPr>
              <a:t>, вносим все активные бренды</a:t>
            </a:r>
            <a:endParaRPr kumimoji="0" sz="105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aphicFrame>
        <p:nvGraphicFramePr>
          <p:cNvPr id="5" name="table__total_tvr_2025_table">
            <a:extLst>
              <a:ext uri="{FF2B5EF4-FFF2-40B4-BE49-F238E27FC236}">
                <a16:creationId xmlns:a16="http://schemas.microsoft.com/office/drawing/2014/main" id="{12EA90C4-E08A-8821-289A-74CD45C40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373852"/>
              </p:ext>
            </p:extLst>
          </p:nvPr>
        </p:nvGraphicFramePr>
        <p:xfrm>
          <a:off x="265292" y="1101068"/>
          <a:ext cx="11678054" cy="2139968"/>
        </p:xfrm>
        <a:graphic>
          <a:graphicData uri="http://schemas.openxmlformats.org/drawingml/2006/table">
            <a:tbl>
              <a:tblPr/>
              <a:tblGrid>
                <a:gridCol w="442770">
                  <a:extLst>
                    <a:ext uri="{9D8B030D-6E8A-4147-A177-3AD203B41FA5}">
                      <a16:colId xmlns:a16="http://schemas.microsoft.com/office/drawing/2014/main" val="1028644182"/>
                    </a:ext>
                  </a:extLst>
                </a:gridCol>
                <a:gridCol w="396647">
                  <a:extLst>
                    <a:ext uri="{9D8B030D-6E8A-4147-A177-3AD203B41FA5}">
                      <a16:colId xmlns:a16="http://schemas.microsoft.com/office/drawing/2014/main" val="3879500202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85721801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02090245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101880838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199145487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59232527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461194729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831525753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759920010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41051038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975390312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247500666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5770663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180036535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578507860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207268235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3241373083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215688496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04547069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1610482930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104195680"/>
                    </a:ext>
                  </a:extLst>
                </a:gridCol>
                <a:gridCol w="267506">
                  <a:extLst>
                    <a:ext uri="{9D8B030D-6E8A-4147-A177-3AD203B41FA5}">
                      <a16:colId xmlns:a16="http://schemas.microsoft.com/office/drawing/2014/main" val="2876639190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437825254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323252787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213557929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73514904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3323275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9224076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48913454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0338963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9273691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184140927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03704985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84569608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00239654"/>
                    </a:ext>
                  </a:extLst>
                </a:gridCol>
              </a:tblGrid>
              <a:tr h="13732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(TRPs),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рег ТВ, ТВ Спонсорство) SOS (%) по брендам, 2026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51680934"/>
                  </a:ext>
                </a:extLst>
              </a:tr>
              <a:tr h="14304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20583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59629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44411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08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279562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90606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35179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4112717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9399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81670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4595914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484454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381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4559761"/>
                  </a:ext>
                </a:extLst>
              </a:tr>
            </a:tbl>
          </a:graphicData>
        </a:graphic>
      </p:graphicFrame>
      <p:graphicFrame>
        <p:nvGraphicFramePr>
          <p:cNvPr id="9" name="table__total_tvr_2026_table">
            <a:extLst>
              <a:ext uri="{FF2B5EF4-FFF2-40B4-BE49-F238E27FC236}">
                <a16:creationId xmlns:a16="http://schemas.microsoft.com/office/drawing/2014/main" id="{538D3BE2-2161-8384-147B-DB0C9E27FD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9699004"/>
              </p:ext>
            </p:extLst>
          </p:nvPr>
        </p:nvGraphicFramePr>
        <p:xfrm>
          <a:off x="265292" y="3578808"/>
          <a:ext cx="11694686" cy="1979612"/>
        </p:xfrm>
        <a:graphic>
          <a:graphicData uri="http://schemas.openxmlformats.org/drawingml/2006/table">
            <a:tbl>
              <a:tblPr/>
              <a:tblGrid>
                <a:gridCol w="443401">
                  <a:extLst>
                    <a:ext uri="{9D8B030D-6E8A-4147-A177-3AD203B41FA5}">
                      <a16:colId xmlns:a16="http://schemas.microsoft.com/office/drawing/2014/main" val="1000448538"/>
                    </a:ext>
                  </a:extLst>
                </a:gridCol>
                <a:gridCol w="397212">
                  <a:extLst>
                    <a:ext uri="{9D8B030D-6E8A-4147-A177-3AD203B41FA5}">
                      <a16:colId xmlns:a16="http://schemas.microsoft.com/office/drawing/2014/main" val="2818436298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358089144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13640428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627114067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395184773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437765654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912652628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332587587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70200512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35164350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2409008125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0510096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500049642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805234326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1871431284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509696984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617661405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290549292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91421837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667193929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107042737"/>
                    </a:ext>
                  </a:extLst>
                </a:gridCol>
                <a:gridCol w="267887">
                  <a:extLst>
                    <a:ext uri="{9D8B030D-6E8A-4147-A177-3AD203B41FA5}">
                      <a16:colId xmlns:a16="http://schemas.microsoft.com/office/drawing/2014/main" val="2669225852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047970795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30416042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862629876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9433619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7923951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157060811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340240280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8230621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73355223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2089070225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31911680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276698997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249100497"/>
                    </a:ext>
                  </a:extLst>
                </a:gridCol>
              </a:tblGrid>
              <a:tr h="1270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(TRPs),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SOV(%) по брендам, 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7977537"/>
                  </a:ext>
                </a:extLst>
              </a:tr>
              <a:tr h="13232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57488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77884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918907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6280839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4655303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6239155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247546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61324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270491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8600366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622202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912410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930517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89024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265292" y="365126"/>
            <a:ext cx="10515597" cy="718174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ТВ реклама Ритейл категории без учета Доставки: </a:t>
            </a:r>
            <a:r>
              <a:rPr lang="en-US" sz="2000" dirty="0"/>
              <a:t>TRPs, SOV</a:t>
            </a:r>
            <a:br>
              <a:rPr lang="en-US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</a:t>
            </a:r>
            <a:r>
              <a:rPr lang="en-GB" sz="2000" dirty="0" err="1"/>
              <a:t>current_month</a:t>
            </a:r>
            <a:r>
              <a:rPr lang="en-GB" sz="2000" dirty="0"/>
              <a:t>}</a:t>
            </a:r>
            <a:endParaRPr sz="2000" dirty="0"/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2" y="0"/>
            <a:ext cx="11488775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Ритейл категории без доставки),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cur_month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3" name="TextBox 12"/>
          <p:cNvSpPr txBox="1"/>
          <p:nvPr/>
        </p:nvSpPr>
        <p:spPr bwMode="auto">
          <a:xfrm>
            <a:off x="248656" y="6337967"/>
            <a:ext cx="11694686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/>
              <a:t>, </a:t>
            </a:r>
            <a:r>
              <a:rPr lang="en-GB"/>
              <a:t>{ly_first_month} </a:t>
            </a:r>
            <a:r>
              <a:rPr lang="en-GB" dirty="0"/>
              <a:t>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ТВ. </a:t>
            </a:r>
            <a:r>
              <a:rPr lang="en-US" dirty="0"/>
              <a:t>Std_TRP_20”</a:t>
            </a:r>
            <a:r>
              <a:rPr lang="ru-RU" dirty="0"/>
              <a:t> </a:t>
            </a:r>
            <a:r>
              <a:rPr lang="ru-RU" dirty="0" err="1"/>
              <a:t>перевзвешены</a:t>
            </a:r>
            <a:r>
              <a:rPr lang="ru-RU" dirty="0"/>
              <a:t> на Россия 0+; Ключевые конкуренты, Реклама оффлайн магазинов, Смешанная реклама, без Доставки, Ключевые конкуренты, вносим все активные бренды</a:t>
            </a:r>
            <a:endParaRPr dirty="0"/>
          </a:p>
        </p:txBody>
      </p:sp>
      <p:graphicFrame>
        <p:nvGraphicFramePr>
          <p:cNvPr id="5" name="table__offline_tvr_2025_table">
            <a:extLst>
              <a:ext uri="{FF2B5EF4-FFF2-40B4-BE49-F238E27FC236}">
                <a16:creationId xmlns:a16="http://schemas.microsoft.com/office/drawing/2014/main" id="{12EA90C4-E08A-8821-289A-74CD45C40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690103"/>
              </p:ext>
            </p:extLst>
          </p:nvPr>
        </p:nvGraphicFramePr>
        <p:xfrm>
          <a:off x="265292" y="1101068"/>
          <a:ext cx="11678054" cy="2139968"/>
        </p:xfrm>
        <a:graphic>
          <a:graphicData uri="http://schemas.openxmlformats.org/drawingml/2006/table">
            <a:tbl>
              <a:tblPr/>
              <a:tblGrid>
                <a:gridCol w="442770">
                  <a:extLst>
                    <a:ext uri="{9D8B030D-6E8A-4147-A177-3AD203B41FA5}">
                      <a16:colId xmlns:a16="http://schemas.microsoft.com/office/drawing/2014/main" val="1028644182"/>
                    </a:ext>
                  </a:extLst>
                </a:gridCol>
                <a:gridCol w="396647">
                  <a:extLst>
                    <a:ext uri="{9D8B030D-6E8A-4147-A177-3AD203B41FA5}">
                      <a16:colId xmlns:a16="http://schemas.microsoft.com/office/drawing/2014/main" val="3879500202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85721801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02090245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101880838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199145487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59232527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461194729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831525753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759920010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41051038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975390312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247500666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5770663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180036535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578507860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207268235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3241373083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215688496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04547069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1610482930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104195680"/>
                    </a:ext>
                  </a:extLst>
                </a:gridCol>
                <a:gridCol w="267506">
                  <a:extLst>
                    <a:ext uri="{9D8B030D-6E8A-4147-A177-3AD203B41FA5}">
                      <a16:colId xmlns:a16="http://schemas.microsoft.com/office/drawing/2014/main" val="2876639190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437825254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323252787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213557929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73514904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3323275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9224076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48913454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0338963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9273691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184140927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03704985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84569608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00239654"/>
                    </a:ext>
                  </a:extLst>
                </a:gridCol>
              </a:tblGrid>
              <a:tr h="13732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(TRPs),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51680934"/>
                  </a:ext>
                </a:extLst>
              </a:tr>
              <a:tr h="14304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20583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59629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44411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08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279562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90606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35179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4112717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9399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81670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4595914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484454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381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4559761"/>
                  </a:ext>
                </a:extLst>
              </a:tr>
            </a:tbl>
          </a:graphicData>
        </a:graphic>
      </p:graphicFrame>
      <p:graphicFrame>
        <p:nvGraphicFramePr>
          <p:cNvPr id="9" name="table__offline_tvr_2026_table">
            <a:extLst>
              <a:ext uri="{FF2B5EF4-FFF2-40B4-BE49-F238E27FC236}">
                <a16:creationId xmlns:a16="http://schemas.microsoft.com/office/drawing/2014/main" id="{538D3BE2-2161-8384-147B-DB0C9E27FD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0300129"/>
              </p:ext>
            </p:extLst>
          </p:nvPr>
        </p:nvGraphicFramePr>
        <p:xfrm>
          <a:off x="265292" y="3578808"/>
          <a:ext cx="11694686" cy="1979612"/>
        </p:xfrm>
        <a:graphic>
          <a:graphicData uri="http://schemas.openxmlformats.org/drawingml/2006/table">
            <a:tbl>
              <a:tblPr/>
              <a:tblGrid>
                <a:gridCol w="443401">
                  <a:extLst>
                    <a:ext uri="{9D8B030D-6E8A-4147-A177-3AD203B41FA5}">
                      <a16:colId xmlns:a16="http://schemas.microsoft.com/office/drawing/2014/main" val="1000448538"/>
                    </a:ext>
                  </a:extLst>
                </a:gridCol>
                <a:gridCol w="397212">
                  <a:extLst>
                    <a:ext uri="{9D8B030D-6E8A-4147-A177-3AD203B41FA5}">
                      <a16:colId xmlns:a16="http://schemas.microsoft.com/office/drawing/2014/main" val="2818436298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358089144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13640428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627114067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395184773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437765654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912652628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332587587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70200512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35164350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2409008125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0510096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500049642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805234326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1871431284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509696984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617661405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290549292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91421837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667193929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107042737"/>
                    </a:ext>
                  </a:extLst>
                </a:gridCol>
                <a:gridCol w="267887">
                  <a:extLst>
                    <a:ext uri="{9D8B030D-6E8A-4147-A177-3AD203B41FA5}">
                      <a16:colId xmlns:a16="http://schemas.microsoft.com/office/drawing/2014/main" val="2669225852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047970795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30416042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862629876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9433619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7923951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157060811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340240280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8230621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73355223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2089070225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31911680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276698997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249100497"/>
                    </a:ext>
                  </a:extLst>
                </a:gridCol>
              </a:tblGrid>
              <a:tr h="1270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(TRPs),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SOV(%) по брендам, 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7977537"/>
                  </a:ext>
                </a:extLst>
              </a:tr>
              <a:tr h="13232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57488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77884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918907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6280839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4655303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6239155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247546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61324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270491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8600366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622202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912410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930517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8902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350203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 bwMode="auto">
          <a:xfrm>
            <a:off x="265292" y="365126"/>
            <a:ext cx="10515597" cy="718174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2000" dirty="0"/>
              <a:t>ТВ реклама доставки в Ритейл категории :</a:t>
            </a:r>
            <a:r>
              <a:rPr lang="en-US" sz="2000" dirty="0"/>
              <a:t> TRPs, SOV</a:t>
            </a:r>
            <a:br>
              <a:rPr lang="en-US" sz="2000" dirty="0"/>
            </a:br>
            <a:r>
              <a:rPr lang="en-GB" sz="2000" dirty="0"/>
              <a:t>{</a:t>
            </a:r>
            <a:r>
              <a:rPr lang="en-GB" sz="2000" dirty="0" err="1"/>
              <a:t>ly_first_month_f</a:t>
            </a:r>
            <a:r>
              <a:rPr lang="en-GB" sz="2000" dirty="0"/>
              <a:t>} - {</a:t>
            </a:r>
            <a:r>
              <a:rPr lang="en-GB" sz="2000" dirty="0" err="1"/>
              <a:t>current_month</a:t>
            </a:r>
            <a:r>
              <a:rPr lang="en-GB" sz="2000" dirty="0"/>
              <a:t>}</a:t>
            </a:r>
            <a:endParaRPr sz="2000" dirty="0"/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-2" y="0"/>
            <a:ext cx="11488775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Food-Retail(реклама Ритейл категории только Доставка),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осн.бренды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ly_first_month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 - 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cur_month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sp>
        <p:nvSpPr>
          <p:cNvPr id="13" name="TextBox 12"/>
          <p:cNvSpPr txBox="1"/>
          <p:nvPr/>
        </p:nvSpPr>
        <p:spPr bwMode="auto">
          <a:xfrm>
            <a:off x="248656" y="6337967"/>
            <a:ext cx="11694686" cy="3282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Источник: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/>
              <a:t>, </a:t>
            </a:r>
            <a:r>
              <a:rPr lang="en-GB"/>
              <a:t>{ly_first_month} </a:t>
            </a:r>
            <a:r>
              <a:rPr lang="en-GB" dirty="0"/>
              <a:t>- {</a:t>
            </a:r>
            <a:r>
              <a:rPr lang="en-GB" dirty="0" err="1"/>
              <a:t>cur_month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ТВ. </a:t>
            </a:r>
            <a:r>
              <a:rPr lang="en-US" dirty="0"/>
              <a:t>Std_TRP_20”</a:t>
            </a:r>
            <a:r>
              <a:rPr lang="ru-RU" dirty="0"/>
              <a:t> </a:t>
            </a:r>
            <a:r>
              <a:rPr lang="ru-RU" dirty="0" err="1"/>
              <a:t>перевзвешены</a:t>
            </a:r>
            <a:r>
              <a:rPr lang="ru-RU" dirty="0"/>
              <a:t> на Россия 0+; Ключевые конкуренты, Реклама только </a:t>
            </a:r>
            <a:r>
              <a:rPr lang="ru-RU" dirty="0" err="1"/>
              <a:t>ДоставкиДоставки</a:t>
            </a:r>
            <a:r>
              <a:rPr lang="ru-RU" dirty="0"/>
              <a:t>, Ключевые конкуренты, вносим все активные бренды</a:t>
            </a:r>
            <a:endParaRPr dirty="0"/>
          </a:p>
        </p:txBody>
      </p:sp>
      <p:graphicFrame>
        <p:nvGraphicFramePr>
          <p:cNvPr id="5" name="table__delivery_tvr_2025_table">
            <a:extLst>
              <a:ext uri="{FF2B5EF4-FFF2-40B4-BE49-F238E27FC236}">
                <a16:creationId xmlns:a16="http://schemas.microsoft.com/office/drawing/2014/main" id="{12EA90C4-E08A-8821-289A-74CD45C40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2925752"/>
              </p:ext>
            </p:extLst>
          </p:nvPr>
        </p:nvGraphicFramePr>
        <p:xfrm>
          <a:off x="265292" y="1101068"/>
          <a:ext cx="11678054" cy="2139968"/>
        </p:xfrm>
        <a:graphic>
          <a:graphicData uri="http://schemas.openxmlformats.org/drawingml/2006/table">
            <a:tbl>
              <a:tblPr/>
              <a:tblGrid>
                <a:gridCol w="442770">
                  <a:extLst>
                    <a:ext uri="{9D8B030D-6E8A-4147-A177-3AD203B41FA5}">
                      <a16:colId xmlns:a16="http://schemas.microsoft.com/office/drawing/2014/main" val="1028644182"/>
                    </a:ext>
                  </a:extLst>
                </a:gridCol>
                <a:gridCol w="396647">
                  <a:extLst>
                    <a:ext uri="{9D8B030D-6E8A-4147-A177-3AD203B41FA5}">
                      <a16:colId xmlns:a16="http://schemas.microsoft.com/office/drawing/2014/main" val="3879500202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85721801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02090245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101880838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199145487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59232527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461194729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831525753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759920010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410510381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3975390312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1247500666"/>
                    </a:ext>
                  </a:extLst>
                </a:gridCol>
                <a:gridCol w="313629">
                  <a:extLst>
                    <a:ext uri="{9D8B030D-6E8A-4147-A177-3AD203B41FA5}">
                      <a16:colId xmlns:a16="http://schemas.microsoft.com/office/drawing/2014/main" val="5770663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180036535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2578507860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207268235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3241373083"/>
                    </a:ext>
                  </a:extLst>
                </a:gridCol>
                <a:gridCol w="332078">
                  <a:extLst>
                    <a:ext uri="{9D8B030D-6E8A-4147-A177-3AD203B41FA5}">
                      <a16:colId xmlns:a16="http://schemas.microsoft.com/office/drawing/2014/main" val="2156884966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045470698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1610482930"/>
                    </a:ext>
                  </a:extLst>
                </a:gridCol>
                <a:gridCol w="341301">
                  <a:extLst>
                    <a:ext uri="{9D8B030D-6E8A-4147-A177-3AD203B41FA5}">
                      <a16:colId xmlns:a16="http://schemas.microsoft.com/office/drawing/2014/main" val="3104195680"/>
                    </a:ext>
                  </a:extLst>
                </a:gridCol>
                <a:gridCol w="267506">
                  <a:extLst>
                    <a:ext uri="{9D8B030D-6E8A-4147-A177-3AD203B41FA5}">
                      <a16:colId xmlns:a16="http://schemas.microsoft.com/office/drawing/2014/main" val="2876639190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437825254"/>
                    </a:ext>
                  </a:extLst>
                </a:gridCol>
                <a:gridCol w="405872">
                  <a:extLst>
                    <a:ext uri="{9D8B030D-6E8A-4147-A177-3AD203B41FA5}">
                      <a16:colId xmlns:a16="http://schemas.microsoft.com/office/drawing/2014/main" val="323252787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213557929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73514904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133232754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9224076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48913454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0338963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927369134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184140927"/>
                    </a:ext>
                  </a:extLst>
                </a:gridCol>
                <a:gridCol w="322852">
                  <a:extLst>
                    <a:ext uri="{9D8B030D-6E8A-4147-A177-3AD203B41FA5}">
                      <a16:colId xmlns:a16="http://schemas.microsoft.com/office/drawing/2014/main" val="4037049853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3845696088"/>
                    </a:ext>
                  </a:extLst>
                </a:gridCol>
                <a:gridCol w="285956">
                  <a:extLst>
                    <a:ext uri="{9D8B030D-6E8A-4147-A177-3AD203B41FA5}">
                      <a16:colId xmlns:a16="http://schemas.microsoft.com/office/drawing/2014/main" val="2300239654"/>
                    </a:ext>
                  </a:extLst>
                </a:gridCol>
              </a:tblGrid>
              <a:tr h="13732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ly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</a:t>
                      </a:r>
                      <a:r>
                        <a:rPr lang="ru-RU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TRPs</a:t>
                      </a:r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(нац. ТВ, </a:t>
                      </a:r>
                      <a:r>
                        <a:rPr lang="ru-RU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рег</a:t>
                      </a:r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 ТВ, ТВ Спонсорство) SOS (%) по брендам, 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51680934"/>
                  </a:ext>
                </a:extLst>
              </a:tr>
              <a:tr h="14304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20583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59629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44411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9308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2795623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90606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035179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4112717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939996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816708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4595914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4844542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дек.25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381"/>
                  </a:ext>
                </a:extLst>
              </a:tr>
              <a:tr h="1430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4559761"/>
                  </a:ext>
                </a:extLst>
              </a:tr>
            </a:tbl>
          </a:graphicData>
        </a:graphic>
      </p:graphicFrame>
      <p:graphicFrame>
        <p:nvGraphicFramePr>
          <p:cNvPr id="9" name="table__delivery_tvr_2026_table">
            <a:extLst>
              <a:ext uri="{FF2B5EF4-FFF2-40B4-BE49-F238E27FC236}">
                <a16:creationId xmlns:a16="http://schemas.microsoft.com/office/drawing/2014/main" id="{538D3BE2-2161-8384-147B-DB0C9E27FD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5950143"/>
              </p:ext>
            </p:extLst>
          </p:nvPr>
        </p:nvGraphicFramePr>
        <p:xfrm>
          <a:off x="265292" y="3578808"/>
          <a:ext cx="11694686" cy="1979612"/>
        </p:xfrm>
        <a:graphic>
          <a:graphicData uri="http://schemas.openxmlformats.org/drawingml/2006/table">
            <a:tbl>
              <a:tblPr/>
              <a:tblGrid>
                <a:gridCol w="443401">
                  <a:extLst>
                    <a:ext uri="{9D8B030D-6E8A-4147-A177-3AD203B41FA5}">
                      <a16:colId xmlns:a16="http://schemas.microsoft.com/office/drawing/2014/main" val="1000448538"/>
                    </a:ext>
                  </a:extLst>
                </a:gridCol>
                <a:gridCol w="397212">
                  <a:extLst>
                    <a:ext uri="{9D8B030D-6E8A-4147-A177-3AD203B41FA5}">
                      <a16:colId xmlns:a16="http://schemas.microsoft.com/office/drawing/2014/main" val="2818436298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358089144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13640428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627114067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395184773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437765654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912652628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332587587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170200512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35164350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2409008125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805100962"/>
                    </a:ext>
                  </a:extLst>
                </a:gridCol>
                <a:gridCol w="314076">
                  <a:extLst>
                    <a:ext uri="{9D8B030D-6E8A-4147-A177-3AD203B41FA5}">
                      <a16:colId xmlns:a16="http://schemas.microsoft.com/office/drawing/2014/main" val="3500049642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805234326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1871431284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509696984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617661405"/>
                    </a:ext>
                  </a:extLst>
                </a:gridCol>
                <a:gridCol w="332551">
                  <a:extLst>
                    <a:ext uri="{9D8B030D-6E8A-4147-A177-3AD203B41FA5}">
                      <a16:colId xmlns:a16="http://schemas.microsoft.com/office/drawing/2014/main" val="290549292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914218376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2667193929"/>
                    </a:ext>
                  </a:extLst>
                </a:gridCol>
                <a:gridCol w="341787">
                  <a:extLst>
                    <a:ext uri="{9D8B030D-6E8A-4147-A177-3AD203B41FA5}">
                      <a16:colId xmlns:a16="http://schemas.microsoft.com/office/drawing/2014/main" val="107042737"/>
                    </a:ext>
                  </a:extLst>
                </a:gridCol>
                <a:gridCol w="267887">
                  <a:extLst>
                    <a:ext uri="{9D8B030D-6E8A-4147-A177-3AD203B41FA5}">
                      <a16:colId xmlns:a16="http://schemas.microsoft.com/office/drawing/2014/main" val="2669225852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2047970795"/>
                    </a:ext>
                  </a:extLst>
                </a:gridCol>
                <a:gridCol w="406450">
                  <a:extLst>
                    <a:ext uri="{9D8B030D-6E8A-4147-A177-3AD203B41FA5}">
                      <a16:colId xmlns:a16="http://schemas.microsoft.com/office/drawing/2014/main" val="30416042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862629876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9433619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179239512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157060811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340240280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8230621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273355223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2089070225"/>
                    </a:ext>
                  </a:extLst>
                </a:gridCol>
                <a:gridCol w="323312">
                  <a:extLst>
                    <a:ext uri="{9D8B030D-6E8A-4147-A177-3AD203B41FA5}">
                      <a16:colId xmlns:a16="http://schemas.microsoft.com/office/drawing/2014/main" val="3191168075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4276698997"/>
                    </a:ext>
                  </a:extLst>
                </a:gridCol>
                <a:gridCol w="286363">
                  <a:extLst>
                    <a:ext uri="{9D8B030D-6E8A-4147-A177-3AD203B41FA5}">
                      <a16:colId xmlns:a16="http://schemas.microsoft.com/office/drawing/2014/main" val="3249100497"/>
                    </a:ext>
                  </a:extLst>
                </a:gridCol>
              </a:tblGrid>
              <a:tr h="1270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6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6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>
                      <a:noFill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ТВ Медиа веса (TRPs), по брендам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17"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Рекламные инвестиции, ТВ SOV(%) по брендам, 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{</a:t>
                      </a:r>
                      <a:r>
                        <a:rPr lang="en-GB" sz="700" b="1" i="0" u="none" strike="noStrike" dirty="0" err="1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c_year</a:t>
                      </a:r>
                      <a:r>
                        <a:rPr lang="en-GB" sz="7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}</a:t>
                      </a:r>
                      <a:endParaRPr lang="ru-RU" sz="700" b="1" i="0" u="none" strike="noStrike" dirty="0">
                        <a:solidFill>
                          <a:srgbClr val="FFFFFF"/>
                        </a:solidFill>
                        <a:effectLst/>
                        <a:latin typeface="Aptos" panose="020B0004020202020204" pitchFamily="34" charset="0"/>
                      </a:endParaRP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7977537"/>
                  </a:ext>
                </a:extLst>
              </a:tr>
              <a:tr h="13232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Общий итог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МАГНИТ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САМОКАТ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ПЯТЕРОЧКА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КУПЕР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ЯНДЕКС.ЛАВКА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ПЕРЕКРЕСТОК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ЛЕНТА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ЧИЖИК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АШАН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ДИКСИ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АЗБУКА ВКУСА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ОКЕЙ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METRO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SPAR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ВКУСВИЛЛ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GLOBUS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400" b="1" i="0" u="none" strike="noStrike">
                          <a:solidFill>
                            <a:srgbClr val="FFFFFF"/>
                          </a:solidFill>
                          <a:effectLst/>
                          <a:latin typeface="Aptos" panose="020B0004020202020204" pitchFamily="34" charset="0"/>
                        </a:rPr>
                        <a:t>МОНЕТКА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957488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 dirty="0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янв.26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77884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фев.26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9189077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6280839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апр.26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4655303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май.26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6239155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247546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июл.26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613244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авг.26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270491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сен.26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8600366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окт.26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622202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ноя.26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912410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6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дек.26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0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9305170"/>
                  </a:ext>
                </a:extLst>
              </a:tr>
              <a:tr h="13232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effectLst/>
                          <a:latin typeface="Aptos Narrow" panose="020B0004020202020204" pitchFamily="34" charset="0"/>
                        </a:rPr>
                        <a:t>Итого</a:t>
                      </a:r>
                    </a:p>
                  </a:txBody>
                  <a:tcPr marL="5293" marR="5293" marT="5293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7D2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E5A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6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5293" marR="5293" marT="5293" marB="0" anchor="ctr">
                    <a:lnL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8784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8902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363883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/>
        <p:txBody>
          <a:bodyPr>
            <a:normAutofit/>
          </a:bodyPr>
          <a:lstStyle/>
          <a:p>
            <a:pPr>
              <a:defRPr/>
            </a:pPr>
            <a:r>
              <a:rPr lang="ru-RU" sz="2200" dirty="0"/>
              <a:t>Средне-недельные веса по городам</a:t>
            </a:r>
            <a:endParaRPr sz="2200" dirty="0"/>
          </a:p>
        </p:txBody>
      </p:sp>
      <p:sp>
        <p:nvSpPr>
          <p:cNvPr id="4" name="TextBox 3"/>
          <p:cNvSpPr txBox="1"/>
          <p:nvPr/>
        </p:nvSpPr>
        <p:spPr bwMode="auto">
          <a:xfrm>
            <a:off x="202984" y="6548501"/>
            <a:ext cx="11694686" cy="189787"/>
          </a:xfrm>
          <a:prstGeom prst="rect">
            <a:avLst/>
          </a:prstGeom>
          <a:noFill/>
          <a:ln w="12700" cap="flat">
            <a:noFill/>
            <a:miter lim="400000"/>
          </a:ln>
          <a:effectLst/>
        </p:spPr>
        <p:style>
          <a:lnRef idx="0">
            <a:srgbClr val="000000"/>
          </a:lnRef>
          <a:fillRef idx="0">
            <a:srgbClr val="000000"/>
          </a:fillRef>
          <a:effectRef idx="0">
            <a:srgbClr val="000000"/>
          </a:effectRef>
          <a:fontRef idx="none"/>
        </p:style>
        <p:txBody>
          <a:bodyPr rot="0" spcFirstLastPara="1" vertOverflow="overflow" horzOverflow="overflow" vert="horz" wrap="square" lIns="25396" tIns="25396" rIns="25396" bIns="25396" numCol="1" spcCol="38100" rtlCol="0" anchor="ctr">
            <a:spAutoFit/>
          </a:bodyPr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lang="ru-RU"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 defTabSz="228578">
              <a:defRPr sz="900">
                <a:solidFill>
                  <a:srgbClr val="000000"/>
                </a:solidFill>
                <a:ea typeface="5ka Sans Design"/>
                <a:cs typeface="5ka Sans Design"/>
              </a:defRPr>
            </a:lvl1pPr>
          </a:lstStyle>
          <a:p>
            <a:r>
              <a:rPr lang="ru-RU" dirty="0"/>
              <a:t>Источник</a:t>
            </a:r>
            <a:r>
              <a:rPr lang="en-US" dirty="0"/>
              <a:t> </a:t>
            </a:r>
            <a:r>
              <a:rPr lang="en-US" dirty="0" err="1"/>
              <a:t>Mediascope</a:t>
            </a:r>
            <a:r>
              <a:rPr lang="ru-RU" dirty="0"/>
              <a:t>, </a:t>
            </a:r>
            <a:r>
              <a:rPr lang="en-GB" dirty="0"/>
              <a:t>{</a:t>
            </a:r>
            <a:r>
              <a:rPr lang="en-GB" dirty="0" err="1"/>
              <a:t>jan_current_month</a:t>
            </a:r>
            <a:r>
              <a:rPr lang="en-GB" dirty="0"/>
              <a:t>}</a:t>
            </a:r>
            <a:r>
              <a:rPr lang="ru-RU" dirty="0"/>
              <a:t>, </a:t>
            </a:r>
            <a:r>
              <a:rPr lang="en-US" dirty="0"/>
              <a:t>TRP’s all 18+ </a:t>
            </a:r>
            <a:r>
              <a:rPr lang="ru-RU" dirty="0"/>
              <a:t>, Нац. ТВ</a:t>
            </a:r>
            <a:r>
              <a:rPr lang="en-US" dirty="0"/>
              <a:t>+</a:t>
            </a:r>
            <a:r>
              <a:rPr lang="ru-RU" dirty="0" err="1"/>
              <a:t>Спонс+Рег.ТВ</a:t>
            </a:r>
            <a:r>
              <a:rPr lang="ru-RU" dirty="0"/>
              <a:t> (рег. </a:t>
            </a:r>
            <a:r>
              <a:rPr lang="en-US" dirty="0"/>
              <a:t>TRPs</a:t>
            </a:r>
            <a:r>
              <a:rPr lang="ru-RU" dirty="0"/>
              <a:t> пересчитаны на Россия 0+); </a:t>
            </a:r>
            <a:r>
              <a:rPr lang="en-US" dirty="0"/>
              <a:t>Food Retail </a:t>
            </a:r>
            <a:r>
              <a:rPr lang="ru-RU" dirty="0"/>
              <a:t>, включая Оффлайн, Смешанные коммуникации и Доставку, Ключевые конкуренты, </a:t>
            </a:r>
          </a:p>
        </p:txBody>
      </p:sp>
      <p:sp>
        <p:nvSpPr>
          <p:cNvPr id="5" name="Прямоугольник 4"/>
          <p:cNvSpPr/>
          <p:nvPr/>
        </p:nvSpPr>
        <p:spPr bwMode="auto">
          <a:xfrm>
            <a:off x="-1" y="0"/>
            <a:ext cx="10780890" cy="347358"/>
          </a:xfrm>
          <a:prstGeom prst="rect">
            <a:avLst/>
          </a:prstGeom>
          <a:solidFill>
            <a:srgbClr val="00B050"/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Food-Retail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 (реклама офлайн магазинов, смешанная), 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осн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/>
                <a:cs typeface="Arial"/>
              </a:rPr>
              <a:t>. бренды. ТВ. 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{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jan_current_month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ptos"/>
                <a:cs typeface="Arial"/>
              </a:rPr>
              <a:t>}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ptos"/>
              <a:cs typeface="Arial"/>
            </a:endParaRPr>
          </a:p>
        </p:txBody>
      </p:sp>
      <p:graphicFrame>
        <p:nvGraphicFramePr>
          <p:cNvPr id="7" name="table_aww_brands_table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2583247"/>
              </p:ext>
            </p:extLst>
          </p:nvPr>
        </p:nvGraphicFramePr>
        <p:xfrm>
          <a:off x="838200" y="1551311"/>
          <a:ext cx="9137904" cy="4336196"/>
        </p:xfrm>
        <a:graphic>
          <a:graphicData uri="http://schemas.openxmlformats.org/drawingml/2006/table">
            <a:tbl>
              <a:tblPr/>
              <a:tblGrid>
                <a:gridCol w="21632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73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78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18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427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459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7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96806"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1000" b="1" i="0" u="none" strike="noStrike" dirty="0">
                          <a:solidFill>
                            <a:srgbClr val="FFFFFF"/>
                          </a:solidFill>
                          <a:latin typeface="Aptos Narrow"/>
                        </a:rPr>
                        <a:t>Города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latin typeface="Aptos Narrow"/>
                        </a:rPr>
                        <a:t>Кол-во активных брендов</a:t>
                      </a:r>
                      <a:endParaRPr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>
                          <a:solidFill>
                            <a:srgbClr val="FFFFFF"/>
                          </a:solidFill>
                          <a:latin typeface="Aptos Narrow"/>
                        </a:rPr>
                        <a:t>ср. </a:t>
                      </a:r>
                      <a:r>
                        <a:rPr lang="en-US" sz="800" b="1" i="0" u="none" strike="noStrike">
                          <a:solidFill>
                            <a:srgbClr val="FFFFFF"/>
                          </a:solidFill>
                          <a:latin typeface="Aptos Narrow"/>
                        </a:rPr>
                        <a:t>AWW</a:t>
                      </a:r>
                      <a:endParaRPr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latin typeface="Aptos Narrow"/>
                          <a:ea typeface="+mn-ea"/>
                          <a:cs typeface="+mn-cs"/>
                        </a:rPr>
                        <a:t>МАГНИТ</a:t>
                      </a:r>
                      <a:endParaRPr sz="800" b="1" i="0" u="none" strike="noStrike" dirty="0">
                        <a:solidFill>
                          <a:srgbClr val="FFFFFF"/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latin typeface="Aptos Narrow"/>
                          <a:ea typeface="+mn-ea"/>
                          <a:cs typeface="+mn-cs"/>
                        </a:rPr>
                        <a:t>ПЯТЕРОЧКА</a:t>
                      </a:r>
                      <a:endParaRPr sz="800" b="1" i="0" u="none" strike="noStrike" dirty="0">
                        <a:solidFill>
                          <a:srgbClr val="FFFFFF"/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latin typeface="Aptos Narrow"/>
                          <a:ea typeface="+mn-ea"/>
                          <a:cs typeface="+mn-cs"/>
                        </a:rPr>
                        <a:t>ЧИЖИК</a:t>
                      </a:r>
                      <a:endParaRPr sz="800" b="1" i="0" u="none" strike="noStrike" dirty="0">
                        <a:solidFill>
                          <a:srgbClr val="FFFFFF"/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latin typeface="Aptos Narrow"/>
                          <a:ea typeface="+mn-ea"/>
                          <a:cs typeface="+mn-cs"/>
                        </a:rPr>
                        <a:t>ПЕРЕКРЕСТОК</a:t>
                      </a:r>
                      <a:endParaRPr sz="800" b="1" i="0" u="none" strike="noStrike" dirty="0">
                        <a:solidFill>
                          <a:srgbClr val="FFFFFF"/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FFFFFF"/>
                          </a:solidFill>
                          <a:latin typeface="Aptos Narrow"/>
                          <a:ea typeface="+mn-ea"/>
                          <a:cs typeface="+mn-cs"/>
                        </a:rPr>
                        <a:t>ЛЕНТА</a:t>
                      </a:r>
                      <a:endParaRPr sz="800" b="1" i="0" u="none" strike="noStrike" dirty="0">
                        <a:solidFill>
                          <a:srgbClr val="FFFFFF"/>
                        </a:solidFill>
                        <a:latin typeface="Aptos Narrow"/>
                        <a:ea typeface="+mn-ea"/>
                        <a:cs typeface="+mn-cs"/>
                      </a:endParaRPr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531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МОСКВА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САНКТ-ПЕТЕРБУРГ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DAF2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ВОЛГОГРАД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ВОРОНЕЖ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ЕКАТЕРИНБУРГ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КАЗАНЬ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КРАСНОДАР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КРАСНОЯРСК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НИЖНИЙ НОВГОРОД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НОВОСИБИРСК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ОМСК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ПЕРМЬ</a:t>
                      </a:r>
                      <a:endParaRPr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РОСТОВ-НА-ДОНУ</a:t>
                      </a:r>
                      <a:endParaRPr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САМАРА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ТЮМЕНЬ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latin typeface="Aptos Narrow"/>
                        </a:rPr>
                        <a:t>УФА</a:t>
                      </a:r>
                      <a:endParaRPr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БАРНАУЛ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ВЛАДИВОСТОК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ИРКУТСК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КЕМЕРОВО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САРАТОВ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СТАВРОПОЛЬ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ТВЕРЬ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ТОМСК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ХАБАРОВСК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ЧЕЛЯБИНСК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2760">
                <a:tc>
                  <a:txBody>
                    <a:bodyPr/>
                    <a:lstStyle/>
                    <a:p>
                      <a:pPr algn="l">
                        <a:defRPr/>
                      </a:pP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latin typeface="Aptos Narrow"/>
                        </a:rPr>
                        <a:t>ЯРОСЛАВЛЬ</a:t>
                      </a:r>
                      <a:endParaRPr dirty="0"/>
                    </a:p>
                  </a:txBody>
                  <a:tcPr marL="5710" marR="5710" marT="5710" marB="0" anchor="ctr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>
                              <a:alpha val="0"/>
                            </a:srgbClr>
                          </a:solidFill>
                          <a:effectLst/>
                          <a:uLnTx/>
                          <a:uFillTx/>
                          <a:latin typeface="Aptos Narrow" panose="020B0004020202020204" pitchFamily="34" charset="0"/>
                          <a:cs typeface="Arial"/>
                        </a:rPr>
                        <a:t>-</a:t>
                      </a:r>
                      <a:endParaRPr lang="ru-RU" sz="800" b="1" i="0" u="none" strike="noStrike" dirty="0">
                        <a:solidFill>
                          <a:srgbClr val="000000">
                            <a:alpha val="0"/>
                          </a:srgbClr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4763" marR="4763" marT="4763" marB="0" anchor="b">
                    <a:lnL w="12700" algn="ctr">
                      <a:solidFill>
                        <a:srgbClr val="BFBFBF"/>
                      </a:solidFill>
                    </a:lnL>
                    <a:lnR w="12700" algn="ctr">
                      <a:solidFill>
                        <a:srgbClr val="BFBFBF"/>
                      </a:solidFill>
                    </a:lnR>
                    <a:lnT w="12700" algn="ctr">
                      <a:solidFill>
                        <a:srgbClr val="BFBFBF"/>
                      </a:solidFill>
                    </a:lnT>
                    <a:lnB w="12700" algn="ctr">
                      <a:solidFill>
                        <a:srgbClr val="BFBFBF"/>
                      </a:solidFill>
                    </a:lnB>
                    <a:solidFill>
                      <a:srgbClr val="99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Стандартная">
      <a:majorFont>
        <a:latin typeface="Aptos Display"/>
        <a:ea typeface="Arial"/>
        <a:cs typeface="Arial"/>
      </a:majorFont>
      <a:minorFont>
        <a:latin typeface="Aptos"/>
        <a:ea typeface="Arial"/>
        <a:cs typeface="Arial"/>
      </a:minorFont>
    </a:fontScheme>
    <a:fmtScheme name="Стандартная">
      <a:fillStyleLst>
        <a:solidFill>
          <a:schemeClr val="phClr"/>
        </a:solidFill>
        <a:gradFill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 bwMode="auto"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Стандартная">
      <a:majorFont>
        <a:latin typeface="Aptos Display"/>
        <a:ea typeface="Arial"/>
        <a:cs typeface="Arial"/>
      </a:majorFont>
      <a:minorFont>
        <a:latin typeface="Aptos"/>
        <a:ea typeface="Arial"/>
        <a:cs typeface="Arial"/>
      </a:minorFont>
    </a:fontScheme>
    <a:fmtScheme name="Стандартная">
      <a:fillStyleLst>
        <a:solidFill>
          <a:schemeClr val="phClr"/>
        </a:solidFill>
        <a:gradFill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 bwMode="auto"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Override1.xml><?xml version="1.0" encoding="utf-8"?>
<a:themeOverride xmlns:a="http://schemas.openxmlformats.org/drawingml/2006/main">
  <a:clrScheme name="Другая 115">
    <a:dk1>
      <a:srgbClr val="222429"/>
    </a:dk1>
    <a:lt1>
      <a:srgbClr val="FFFFFF"/>
    </a:lt1>
    <a:dk2>
      <a:srgbClr val="50565E"/>
    </a:dk2>
    <a:lt2>
      <a:srgbClr val="FFFFFF"/>
    </a:lt2>
    <a:accent1>
      <a:srgbClr val="5FAF2D"/>
    </a:accent1>
    <a:accent2>
      <a:srgbClr val="003E14"/>
    </a:accent2>
    <a:accent3>
      <a:srgbClr val="6B7A89"/>
    </a:accent3>
    <a:accent4>
      <a:srgbClr val="BFCFD2"/>
    </a:accent4>
    <a:accent5>
      <a:srgbClr val="89909A"/>
    </a:accent5>
    <a:accent6>
      <a:srgbClr val="EBF0F0"/>
    </a:accent6>
    <a:hlink>
      <a:srgbClr val="9299A3"/>
    </a:hlink>
    <a:folHlink>
      <a:srgbClr val="6C737D"/>
    </a:folHlink>
  </a:clrScheme>
  <a:fontScheme name="Другая 93">
    <a:majorFont>
      <a:latin typeface="5ka Sans Design SemiBold"/>
      <a:ea typeface="Arial"/>
      <a:cs typeface="Arial"/>
    </a:majorFont>
    <a:minorFont>
      <a:latin typeface="5ka Sans Design Regular"/>
      <a:ea typeface="Arial"/>
      <a:cs typeface="Arial"/>
    </a:minorFont>
  </a:fontScheme>
  <a:fmtScheme name="Стандартная">
    <a:fillStyleLst>
      <a:solidFill>
        <a:schemeClr val="phClr"/>
      </a:solidFill>
      <a:gradFill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31260</TotalTime>
  <Words>18270</Words>
  <Application>Microsoft Office PowerPoint</Application>
  <DocSecurity>0</DocSecurity>
  <PresentationFormat>Широкоэкранный</PresentationFormat>
  <Paragraphs>10618</Paragraphs>
  <Slides>42</Slides>
  <Notes>39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13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42</vt:i4>
      </vt:variant>
    </vt:vector>
  </HeadingPairs>
  <TitlesOfParts>
    <vt:vector size="56" baseType="lpstr">
      <vt:lpstr>5ka Sans Design</vt:lpstr>
      <vt:lpstr>5ka Sans Design Black</vt:lpstr>
      <vt:lpstr>5ka Sans Design Cond</vt:lpstr>
      <vt:lpstr>5ka Sans Design Regular</vt:lpstr>
      <vt:lpstr>5ka Sans Design SemiBold</vt:lpstr>
      <vt:lpstr>Aptos</vt:lpstr>
      <vt:lpstr>Aptos Display</vt:lpstr>
      <vt:lpstr>Aptos Narrow</vt:lpstr>
      <vt:lpstr>Arial</vt:lpstr>
      <vt:lpstr>Calibri</vt:lpstr>
      <vt:lpstr>Muller Narrow ExtraBold</vt:lpstr>
      <vt:lpstr>Muller Narrow Light</vt:lpstr>
      <vt:lpstr>Wingdings</vt:lpstr>
      <vt:lpstr>Тема Office</vt:lpstr>
      <vt:lpstr>ОПЕРКОМ</vt:lpstr>
      <vt:lpstr>Кратко о базе данных для подготовки отчета</vt:lpstr>
      <vt:lpstr>1. Обзор рекламного рынка ТОП-20</vt:lpstr>
      <vt:lpstr>{header}</vt:lpstr>
      <vt:lpstr>{header}</vt:lpstr>
      <vt:lpstr>{header}</vt:lpstr>
      <vt:lpstr>{header}</vt:lpstr>
      <vt:lpstr>{header}</vt:lpstr>
      <vt:lpstr>{header}</vt:lpstr>
      <vt:lpstr>2. Фуд Ритейл</vt:lpstr>
      <vt:lpstr>{header}</vt:lpstr>
      <vt:lpstr>{header}</vt:lpstr>
      <vt:lpstr>{header}</vt:lpstr>
      <vt:lpstr>{header}</vt:lpstr>
      <vt:lpstr>{header}</vt:lpstr>
      <vt:lpstr>{header}</vt:lpstr>
      <vt:lpstr>3. Реклама офлайн магазинов и смешанная реклама </vt:lpstr>
      <vt:lpstr>{header}</vt:lpstr>
      <vt:lpstr>{header}</vt:lpstr>
      <vt:lpstr>{header}</vt:lpstr>
      <vt:lpstr>{header}</vt:lpstr>
      <vt:lpstr>{header}</vt:lpstr>
      <vt:lpstr>Промо-коммуникации лидируют в категории. </vt:lpstr>
      <vt:lpstr>{header}</vt:lpstr>
      <vt:lpstr>{header}</vt:lpstr>
      <vt:lpstr>4. Доставка</vt:lpstr>
      <vt:lpstr>{header}</vt:lpstr>
      <vt:lpstr>{header}</vt:lpstr>
      <vt:lpstr>{header}</vt:lpstr>
      <vt:lpstr>{header}</vt:lpstr>
      <vt:lpstr>{header}</vt:lpstr>
      <vt:lpstr>6. Таблицы</vt:lpstr>
      <vt:lpstr>Реклама оффлайн-магазинов, смешанная реклама, доставка в Ритейле: расходы (руб) {ly_first_month_f} - {current_month_1}</vt:lpstr>
      <vt:lpstr>Реклама оффлайн-магазинов, смешанная реклама, без доставки в Ритейле: расходы (руб) {ly_first_month_f} - {current_month_1}</vt:lpstr>
      <vt:lpstr>Реклама доставки в Ритейл категории : расходы (руб) {ly_first_month_f} - {current_month_1}</vt:lpstr>
      <vt:lpstr>ТВ реклама Ритейл категории: расходы (руб) и SOS (%) {ly_first_month_f} - {current_month_1}</vt:lpstr>
      <vt:lpstr>ТВ реклама Ритейл категории без учета Доставки: расходы (руб) и SOS (%) {ly_first_month_f} - {current_month_1}</vt:lpstr>
      <vt:lpstr>ТВ реклама доставки в Ритейл категории : расходы (руб) и SOS (%) {ly_first_month_f} - {current_month_1}</vt:lpstr>
      <vt:lpstr>Реклама оффлайн магазинов, смешанная реклама, доставка: TRPs, SOV {ly_first_month_f} - {current_month}</vt:lpstr>
      <vt:lpstr>ТВ реклама Ритейл категории без учета Доставки: TRPs, SOV {ly_first_month_f} - {current_month}</vt:lpstr>
      <vt:lpstr>ТВ реклама доставки в Ритейл категории : TRPs, SOV {ly_first_month_f} - {current_month}</vt:lpstr>
      <vt:lpstr>Средне-недельные веса по городам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Голуб Наиса</dc:creator>
  <cp:keywords/>
  <dc:description/>
  <cp:lastModifiedBy>Ватаву Станислав</cp:lastModifiedBy>
  <cp:revision>357</cp:revision>
  <dcterms:created xsi:type="dcterms:W3CDTF">2025-11-13T17:58:17Z</dcterms:created>
  <dcterms:modified xsi:type="dcterms:W3CDTF">2026-06-30T08:13:44Z</dcterms:modified>
  <cp:category/>
  <dc:identifier/>
  <cp:contentStatus/>
  <dc:language/>
  <cp:version/>
</cp:coreProperties>
</file>